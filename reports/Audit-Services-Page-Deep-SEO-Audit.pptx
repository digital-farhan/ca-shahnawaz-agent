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solidFill>
                  <a:srgbClr val="1B3A5C"/>
                </a:solidFill>
              </a:rPr>
              <a:t>783 inbound internal links, by origin</a:t>
            </a:r>
          </a:p>
        </c:rich>
      </c:tx>
      <c:layout/>
      <c:overlay val="0"/>
    </c:title>
    <c:autoTitleDeleted val="0"/>
    <c:plotArea>
      <c:barChart>
        <c:barDir val="col"/>
        <c:grouping val="clustered"/>
        <c:ser>
          <c:idx val="0"/>
          <c:order val="0"/>
          <c:tx>
            <c:strRef>
              <c:f>Sheet1!$B$1</c:f>
              <c:strCache>
                <c:ptCount val="1"/>
                <c:pt idx="0">
                  <c:v>Links</c:v>
                </c:pt>
              </c:strCache>
            </c:strRef>
          </c:tx>
          <c:dPt>
            <c:idx val="0"/>
            <c:spPr>
              <a:solidFill>
                <a:srgbClr val="9CA3AF"/>
              </a:solidFill>
            </c:spPr>
          </c:dPt>
          <c:dPt>
            <c:idx val="1"/>
            <c:spPr>
              <a:solidFill>
                <a:srgbClr val="9CA3AF"/>
              </a:solidFill>
            </c:spPr>
          </c:dPt>
          <c:dPt>
            <c:idx val="2"/>
            <c:spPr>
              <a:solidFill>
                <a:srgbClr val="1B7A43"/>
              </a:solidFill>
            </c:spPr>
          </c:dPt>
          <c:cat>
            <c:strRef>
              <c:f>Sheet1!$A$2:$A$4</c:f>
              <c:strCache>
                <c:ptCount val="3"/>
                <c:pt idx="0">
                  <c:v>Navigation</c:v>
                </c:pt>
                <c:pt idx="1">
                  <c:v>Footer</c:v>
                </c:pt>
                <c:pt idx="2">
                  <c:v>Editorial
(other pages)</c:v>
                </c:pt>
              </c:strCache>
            </c:strRef>
          </c:cat>
          <c:val>
            <c:numRef>
              <c:f>Sheet1!$B$2:$B$4</c:f>
              <c:numCache>
                <c:formatCode>General</c:formatCode>
                <c:ptCount val="3"/>
                <c:pt idx="0">
                  <c:v>596</c:v>
                </c:pt>
                <c:pt idx="1">
                  <c:v>146</c:v>
                </c:pt>
                <c:pt idx="2">
                  <c:v>31</c:v>
                </c:pt>
              </c:numCache>
            </c:numRef>
          </c:val>
        </c:ser>
        <c:dLbls>
          <c:txPr>
            <a:bodyPr/>
            <a:lstStyle/>
            <a:p>
              <a:pPr>
                <a:defRPr sz="1100" b="1">
                  <a:solidFill>
                    <a:srgbClr val="1B3A5C"/>
                  </a:solidFill>
                </a:defRPr>
              </a:pPr>
            </a:p>
          </c:txPr>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000">
          <a:solidFill>
            <a:srgbClr val="1A1D23"/>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115568"/>
            <a:ext cx="9601200" cy="292608"/>
          </a:xfrm>
          <a:prstGeom prst="rect">
            <a:avLst/>
          </a:prstGeom>
          <a:noFill/>
        </p:spPr>
        <p:txBody>
          <a:bodyPr wrap="square" lIns="0" rIns="0" tIns="0" bIns="0" anchor="t">
            <a:spAutoFit/>
          </a:bodyPr>
          <a:lstStyle/>
          <a:p>
            <a:pPr algn="l">
              <a:lnSpc>
                <a:spcPct val="100000"/>
              </a:lnSpc>
            </a:pPr>
            <a:r>
              <a:rPr sz="1300" b="1" i="0">
                <a:solidFill>
                  <a:srgbClr val="C99B3B"/>
                </a:solidFill>
                <a:latin typeface="Calibri"/>
              </a:rPr>
              <a:t>DEEP TECHNICAL &amp; STRATEGIC SEO AUDIT</a:t>
            </a:r>
          </a:p>
        </p:txBody>
      </p:sp>
      <p:sp>
        <p:nvSpPr>
          <p:cNvPr id="5" name="TextBox 4"/>
          <p:cNvSpPr txBox="1"/>
          <p:nvPr/>
        </p:nvSpPr>
        <p:spPr>
          <a:xfrm>
            <a:off x="960120" y="1591056"/>
            <a:ext cx="10241280" cy="1097280"/>
          </a:xfrm>
          <a:prstGeom prst="rect">
            <a:avLst/>
          </a:prstGeom>
          <a:noFill/>
        </p:spPr>
        <p:txBody>
          <a:bodyPr wrap="square" lIns="0" rIns="0" tIns="0" bIns="0" anchor="t">
            <a:spAutoFit/>
          </a:bodyPr>
          <a:lstStyle/>
          <a:p>
            <a:pPr algn="l">
              <a:lnSpc>
                <a:spcPct val="100000"/>
              </a:lnSpc>
            </a:pPr>
            <a:r>
              <a:rPr sz="4400" b="1" i="0">
                <a:solidFill>
                  <a:srgbClr val="FFFFFF"/>
                </a:solidFill>
                <a:latin typeface="Calibri"/>
              </a:rPr>
              <a:t>Audit Services Page</a:t>
            </a:r>
          </a:p>
        </p:txBody>
      </p:sp>
      <p:sp>
        <p:nvSpPr>
          <p:cNvPr id="6" name="TextBox 5"/>
          <p:cNvSpPr txBox="1"/>
          <p:nvPr/>
        </p:nvSpPr>
        <p:spPr>
          <a:xfrm>
            <a:off x="960120" y="2487168"/>
            <a:ext cx="10241280" cy="365760"/>
          </a:xfrm>
          <a:prstGeom prst="rect">
            <a:avLst/>
          </a:prstGeom>
          <a:noFill/>
        </p:spPr>
        <p:txBody>
          <a:bodyPr wrap="square" lIns="0" rIns="0" tIns="0" bIns="0" anchor="t">
            <a:spAutoFit/>
          </a:bodyPr>
          <a:lstStyle/>
          <a:p>
            <a:pPr algn="l">
              <a:lnSpc>
                <a:spcPct val="100000"/>
              </a:lnSpc>
            </a:pPr>
            <a:r>
              <a:rPr sz="1700" b="0" i="0">
                <a:solidFill>
                  <a:srgbClr val="C3CEDB"/>
                </a:solidFill>
                <a:latin typeface="Calibri"/>
              </a:rPr>
              <a:t>cashahnawaz.com/audit-services/</a:t>
            </a:r>
          </a:p>
        </p:txBody>
      </p:sp>
      <p:sp>
        <p:nvSpPr>
          <p:cNvPr id="7" name="Rectangle 6"/>
          <p:cNvSpPr/>
          <p:nvPr/>
        </p:nvSpPr>
        <p:spPr>
          <a:xfrm>
            <a:off x="960120" y="3072384"/>
            <a:ext cx="182880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419856"/>
            <a:ext cx="10241280" cy="658368"/>
          </a:xfrm>
          <a:prstGeom prst="rect">
            <a:avLst/>
          </a:prstGeom>
          <a:noFill/>
        </p:spPr>
        <p:txBody>
          <a:bodyPr wrap="square" lIns="0" rIns="0" tIns="0" bIns="0" anchor="t">
            <a:spAutoFit/>
          </a:bodyPr>
          <a:lstStyle/>
          <a:p>
            <a:pPr algn="l">
              <a:lnSpc>
                <a:spcPct val="114000"/>
              </a:lnSpc>
            </a:pPr>
            <a:r>
              <a:rPr sz="1350" b="0" i="0">
                <a:solidFill>
                  <a:srgbClr val="FFFFFF"/>
                </a:solidFill>
                <a:latin typeface="Calibri"/>
              </a:rPr>
              <a:t>Investigated as SEO strategist, technical SEO and search quality specialist.</a:t>
            </a:r>
          </a:p>
          <a:p>
            <a:pPr algn="l">
              <a:lnSpc>
                <a:spcPct val="114000"/>
              </a:lnSpc>
            </a:pPr>
            <a:r>
              <a:rPr sz="1350" b="0" i="0">
                <a:solidFill>
                  <a:srgbClr val="FFFFFF"/>
                </a:solidFill>
                <a:latin typeface="Calibri"/>
              </a:rPr>
              <a:t>Every finding tested — not a checklist.</a:t>
            </a:r>
          </a:p>
        </p:txBody>
      </p:sp>
      <p:sp>
        <p:nvSpPr>
          <p:cNvPr id="9" name="Rectangle 8"/>
          <p:cNvSpPr/>
          <p:nvPr/>
        </p:nvSpPr>
        <p:spPr>
          <a:xfrm>
            <a:off x="960120" y="4443984"/>
            <a:ext cx="2487168" cy="1097280"/>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60120" y="4443984"/>
            <a:ext cx="38100" cy="109728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4572000"/>
            <a:ext cx="2194560" cy="402336"/>
          </a:xfrm>
          <a:prstGeom prst="rect">
            <a:avLst/>
          </a:prstGeom>
          <a:noFill/>
        </p:spPr>
        <p:txBody>
          <a:bodyPr wrap="square" lIns="0" rIns="0" tIns="0" bIns="0" anchor="t">
            <a:spAutoFit/>
          </a:bodyPr>
          <a:lstStyle/>
          <a:p>
            <a:pPr algn="l">
              <a:lnSpc>
                <a:spcPct val="100000"/>
              </a:lnSpc>
            </a:pPr>
            <a:r>
              <a:rPr sz="2200" b="1" i="0">
                <a:solidFill>
                  <a:srgbClr val="FFFFFF"/>
                </a:solidFill>
                <a:latin typeface="Calibri"/>
              </a:rPr>
              <a:t>13</a:t>
            </a:r>
          </a:p>
        </p:txBody>
      </p:sp>
      <p:sp>
        <p:nvSpPr>
          <p:cNvPr id="12" name="TextBox 11"/>
          <p:cNvSpPr txBox="1"/>
          <p:nvPr/>
        </p:nvSpPr>
        <p:spPr>
          <a:xfrm>
            <a:off x="1143000" y="5010912"/>
            <a:ext cx="2194560" cy="512064"/>
          </a:xfrm>
          <a:prstGeom prst="rect">
            <a:avLst/>
          </a:prstGeom>
          <a:noFill/>
        </p:spPr>
        <p:txBody>
          <a:bodyPr wrap="square" lIns="0" rIns="0" tIns="0" bIns="0" anchor="t">
            <a:spAutoFit/>
          </a:bodyPr>
          <a:lstStyle/>
          <a:p>
            <a:pPr algn="l">
              <a:lnSpc>
                <a:spcPct val="102000"/>
              </a:lnSpc>
            </a:pPr>
            <a:r>
              <a:rPr sz="950" b="0" i="0">
                <a:solidFill>
                  <a:srgbClr val="C3CEDB"/>
                </a:solidFill>
                <a:latin typeface="Calibri"/>
              </a:rPr>
              <a:t>Findings, each</a:t>
            </a:r>
          </a:p>
          <a:p>
            <a:pPr algn="l">
              <a:lnSpc>
                <a:spcPct val="102000"/>
              </a:lnSpc>
            </a:pPr>
            <a:r>
              <a:rPr sz="950" b="0" i="0">
                <a:solidFill>
                  <a:srgbClr val="C3CEDB"/>
                </a:solidFill>
                <a:latin typeface="Calibri"/>
              </a:rPr>
              <a:t>with evidence</a:t>
            </a:r>
          </a:p>
        </p:txBody>
      </p:sp>
      <p:sp>
        <p:nvSpPr>
          <p:cNvPr id="13" name="Rectangle 12"/>
          <p:cNvSpPr/>
          <p:nvPr/>
        </p:nvSpPr>
        <p:spPr>
          <a:xfrm>
            <a:off x="3630168" y="4443984"/>
            <a:ext cx="2487168" cy="1097280"/>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30168" y="4443984"/>
            <a:ext cx="38100" cy="109728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13048" y="4572000"/>
            <a:ext cx="2194560" cy="402336"/>
          </a:xfrm>
          <a:prstGeom prst="rect">
            <a:avLst/>
          </a:prstGeom>
          <a:noFill/>
        </p:spPr>
        <p:txBody>
          <a:bodyPr wrap="square" lIns="0" rIns="0" tIns="0" bIns="0" anchor="t">
            <a:spAutoFit/>
          </a:bodyPr>
          <a:lstStyle/>
          <a:p>
            <a:pPr algn="l">
              <a:lnSpc>
                <a:spcPct val="100000"/>
              </a:lnSpc>
            </a:pPr>
            <a:r>
              <a:rPr sz="2200" b="1" i="0">
                <a:solidFill>
                  <a:srgbClr val="FFFFFF"/>
                </a:solidFill>
                <a:latin typeface="Calibri"/>
              </a:rPr>
              <a:t>94.8%</a:t>
            </a:r>
          </a:p>
        </p:txBody>
      </p:sp>
      <p:sp>
        <p:nvSpPr>
          <p:cNvPr id="16" name="TextBox 15"/>
          <p:cNvSpPr txBox="1"/>
          <p:nvPr/>
        </p:nvSpPr>
        <p:spPr>
          <a:xfrm>
            <a:off x="3813048" y="5010912"/>
            <a:ext cx="2194560" cy="512064"/>
          </a:xfrm>
          <a:prstGeom prst="rect">
            <a:avLst/>
          </a:prstGeom>
          <a:noFill/>
        </p:spPr>
        <p:txBody>
          <a:bodyPr wrap="square" lIns="0" rIns="0" tIns="0" bIns="0" anchor="t">
            <a:spAutoFit/>
          </a:bodyPr>
          <a:lstStyle/>
          <a:p>
            <a:pPr algn="l">
              <a:lnSpc>
                <a:spcPct val="102000"/>
              </a:lnSpc>
            </a:pPr>
            <a:r>
              <a:rPr sz="950" b="0" i="0">
                <a:solidFill>
                  <a:srgbClr val="C3CEDB"/>
                </a:solidFill>
                <a:latin typeface="Calibri"/>
              </a:rPr>
              <a:t>Of inbound links</a:t>
            </a:r>
          </a:p>
          <a:p>
            <a:pPr algn="l">
              <a:lnSpc>
                <a:spcPct val="102000"/>
              </a:lnSpc>
            </a:pPr>
            <a:r>
              <a:rPr sz="950" b="0" i="0">
                <a:solidFill>
                  <a:srgbClr val="C3CEDB"/>
                </a:solidFill>
                <a:latin typeface="Calibri"/>
              </a:rPr>
              <a:t>are boilerplate</a:t>
            </a:r>
          </a:p>
        </p:txBody>
      </p:sp>
      <p:sp>
        <p:nvSpPr>
          <p:cNvPr id="17" name="Rectangle 16"/>
          <p:cNvSpPr/>
          <p:nvPr/>
        </p:nvSpPr>
        <p:spPr>
          <a:xfrm>
            <a:off x="6300216" y="4443984"/>
            <a:ext cx="2487168" cy="1097280"/>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0216" y="4443984"/>
            <a:ext cx="38100" cy="109728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4572000"/>
            <a:ext cx="2194560" cy="402336"/>
          </a:xfrm>
          <a:prstGeom prst="rect">
            <a:avLst/>
          </a:prstGeom>
          <a:noFill/>
        </p:spPr>
        <p:txBody>
          <a:bodyPr wrap="square" lIns="0" rIns="0" tIns="0" bIns="0" anchor="t">
            <a:spAutoFit/>
          </a:bodyPr>
          <a:lstStyle/>
          <a:p>
            <a:pPr algn="l">
              <a:lnSpc>
                <a:spcPct val="100000"/>
              </a:lnSpc>
            </a:pPr>
            <a:r>
              <a:rPr sz="2200" b="1" i="0">
                <a:solidFill>
                  <a:srgbClr val="FFFFFF"/>
                </a:solidFill>
                <a:latin typeface="Calibri"/>
              </a:rPr>
              <a:t>4,500</a:t>
            </a:r>
          </a:p>
        </p:txBody>
      </p:sp>
      <p:sp>
        <p:nvSpPr>
          <p:cNvPr id="20" name="TextBox 19"/>
          <p:cNvSpPr txBox="1"/>
          <p:nvPr/>
        </p:nvSpPr>
        <p:spPr>
          <a:xfrm>
            <a:off x="6483096" y="5010912"/>
            <a:ext cx="2194560" cy="512064"/>
          </a:xfrm>
          <a:prstGeom prst="rect">
            <a:avLst/>
          </a:prstGeom>
          <a:noFill/>
        </p:spPr>
        <p:txBody>
          <a:bodyPr wrap="square" lIns="0" rIns="0" tIns="0" bIns="0" anchor="t">
            <a:spAutoFit/>
          </a:bodyPr>
          <a:lstStyle/>
          <a:p>
            <a:pPr algn="l">
              <a:lnSpc>
                <a:spcPct val="102000"/>
              </a:lnSpc>
            </a:pPr>
            <a:r>
              <a:rPr sz="950" b="0" i="0">
                <a:solidFill>
                  <a:srgbClr val="C3CEDB"/>
                </a:solidFill>
                <a:latin typeface="Calibri"/>
              </a:rPr>
              <a:t>Words vs 1,100</a:t>
            </a:r>
          </a:p>
          <a:p>
            <a:pPr algn="l">
              <a:lnSpc>
                <a:spcPct val="102000"/>
              </a:lnSpc>
            </a:pPr>
            <a:r>
              <a:rPr sz="950" b="0" i="0">
                <a:solidFill>
                  <a:srgbClr val="C3CEDB"/>
                </a:solidFill>
                <a:latin typeface="Calibri"/>
              </a:rPr>
              <a:t>for the winner</a:t>
            </a:r>
          </a:p>
        </p:txBody>
      </p:sp>
      <p:sp>
        <p:nvSpPr>
          <p:cNvPr id="21" name="Rectangle 20"/>
          <p:cNvSpPr/>
          <p:nvPr/>
        </p:nvSpPr>
        <p:spPr>
          <a:xfrm>
            <a:off x="8970264" y="4443984"/>
            <a:ext cx="2487168" cy="1097280"/>
          </a:xfrm>
          <a:prstGeom prst="rect">
            <a:avLst/>
          </a:prstGeom>
          <a:solidFill>
            <a:srgbClr val="244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70264" y="4443984"/>
            <a:ext cx="38100" cy="109728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53144" y="4572000"/>
            <a:ext cx="2194560" cy="402336"/>
          </a:xfrm>
          <a:prstGeom prst="rect">
            <a:avLst/>
          </a:prstGeom>
          <a:noFill/>
        </p:spPr>
        <p:txBody>
          <a:bodyPr wrap="square" lIns="0" rIns="0" tIns="0" bIns="0" anchor="t">
            <a:spAutoFit/>
          </a:bodyPr>
          <a:lstStyle/>
          <a:p>
            <a:pPr algn="l">
              <a:lnSpc>
                <a:spcPct val="100000"/>
              </a:lnSpc>
            </a:pPr>
            <a:r>
              <a:rPr sz="2200" b="1" i="0">
                <a:solidFill>
                  <a:srgbClr val="FFFFFF"/>
                </a:solidFill>
                <a:latin typeface="Calibri"/>
              </a:rPr>
              <a:t>0</a:t>
            </a:r>
          </a:p>
        </p:txBody>
      </p:sp>
      <p:sp>
        <p:nvSpPr>
          <p:cNvPr id="24" name="TextBox 23"/>
          <p:cNvSpPr txBox="1"/>
          <p:nvPr/>
        </p:nvSpPr>
        <p:spPr>
          <a:xfrm>
            <a:off x="9153144" y="5010912"/>
            <a:ext cx="2194560" cy="512064"/>
          </a:xfrm>
          <a:prstGeom prst="rect">
            <a:avLst/>
          </a:prstGeom>
          <a:noFill/>
        </p:spPr>
        <p:txBody>
          <a:bodyPr wrap="square" lIns="0" rIns="0" tIns="0" bIns="0" anchor="t">
            <a:spAutoFit/>
          </a:bodyPr>
          <a:lstStyle/>
          <a:p>
            <a:pPr algn="l">
              <a:lnSpc>
                <a:spcPct val="102000"/>
              </a:lnSpc>
            </a:pPr>
            <a:r>
              <a:rPr sz="950" b="0" i="0">
                <a:solidFill>
                  <a:srgbClr val="C3CEDB"/>
                </a:solidFill>
                <a:latin typeface="Calibri"/>
              </a:rPr>
              <a:t>Technical blockers</a:t>
            </a:r>
          </a:p>
          <a:p>
            <a:pPr algn="l">
              <a:lnSpc>
                <a:spcPct val="102000"/>
              </a:lnSpc>
            </a:pPr>
            <a:r>
              <a:rPr sz="950" b="0" i="0">
                <a:solidFill>
                  <a:srgbClr val="C3CEDB"/>
                </a:solidFill>
                <a:latin typeface="Calibri"/>
              </a:rPr>
              <a:t>found</a:t>
            </a:r>
          </a:p>
        </p:txBody>
      </p:sp>
      <p:sp>
        <p:nvSpPr>
          <p:cNvPr id="25" name="TextBox 24"/>
          <p:cNvSpPr txBox="1"/>
          <p:nvPr/>
        </p:nvSpPr>
        <p:spPr>
          <a:xfrm>
            <a:off x="960120" y="5888736"/>
            <a:ext cx="10241280" cy="274320"/>
          </a:xfrm>
          <a:prstGeom prst="rect">
            <a:avLst/>
          </a:prstGeom>
          <a:noFill/>
        </p:spPr>
        <p:txBody>
          <a:bodyPr wrap="square" lIns="0" rIns="0" tIns="0" bIns="0" anchor="t">
            <a:spAutoFit/>
          </a:bodyPr>
          <a:lstStyle/>
          <a:p>
            <a:pPr algn="l">
              <a:lnSpc>
                <a:spcPct val="100000"/>
              </a:lnSpc>
            </a:pPr>
            <a:r>
              <a:rPr sz="1000" b="0" i="1">
                <a:solidFill>
                  <a:srgbClr val="9FB0C2"/>
                </a:solidFill>
                <a:latin typeface="Calibri"/>
              </a:rPr>
              <a:t>Shahnawaz and Associates  ·  18 September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ROOT CAUSE, STATED PLAINLY</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The Verdict</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53312"/>
            <a:ext cx="11064240" cy="1078992"/>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17904"/>
            <a:ext cx="10424160" cy="786384"/>
          </a:xfrm>
          <a:prstGeom prst="rect">
            <a:avLst/>
          </a:prstGeom>
          <a:noFill/>
        </p:spPr>
        <p:txBody>
          <a:bodyPr wrap="square" lIns="0" rIns="0" tIns="0" bIns="0" anchor="t">
            <a:spAutoFit/>
          </a:bodyPr>
          <a:lstStyle/>
          <a:p>
            <a:pPr algn="l">
              <a:lnSpc>
                <a:spcPct val="114000"/>
              </a:lnSpc>
            </a:pPr>
            <a:r>
              <a:rPr sz="1700" b="1" i="0">
                <a:solidFill>
                  <a:srgbClr val="FFFFFF"/>
                </a:solidFill>
                <a:latin typeface="Calibri"/>
              </a:rPr>
              <a:t>This page is an informational article wearing a service page's title — competing in a</a:t>
            </a:r>
          </a:p>
          <a:p>
            <a:pPr algn="l">
              <a:lnSpc>
                <a:spcPct val="114000"/>
              </a:lnSpc>
            </a:pPr>
            <a:r>
              <a:rPr sz="1700" b="1" i="0">
                <a:solidFill>
                  <a:srgbClr val="FFFFFF"/>
                </a:solidFill>
                <a:latin typeface="Calibri"/>
              </a:rPr>
              <a:t>national market it cannot win, for a firm whose opportunity is local.</a:t>
            </a:r>
          </a:p>
        </p:txBody>
      </p:sp>
      <p:sp>
        <p:nvSpPr>
          <p:cNvPr id="8" name="TextBox 7"/>
          <p:cNvSpPr txBox="1"/>
          <p:nvPr/>
        </p:nvSpPr>
        <p:spPr>
          <a:xfrm>
            <a:off x="566928" y="2670048"/>
            <a:ext cx="11064240" cy="274320"/>
          </a:xfrm>
          <a:prstGeom prst="rect">
            <a:avLst/>
          </a:prstGeom>
          <a:noFill/>
        </p:spPr>
        <p:txBody>
          <a:bodyPr wrap="square" lIns="0" rIns="0" tIns="0" bIns="0" anchor="t">
            <a:spAutoFit/>
          </a:bodyPr>
          <a:lstStyle/>
          <a:p>
            <a:pPr algn="l">
              <a:lnSpc>
                <a:spcPct val="100000"/>
              </a:lnSpc>
            </a:pPr>
            <a:r>
              <a:rPr sz="1250" b="0" i="0">
                <a:solidFill>
                  <a:srgbClr val="1A1D23"/>
                </a:solidFill>
                <a:latin typeface="Calibri"/>
              </a:rPr>
              <a:t>It is not blocked. It is not thin. It is not cannibalised. It is mis-aimed — and every symptom follows from that.</a:t>
            </a:r>
          </a:p>
        </p:txBody>
      </p:sp>
      <p:sp>
        <p:nvSpPr>
          <p:cNvPr id="9" name="Rectangle 8"/>
          <p:cNvSpPr/>
          <p:nvPr/>
        </p:nvSpPr>
        <p:spPr>
          <a:xfrm>
            <a:off x="566928" y="3127248"/>
            <a:ext cx="3602736" cy="192024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127248"/>
            <a:ext cx="3602736" cy="50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310128"/>
            <a:ext cx="3200400" cy="548640"/>
          </a:xfrm>
          <a:prstGeom prst="rect">
            <a:avLst/>
          </a:prstGeom>
          <a:noFill/>
        </p:spPr>
        <p:txBody>
          <a:bodyPr wrap="square" lIns="0" rIns="0" tIns="0" bIns="0" anchor="t">
            <a:spAutoFit/>
          </a:bodyPr>
          <a:lstStyle/>
          <a:p>
            <a:pPr algn="l">
              <a:lnSpc>
                <a:spcPct val="106000"/>
              </a:lnSpc>
            </a:pPr>
            <a:r>
              <a:rPr sz="1300" b="1" i="0">
                <a:solidFill>
                  <a:srgbClr val="1B3A5C"/>
                </a:solidFill>
                <a:latin typeface="Calibri"/>
              </a:rPr>
              <a:t>Title says one thing,</a:t>
            </a:r>
          </a:p>
          <a:p>
            <a:pPr algn="l">
              <a:lnSpc>
                <a:spcPct val="106000"/>
              </a:lnSpc>
            </a:pPr>
            <a:r>
              <a:rPr sz="1300" b="1" i="0">
                <a:solidFill>
                  <a:srgbClr val="1B3A5C"/>
                </a:solidFill>
                <a:latin typeface="Calibri"/>
              </a:rPr>
              <a:t>the page says another</a:t>
            </a:r>
          </a:p>
        </p:txBody>
      </p:sp>
      <p:sp>
        <p:nvSpPr>
          <p:cNvPr id="12" name="TextBox 11"/>
          <p:cNvSpPr txBox="1"/>
          <p:nvPr/>
        </p:nvSpPr>
        <p:spPr>
          <a:xfrm>
            <a:off x="768096" y="3950208"/>
            <a:ext cx="3200400" cy="969264"/>
          </a:xfrm>
          <a:prstGeom prst="rect">
            <a:avLst/>
          </a:prstGeom>
          <a:noFill/>
        </p:spPr>
        <p:txBody>
          <a:bodyPr wrap="square" lIns="0" rIns="0" tIns="0" bIns="0" anchor="t">
            <a:spAutoFit/>
          </a:bodyPr>
          <a:lstStyle/>
          <a:p>
            <a:pPr algn="l">
              <a:lnSpc>
                <a:spcPct val="110000"/>
              </a:lnSpc>
            </a:pPr>
            <a:r>
              <a:rPr sz="950" b="0" i="0">
                <a:solidFill>
                  <a:srgbClr val="1A1D23"/>
                </a:solidFill>
                <a:latin typeface="Calibri"/>
              </a:rPr>
              <a:t>Title: "Trusted Audit Services" — a service promise.</a:t>
            </a:r>
          </a:p>
          <a:p>
            <a:pPr algn="l">
              <a:lnSpc>
                <a:spcPct val="110000"/>
              </a:lnSpc>
            </a:pPr>
            <a:r>
              <a:rPr sz="950" b="0" i="0">
                <a:solidFill>
                  <a:srgbClr val="1A1D23"/>
                </a:solidFill>
                <a:latin typeface="Calibri"/>
              </a:rPr>
              <a:t>H1: "...Complete Guide for FY 2025-26" — a national explainer.</a:t>
            </a:r>
          </a:p>
          <a:p>
            <a:pPr algn="l">
              <a:lnSpc>
                <a:spcPct val="110000"/>
              </a:lnSpc>
            </a:pPr>
            <a:r>
              <a:rPr sz="950" b="0" i="0">
                <a:solidFill>
                  <a:srgbClr val="1A1D23"/>
                </a:solidFill>
                <a:latin typeface="Calibri"/>
              </a:rPr>
              <a:t>Google breaks the tie on the body. The body is a guide.</a:t>
            </a:r>
          </a:p>
        </p:txBody>
      </p:sp>
      <p:sp>
        <p:nvSpPr>
          <p:cNvPr id="13" name="Rectangle 12"/>
          <p:cNvSpPr/>
          <p:nvPr/>
        </p:nvSpPr>
        <p:spPr>
          <a:xfrm>
            <a:off x="4297680" y="3127248"/>
            <a:ext cx="3602736" cy="192024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3127248"/>
            <a:ext cx="3602736" cy="50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8848" y="3310128"/>
            <a:ext cx="3200400" cy="548640"/>
          </a:xfrm>
          <a:prstGeom prst="rect">
            <a:avLst/>
          </a:prstGeom>
          <a:noFill/>
        </p:spPr>
        <p:txBody>
          <a:bodyPr wrap="square" lIns="0" rIns="0" tIns="0" bIns="0" anchor="t">
            <a:spAutoFit/>
          </a:bodyPr>
          <a:lstStyle/>
          <a:p>
            <a:pPr algn="l">
              <a:lnSpc>
                <a:spcPct val="106000"/>
              </a:lnSpc>
            </a:pPr>
            <a:r>
              <a:rPr sz="1300" b="1" i="0">
                <a:solidFill>
                  <a:srgbClr val="1B3A5C"/>
                </a:solidFill>
                <a:latin typeface="Calibri"/>
              </a:rPr>
              <a:t>It targets a SERP it</a:t>
            </a:r>
          </a:p>
          <a:p>
            <a:pPr algn="l">
              <a:lnSpc>
                <a:spcPct val="106000"/>
              </a:lnSpc>
            </a:pPr>
            <a:r>
              <a:rPr sz="1300" b="1" i="0">
                <a:solidFill>
                  <a:srgbClr val="1B3A5C"/>
                </a:solidFill>
                <a:latin typeface="Calibri"/>
              </a:rPr>
              <a:t>cannot win</a:t>
            </a:r>
          </a:p>
        </p:txBody>
      </p:sp>
      <p:sp>
        <p:nvSpPr>
          <p:cNvPr id="16" name="TextBox 15"/>
          <p:cNvSpPr txBox="1"/>
          <p:nvPr/>
        </p:nvSpPr>
        <p:spPr>
          <a:xfrm>
            <a:off x="4498848" y="3950208"/>
            <a:ext cx="3200400" cy="969264"/>
          </a:xfrm>
          <a:prstGeom prst="rect">
            <a:avLst/>
          </a:prstGeom>
          <a:noFill/>
        </p:spPr>
        <p:txBody>
          <a:bodyPr wrap="square" lIns="0" rIns="0" tIns="0" bIns="0" anchor="t">
            <a:spAutoFit/>
          </a:bodyPr>
          <a:lstStyle/>
          <a:p>
            <a:pPr algn="l">
              <a:lnSpc>
                <a:spcPct val="110000"/>
              </a:lnSpc>
            </a:pPr>
            <a:r>
              <a:rPr sz="950" b="0" i="0">
                <a:solidFill>
                  <a:srgbClr val="1A1D23"/>
                </a:solidFill>
                <a:latin typeface="Calibri"/>
              </a:rPr>
              <a:t>The 44AB query set returns ClearTax, TaxGuru, Vakilsearch</a:t>
            </a:r>
          </a:p>
          <a:p>
            <a:pPr algn="l">
              <a:lnSpc>
                <a:spcPct val="110000"/>
              </a:lnSpc>
            </a:pPr>
            <a:r>
              <a:rPr sz="950" b="0" i="0">
                <a:solidFill>
                  <a:srgbClr val="1A1D23"/>
                </a:solidFill>
                <a:latin typeface="Calibri"/>
              </a:rPr>
              <a:t>and QwikFilings — national portals with content teams.</a:t>
            </a:r>
          </a:p>
          <a:p>
            <a:pPr algn="l">
              <a:lnSpc>
                <a:spcPct val="110000"/>
              </a:lnSpc>
            </a:pPr>
            <a:r>
              <a:rPr sz="950" b="0" i="0">
                <a:solidFill>
                  <a:srgbClr val="1A1D23"/>
                </a:solidFill>
                <a:latin typeface="Calibri"/>
              </a:rPr>
              <a:t>A single Mumbai practice does not outrank them.</a:t>
            </a:r>
          </a:p>
        </p:txBody>
      </p:sp>
      <p:sp>
        <p:nvSpPr>
          <p:cNvPr id="17" name="Rectangle 16"/>
          <p:cNvSpPr/>
          <p:nvPr/>
        </p:nvSpPr>
        <p:spPr>
          <a:xfrm>
            <a:off x="8028432" y="3127248"/>
            <a:ext cx="3602736" cy="192024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2" y="3127248"/>
            <a:ext cx="3602736" cy="50800"/>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3310128"/>
            <a:ext cx="3200400" cy="548640"/>
          </a:xfrm>
          <a:prstGeom prst="rect">
            <a:avLst/>
          </a:prstGeom>
          <a:noFill/>
        </p:spPr>
        <p:txBody>
          <a:bodyPr wrap="square" lIns="0" rIns="0" tIns="0" bIns="0" anchor="t">
            <a:spAutoFit/>
          </a:bodyPr>
          <a:lstStyle/>
          <a:p>
            <a:pPr algn="l">
              <a:lnSpc>
                <a:spcPct val="106000"/>
              </a:lnSpc>
            </a:pPr>
            <a:r>
              <a:rPr sz="1300" b="1" i="0">
                <a:solidFill>
                  <a:srgbClr val="1B3A5C"/>
                </a:solidFill>
                <a:latin typeface="Calibri"/>
              </a:rPr>
              <a:t>It ignores the SERP it</a:t>
            </a:r>
          </a:p>
          <a:p>
            <a:pPr algn="l">
              <a:lnSpc>
                <a:spcPct val="106000"/>
              </a:lnSpc>
            </a:pPr>
            <a:r>
              <a:rPr sz="1300" b="1" i="0">
                <a:solidFill>
                  <a:srgbClr val="1B3A5C"/>
                </a:solidFill>
                <a:latin typeface="Calibri"/>
              </a:rPr>
              <a:t>could own</a:t>
            </a:r>
          </a:p>
        </p:txBody>
      </p:sp>
      <p:sp>
        <p:nvSpPr>
          <p:cNvPr id="20" name="TextBox 19"/>
          <p:cNvSpPr txBox="1"/>
          <p:nvPr/>
        </p:nvSpPr>
        <p:spPr>
          <a:xfrm>
            <a:off x="8229600" y="3950208"/>
            <a:ext cx="3200400" cy="969264"/>
          </a:xfrm>
          <a:prstGeom prst="rect">
            <a:avLst/>
          </a:prstGeom>
          <a:noFill/>
        </p:spPr>
        <p:txBody>
          <a:bodyPr wrap="square" lIns="0" rIns="0" tIns="0" bIns="0" anchor="t">
            <a:spAutoFit/>
          </a:bodyPr>
          <a:lstStyle/>
          <a:p>
            <a:pPr algn="l">
              <a:lnSpc>
                <a:spcPct val="110000"/>
              </a:lnSpc>
            </a:pPr>
            <a:r>
              <a:rPr sz="950" b="0" i="0">
                <a:solidFill>
                  <a:srgbClr val="1A1D23"/>
                </a:solidFill>
                <a:latin typeface="Calibri"/>
              </a:rPr>
              <a:t>"Statutory audit services Mumbai" returns Jain Anurag and</a:t>
            </a:r>
          </a:p>
          <a:p>
            <a:pPr algn="l">
              <a:lnSpc>
                <a:spcPct val="110000"/>
              </a:lnSpc>
            </a:pPr>
            <a:r>
              <a:rPr sz="950" b="0" i="0">
                <a:solidFill>
                  <a:srgbClr val="1A1D23"/>
                </a:solidFill>
                <a:latin typeface="Calibri"/>
              </a:rPr>
              <a:t>Asit Mehta — both named competitors — plus anamca.com.</a:t>
            </a:r>
          </a:p>
          <a:p>
            <a:pPr algn="l">
              <a:lnSpc>
                <a:spcPct val="110000"/>
              </a:lnSpc>
            </a:pPr>
            <a:r>
              <a:rPr sz="950" b="0" i="0">
                <a:solidFill>
                  <a:srgbClr val="1A1D23"/>
                </a:solidFill>
                <a:latin typeface="Calibri"/>
              </a:rPr>
              <a:t>Firms of the same size. cashahnawaz.com is absent.</a:t>
            </a:r>
          </a:p>
        </p:txBody>
      </p:sp>
      <p:sp>
        <p:nvSpPr>
          <p:cNvPr id="21" name="Rectangle 20"/>
          <p:cNvSpPr/>
          <p:nvPr/>
        </p:nvSpPr>
        <p:spPr>
          <a:xfrm>
            <a:off x="566928" y="5266944"/>
            <a:ext cx="11064240" cy="64008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266944"/>
            <a:ext cx="44450" cy="64008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358384"/>
            <a:ext cx="10753344" cy="49377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The decisive test: the competitor ranking on the commercial Mumbai SERP does it with roughly 1,100 words. This page has 4,500 and does not appear. Length is not the problem. Aim is.</a:t>
            </a:r>
          </a:p>
        </p:txBody>
      </p:sp>
      <p:sp>
        <p:nvSpPr>
          <p:cNvPr id="24" name="Rectangle 23"/>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26" name="TextBox 25"/>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THE MOST IMPORTANT SLIDE IN THIS DECK</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Before Changing Anything: Test the Premise</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53312"/>
            <a:ext cx="11064240" cy="932688"/>
          </a:xfrm>
          <a:prstGeom prst="rect">
            <a:avLst/>
          </a:prstGeom>
          <a:solidFill>
            <a:srgbClr val="FFFFFF"/>
          </a:solidFill>
          <a:ln w="19050">
            <a:solidFill>
              <a:srgbClr val="D269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53312"/>
            <a:ext cx="63500" cy="93268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81328"/>
            <a:ext cx="10515600" cy="256032"/>
          </a:xfrm>
          <a:prstGeom prst="rect">
            <a:avLst/>
          </a:prstGeom>
          <a:noFill/>
        </p:spPr>
        <p:txBody>
          <a:bodyPr wrap="square" lIns="0" rIns="0" tIns="0" bIns="0" anchor="t">
            <a:spAutoFit/>
          </a:bodyPr>
          <a:lstStyle/>
          <a:p>
            <a:pPr algn="l">
              <a:lnSpc>
                <a:spcPct val="100000"/>
              </a:lnSpc>
            </a:pPr>
            <a:r>
              <a:rPr sz="1100" b="1" i="0">
                <a:solidFill>
                  <a:srgbClr val="D2691E"/>
                </a:solidFill>
                <a:latin typeface="Calibri"/>
              </a:rPr>
              <a:t>TIMELINE CONFLICT  ·  The 'zero impressions' reading may be measuring the wrong window</a:t>
            </a:r>
          </a:p>
        </p:txBody>
      </p:sp>
      <p:sp>
        <p:nvSpPr>
          <p:cNvPr id="9" name="TextBox 8"/>
          <p:cNvSpPr txBox="1"/>
          <p:nvPr/>
        </p:nvSpPr>
        <p:spPr>
          <a:xfrm>
            <a:off x="841248" y="1773936"/>
            <a:ext cx="10515600" cy="420624"/>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The page's sitemap lastmod is 10 September 2026. The last verified Search Console pull in this project runs through 25 August 2026. Those two dates do not overlap.</a:t>
            </a:r>
          </a:p>
        </p:txBody>
      </p:sp>
      <p:sp>
        <p:nvSpPr>
          <p:cNvPr id="10" name="TextBox 9"/>
          <p:cNvSpPr txBox="1"/>
          <p:nvPr/>
        </p:nvSpPr>
        <p:spPr>
          <a:xfrm>
            <a:off x="566928" y="2523744"/>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Three possibilities — and they lead to opposite actions</a:t>
            </a:r>
          </a:p>
        </p:txBody>
      </p:sp>
      <p:graphicFrame>
        <p:nvGraphicFramePr>
          <p:cNvPr id="11" name="Table 10"/>
          <p:cNvGraphicFramePr>
            <a:graphicFrameLocks noGrp="1"/>
          </p:cNvGraphicFramePr>
          <p:nvPr/>
        </p:nvGraphicFramePr>
        <p:xfrm>
          <a:off x="566928" y="2871216"/>
          <a:ext cx="11064240" cy="1737360"/>
        </p:xfrm>
        <a:graphic>
          <a:graphicData uri="http://schemas.openxmlformats.org/drawingml/2006/table">
            <a:tbl>
              <a:tblPr firstRow="1" bandRow="1">
                <a:tableStyleId>{5C22544A-7EE6-4342-B048-85BDC9FD1C3A}</a:tableStyleId>
              </a:tblPr>
              <a:tblGrid>
                <a:gridCol w="3017520"/>
                <a:gridCol w="4663440"/>
                <a:gridCol w="3383280"/>
              </a:tblGrid>
              <a:tr h="310896">
                <a:tc>
                  <a:txBody>
                    <a:bodyPr wrap="square"/>
                    <a:lstStyle/>
                    <a:p>
                      <a:r>
                        <a:rPr sz="1050" b="1">
                          <a:solidFill>
                            <a:srgbClr val="FFFFFF"/>
                          </a:solidFill>
                          <a:latin typeface="Calibri"/>
                        </a:rPr>
                        <a:t>Scenario</a:t>
                      </a:r>
                    </a:p>
                  </a:txBody>
                  <a:tcPr marL="82296" marR="64008" marT="27432" marB="27432" anchor="ctr">
                    <a:solidFill>
                      <a:srgbClr val="1B3A5C"/>
                    </a:solidFill>
                  </a:tcPr>
                </a:tc>
                <a:tc>
                  <a:txBody>
                    <a:bodyPr wrap="square"/>
                    <a:lstStyle/>
                    <a:p>
                      <a:r>
                        <a:rPr sz="1050" b="1">
                          <a:solidFill>
                            <a:srgbClr val="FFFFFF"/>
                          </a:solidFill>
                          <a:latin typeface="Calibri"/>
                        </a:rPr>
                        <a:t>What it means</a:t>
                      </a:r>
                    </a:p>
                  </a:txBody>
                  <a:tcPr marL="82296" marR="64008" marT="27432" marB="27432" anchor="ctr">
                    <a:solidFill>
                      <a:srgbClr val="1B3A5C"/>
                    </a:solidFill>
                  </a:tcPr>
                </a:tc>
                <a:tc>
                  <a:txBody>
                    <a:bodyPr wrap="square"/>
                    <a:lstStyle/>
                    <a:p>
                      <a:r>
                        <a:rPr sz="1050" b="1">
                          <a:solidFill>
                            <a:srgbClr val="FFFFFF"/>
                          </a:solidFill>
                          <a:latin typeface="Calibri"/>
                        </a:rPr>
                        <a:t>Correct action</a:t>
                      </a:r>
                    </a:p>
                  </a:txBody>
                  <a:tcPr marL="82296" marR="64008" marT="27432" marB="27432" anchor="ctr">
                    <a:solidFill>
                      <a:srgbClr val="1B3A5C"/>
                    </a:solidFill>
                  </a:tcPr>
                </a:tc>
              </a:tr>
              <a:tr h="475488">
                <a:tc>
                  <a:txBody>
                    <a:bodyPr wrap="square"/>
                    <a:lstStyle/>
                    <a:p>
                      <a:r>
                        <a:rPr sz="1050" b="0">
                          <a:solidFill>
                            <a:srgbClr val="1A1D23"/>
                          </a:solidFill>
                          <a:latin typeface="Calibri"/>
                        </a:rPr>
                        <a:t>Page was rewritten on 10 Sept</a:t>
                      </a:r>
                    </a:p>
                  </a:txBody>
                  <a:tcPr marL="82296" marR="64008" marT="27432" marB="27432" anchor="ctr">
                    <a:solidFill>
                      <a:srgbClr val="FFFFFF"/>
                    </a:solidFill>
                  </a:tcPr>
                </a:tc>
                <a:tc>
                  <a:txBody>
                    <a:bodyPr wrap="square"/>
                    <a:lstStyle/>
                    <a:p>
                      <a:r>
                        <a:rPr sz="1050" b="0">
                          <a:solidFill>
                            <a:srgbClr val="1A1D23"/>
                          </a:solidFill>
                          <a:latin typeface="Calibri"/>
                        </a:rPr>
                        <a:t>Near-zero impressions is expected, not a defect — Google has had about a week</a:t>
                      </a:r>
                    </a:p>
                  </a:txBody>
                  <a:tcPr marL="82296" marR="64008" marT="27432" marB="27432" anchor="ctr">
                    <a:solidFill>
                      <a:srgbClr val="FFFFFF"/>
                    </a:solidFill>
                  </a:tcPr>
                </a:tc>
                <a:tc>
                  <a:txBody>
                    <a:bodyPr wrap="square"/>
                    <a:lstStyle/>
                    <a:p>
                      <a:r>
                        <a:rPr sz="1050" b="1">
                          <a:solidFill>
                            <a:srgbClr val="B3261E"/>
                          </a:solidFill>
                          <a:latin typeface="Calibri"/>
                        </a:rPr>
                        <a:t>Apply CRITICAL items only, then wait 6–8 weeks</a:t>
                      </a:r>
                    </a:p>
                  </a:txBody>
                  <a:tcPr marL="82296" marR="64008" marT="27432" marB="27432" anchor="ctr">
                    <a:solidFill>
                      <a:srgbClr val="FFFFFF"/>
                    </a:solidFill>
                  </a:tcPr>
                </a:tc>
              </a:tr>
              <a:tr h="475488">
                <a:tc>
                  <a:txBody>
                    <a:bodyPr wrap="square"/>
                    <a:lstStyle/>
                    <a:p>
                      <a:r>
                        <a:rPr sz="1050" b="0">
                          <a:solidFill>
                            <a:srgbClr val="1A1D23"/>
                          </a:solidFill>
                          <a:latin typeface="Calibri"/>
                        </a:rPr>
                        <a:t>lastmod reflects a trivial edit</a:t>
                      </a:r>
                    </a:p>
                  </a:txBody>
                  <a:tcPr marL="82296" marR="64008" marT="27432" marB="27432" anchor="ctr">
                    <a:solidFill>
                      <a:srgbClr val="ECEFF3"/>
                    </a:solidFill>
                  </a:tcPr>
                </a:tc>
                <a:tc>
                  <a:txBody>
                    <a:bodyPr wrap="square"/>
                    <a:lstStyle/>
                    <a:p>
                      <a:r>
                        <a:rPr sz="1050" b="0">
                          <a:solidFill>
                            <a:srgbClr val="1A1D23"/>
                          </a:solidFill>
                          <a:latin typeface="Calibri"/>
                        </a:rPr>
                        <a:t>The content is older; the diagnosis in this deck applies in full</a:t>
                      </a:r>
                    </a:p>
                  </a:txBody>
                  <a:tcPr marL="82296" marR="64008" marT="27432" marB="27432" anchor="ctr">
                    <a:solidFill>
                      <a:srgbClr val="ECEFF3"/>
                    </a:solidFill>
                  </a:tcPr>
                </a:tc>
                <a:tc>
                  <a:txBody>
                    <a:bodyPr wrap="square"/>
                    <a:lstStyle/>
                    <a:p>
                      <a:r>
                        <a:rPr sz="1050" b="0">
                          <a:solidFill>
                            <a:srgbClr val="1A1D23"/>
                          </a:solidFill>
                          <a:latin typeface="Calibri"/>
                        </a:rPr>
                        <a:t>Work the full plan</a:t>
                      </a:r>
                    </a:p>
                  </a:txBody>
                  <a:tcPr marL="82296" marR="64008" marT="27432" marB="27432" anchor="ctr">
                    <a:solidFill>
                      <a:srgbClr val="ECEFF3"/>
                    </a:solidFill>
                  </a:tcPr>
                </a:tc>
              </a:tr>
              <a:tr h="475488">
                <a:tc>
                  <a:txBody>
                    <a:bodyPr wrap="square"/>
                    <a:lstStyle/>
                    <a:p>
                      <a:r>
                        <a:rPr sz="1050" b="0">
                          <a:solidFill>
                            <a:srgbClr val="1A1D23"/>
                          </a:solidFill>
                          <a:latin typeface="Calibri"/>
                        </a:rPr>
                        <a:t>Reading came from a 7/28-day window</a:t>
                      </a:r>
                    </a:p>
                  </a:txBody>
                  <a:tcPr marL="82296" marR="64008" marT="27432" marB="27432" anchor="ctr">
                    <a:solidFill>
                      <a:srgbClr val="FFFFFF"/>
                    </a:solidFill>
                  </a:tcPr>
                </a:tc>
                <a:tc>
                  <a:txBody>
                    <a:bodyPr wrap="square"/>
                    <a:lstStyle/>
                    <a:p>
                      <a:r>
                        <a:rPr sz="1050" b="0">
                          <a:solidFill>
                            <a:srgbClr val="1A1D23"/>
                          </a:solidFill>
                          <a:latin typeface="Calibri"/>
                        </a:rPr>
                        <a:t>The window straddles the change — the number is an artefact</a:t>
                      </a:r>
                    </a:p>
                  </a:txBody>
                  <a:tcPr marL="82296" marR="64008" marT="27432" marB="27432" anchor="ctr">
                    <a:solidFill>
                      <a:srgbClr val="FFFFFF"/>
                    </a:solidFill>
                  </a:tcPr>
                </a:tc>
                <a:tc>
                  <a:txBody>
                    <a:bodyPr wrap="square"/>
                    <a:lstStyle/>
                    <a:p>
                      <a:r>
                        <a:rPr sz="1050" b="0">
                          <a:solidFill>
                            <a:srgbClr val="1A1D23"/>
                          </a:solidFill>
                          <a:latin typeface="Calibri"/>
                        </a:rPr>
                        <a:t>Re-measure, then decide</a:t>
                      </a:r>
                    </a:p>
                  </a:txBody>
                  <a:tcPr marL="82296" marR="64008" marT="27432" marB="27432" anchor="ctr">
                    <a:solidFill>
                      <a:srgbClr val="FFFFFF"/>
                    </a:solidFill>
                  </a:tcPr>
                </a:tc>
              </a:tr>
            </a:tbl>
          </a:graphicData>
        </a:graphic>
      </p:graphicFrame>
      <p:sp>
        <p:nvSpPr>
          <p:cNvPr id="12" name="TextBox 11"/>
          <p:cNvSpPr txBox="1"/>
          <p:nvPr/>
        </p:nvSpPr>
        <p:spPr>
          <a:xfrm>
            <a:off x="566928" y="4645152"/>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Do this first — it takes ten minutes</a:t>
            </a:r>
          </a:p>
        </p:txBody>
      </p:sp>
      <p:sp>
        <p:nvSpPr>
          <p:cNvPr id="13" name="Oval 12"/>
          <p:cNvSpPr/>
          <p:nvPr/>
        </p:nvSpPr>
        <p:spPr>
          <a:xfrm>
            <a:off x="566928" y="5038344"/>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974336"/>
            <a:ext cx="10863072" cy="402336"/>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Search Console → Performance → filter Page = /audit-services/ → set range to last 6 months → compare 3 months before 10 Sept against after.</a:t>
            </a:r>
          </a:p>
        </p:txBody>
      </p:sp>
      <p:sp>
        <p:nvSpPr>
          <p:cNvPr id="15" name="Oval 14"/>
          <p:cNvSpPr/>
          <p:nvPr/>
        </p:nvSpPr>
        <p:spPr>
          <a:xfrm>
            <a:off x="566928" y="5440680"/>
            <a:ext cx="63500" cy="635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5376672"/>
            <a:ext cx="10863072" cy="402336"/>
          </a:xfrm>
          <a:prstGeom prst="rect">
            <a:avLst/>
          </a:prstGeom>
          <a:noFill/>
        </p:spPr>
        <p:txBody>
          <a:bodyPr wrap="square" lIns="0" rIns="0" tIns="0" bIns="0" anchor="t">
            <a:spAutoFit/>
          </a:bodyPr>
          <a:lstStyle/>
          <a:p>
            <a:pPr algn="l">
              <a:lnSpc>
                <a:spcPct val="106000"/>
              </a:lnSpc>
            </a:pPr>
            <a:r>
              <a:rPr sz="1150" b="0" i="0">
                <a:solidFill>
                  <a:srgbClr val="1A1D23"/>
                </a:solidFill>
                <a:latin typeface="Calibri"/>
              </a:rPr>
              <a:t>Run URL Inspection on the URL and record the 'Last crawl' date and indexed status.</a:t>
            </a:r>
          </a:p>
        </p:txBody>
      </p:sp>
      <p:sp>
        <p:nvSpPr>
          <p:cNvPr id="17" name="Rectangle 16"/>
          <p:cNvSpPr/>
          <p:nvPr/>
        </p:nvSpPr>
        <p:spPr>
          <a:xfrm>
            <a:off x="566928" y="5797296"/>
            <a:ext cx="11064240" cy="47548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5797296"/>
            <a:ext cx="44450" cy="47548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88736"/>
            <a:ext cx="10753344" cy="329184"/>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I could not run this — no Search Console connector exists in this project, so GSC data for this URL is DATA NOT AVAILABLE. This one check is worth more than every recommendation that follows, because it decides whether you are fixing a broken page or rushing a healthy one.</a:t>
            </a:r>
          </a:p>
        </p:txBody>
      </p:sp>
      <p:sp>
        <p:nvSpPr>
          <p:cNvPr id="20" name="Rectangle 19"/>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22" name="TextBox 21"/>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TESTED LIVE, 18 SEPTEMBER 2026</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Two SERPs, Two Different Worlds</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16736"/>
            <a:ext cx="5431536" cy="274320"/>
          </a:xfrm>
          <a:prstGeom prst="rect">
            <a:avLst/>
          </a:prstGeom>
          <a:noFill/>
        </p:spPr>
        <p:txBody>
          <a:bodyPr wrap="square" lIns="0" rIns="0" tIns="0" bIns="0" anchor="t">
            <a:spAutoFit/>
          </a:bodyPr>
          <a:lstStyle/>
          <a:p>
            <a:pPr algn="l">
              <a:lnSpc>
                <a:spcPct val="100000"/>
              </a:lnSpc>
            </a:pPr>
            <a:r>
              <a:rPr sz="1300" b="1" i="0">
                <a:solidFill>
                  <a:srgbClr val="B3261E"/>
                </a:solidFill>
                <a:latin typeface="Calibri"/>
              </a:rPr>
              <a:t>The SERP this page is written for</a:t>
            </a:r>
          </a:p>
        </p:txBody>
      </p:sp>
      <p:sp>
        <p:nvSpPr>
          <p:cNvPr id="7" name="Rectangle 6"/>
          <p:cNvSpPr/>
          <p:nvPr/>
        </p:nvSpPr>
        <p:spPr>
          <a:xfrm>
            <a:off x="566928" y="1645920"/>
            <a:ext cx="5431536" cy="23957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792224"/>
            <a:ext cx="4992624" cy="237744"/>
          </a:xfrm>
          <a:prstGeom prst="rect">
            <a:avLst/>
          </a:prstGeom>
          <a:noFill/>
        </p:spPr>
        <p:txBody>
          <a:bodyPr wrap="square" lIns="0" rIns="0" tIns="0" bIns="0" anchor="t">
            <a:spAutoFit/>
          </a:bodyPr>
          <a:lstStyle/>
          <a:p>
            <a:pPr algn="l">
              <a:lnSpc>
                <a:spcPct val="100000"/>
              </a:lnSpc>
            </a:pPr>
            <a:r>
              <a:rPr sz="1050" b="1" i="1">
                <a:solidFill>
                  <a:srgbClr val="6B7280"/>
                </a:solidFill>
                <a:latin typeface="Calibri"/>
              </a:rPr>
              <a:t>"tax audit section 44AB FY 2025-26"</a:t>
            </a:r>
          </a:p>
        </p:txBody>
      </p:sp>
      <p:sp>
        <p:nvSpPr>
          <p:cNvPr id="9" name="Oval 8"/>
          <p:cNvSpPr/>
          <p:nvPr/>
        </p:nvSpPr>
        <p:spPr>
          <a:xfrm>
            <a:off x="822960" y="2153412"/>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103120"/>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ClearTax</a:t>
            </a:r>
          </a:p>
        </p:txBody>
      </p:sp>
      <p:sp>
        <p:nvSpPr>
          <p:cNvPr id="11" name="Oval 10"/>
          <p:cNvSpPr/>
          <p:nvPr/>
        </p:nvSpPr>
        <p:spPr>
          <a:xfrm>
            <a:off x="822960" y="2436876"/>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386584"/>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TaxGuru</a:t>
            </a:r>
          </a:p>
        </p:txBody>
      </p:sp>
      <p:sp>
        <p:nvSpPr>
          <p:cNvPr id="13" name="Oval 12"/>
          <p:cNvSpPr/>
          <p:nvPr/>
        </p:nvSpPr>
        <p:spPr>
          <a:xfrm>
            <a:off x="822960" y="2720340"/>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2670048"/>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Vakilsearch</a:t>
            </a:r>
          </a:p>
        </p:txBody>
      </p:sp>
      <p:sp>
        <p:nvSpPr>
          <p:cNvPr id="15" name="Oval 14"/>
          <p:cNvSpPr/>
          <p:nvPr/>
        </p:nvSpPr>
        <p:spPr>
          <a:xfrm>
            <a:off x="822960" y="3003804"/>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2953512"/>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QwikFilings</a:t>
            </a:r>
          </a:p>
        </p:txBody>
      </p:sp>
      <p:sp>
        <p:nvSpPr>
          <p:cNvPr id="17" name="Oval 16"/>
          <p:cNvSpPr/>
          <p:nvPr/>
        </p:nvSpPr>
        <p:spPr>
          <a:xfrm>
            <a:off x="822960" y="3287268"/>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3236976"/>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LegalSuvidha</a:t>
            </a:r>
          </a:p>
        </p:txBody>
      </p:sp>
      <p:sp>
        <p:nvSpPr>
          <p:cNvPr id="19" name="Oval 18"/>
          <p:cNvSpPr/>
          <p:nvPr/>
        </p:nvSpPr>
        <p:spPr>
          <a:xfrm>
            <a:off x="822960" y="3570732"/>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520440"/>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CalcGuru / Toolisky</a:t>
            </a:r>
          </a:p>
        </p:txBody>
      </p:sp>
      <p:sp>
        <p:nvSpPr>
          <p:cNvPr id="21" name="TextBox 20"/>
          <p:cNvSpPr txBox="1"/>
          <p:nvPr/>
        </p:nvSpPr>
        <p:spPr>
          <a:xfrm>
            <a:off x="786384" y="3712463"/>
            <a:ext cx="4992624" cy="237744"/>
          </a:xfrm>
          <a:prstGeom prst="rect">
            <a:avLst/>
          </a:prstGeom>
          <a:noFill/>
        </p:spPr>
        <p:txBody>
          <a:bodyPr wrap="square" lIns="0" rIns="0" tIns="0" bIns="0" anchor="t">
            <a:spAutoFit/>
          </a:bodyPr>
          <a:lstStyle/>
          <a:p>
            <a:pPr algn="l">
              <a:lnSpc>
                <a:spcPct val="100000"/>
              </a:lnSpc>
            </a:pPr>
            <a:r>
              <a:rPr sz="1050" b="1" i="0">
                <a:solidFill>
                  <a:srgbClr val="B3261E"/>
                </a:solidFill>
                <a:latin typeface="Calibri"/>
              </a:rPr>
              <a:t>National content portals. Unwinnable.</a:t>
            </a:r>
          </a:p>
        </p:txBody>
      </p:sp>
      <p:sp>
        <p:nvSpPr>
          <p:cNvPr id="22" name="TextBox 21"/>
          <p:cNvSpPr txBox="1"/>
          <p:nvPr/>
        </p:nvSpPr>
        <p:spPr>
          <a:xfrm>
            <a:off x="6199632" y="1316736"/>
            <a:ext cx="5431536" cy="274320"/>
          </a:xfrm>
          <a:prstGeom prst="rect">
            <a:avLst/>
          </a:prstGeom>
          <a:noFill/>
        </p:spPr>
        <p:txBody>
          <a:bodyPr wrap="square" lIns="0" rIns="0" tIns="0" bIns="0" anchor="t">
            <a:spAutoFit/>
          </a:bodyPr>
          <a:lstStyle/>
          <a:p>
            <a:pPr algn="l">
              <a:lnSpc>
                <a:spcPct val="100000"/>
              </a:lnSpc>
            </a:pPr>
            <a:r>
              <a:rPr sz="1300" b="1" i="0">
                <a:solidFill>
                  <a:srgbClr val="1B7A43"/>
                </a:solidFill>
                <a:latin typeface="Calibri"/>
              </a:rPr>
              <a:t>The SERP it could own</a:t>
            </a:r>
          </a:p>
        </p:txBody>
      </p:sp>
      <p:sp>
        <p:nvSpPr>
          <p:cNvPr id="23" name="Rectangle 22"/>
          <p:cNvSpPr/>
          <p:nvPr/>
        </p:nvSpPr>
        <p:spPr>
          <a:xfrm>
            <a:off x="6199632" y="1645920"/>
            <a:ext cx="5431536" cy="23957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1792224"/>
            <a:ext cx="4992624" cy="237744"/>
          </a:xfrm>
          <a:prstGeom prst="rect">
            <a:avLst/>
          </a:prstGeom>
          <a:noFill/>
        </p:spPr>
        <p:txBody>
          <a:bodyPr wrap="square" lIns="0" rIns="0" tIns="0" bIns="0" anchor="t">
            <a:spAutoFit/>
          </a:bodyPr>
          <a:lstStyle/>
          <a:p>
            <a:pPr algn="l">
              <a:lnSpc>
                <a:spcPct val="100000"/>
              </a:lnSpc>
            </a:pPr>
            <a:r>
              <a:rPr sz="1050" b="1" i="1">
                <a:solidFill>
                  <a:srgbClr val="6B7280"/>
                </a:solidFill>
                <a:latin typeface="Calibri"/>
              </a:rPr>
              <a:t>"statutory audit services Mumbai"</a:t>
            </a:r>
          </a:p>
        </p:txBody>
      </p:sp>
      <p:sp>
        <p:nvSpPr>
          <p:cNvPr id="25" name="Oval 24"/>
          <p:cNvSpPr/>
          <p:nvPr/>
        </p:nvSpPr>
        <p:spPr>
          <a:xfrm>
            <a:off x="6455664" y="2153412"/>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56832" y="2103120"/>
            <a:ext cx="4754880" cy="237744"/>
          </a:xfrm>
          <a:prstGeom prst="rect">
            <a:avLst/>
          </a:prstGeom>
          <a:noFill/>
        </p:spPr>
        <p:txBody>
          <a:bodyPr wrap="square" lIns="0" rIns="0" tIns="0" bIns="0" anchor="t">
            <a:spAutoFit/>
          </a:bodyPr>
          <a:lstStyle/>
          <a:p>
            <a:pPr algn="l">
              <a:lnSpc>
                <a:spcPct val="100000"/>
              </a:lnSpc>
            </a:pPr>
            <a:r>
              <a:rPr sz="1100" b="1" i="0">
                <a:solidFill>
                  <a:srgbClr val="1A1D23"/>
                </a:solidFill>
                <a:latin typeface="Calibri"/>
              </a:rPr>
              <a:t>Jain Anurag &amp; Associates   ← your named competitor</a:t>
            </a:r>
          </a:p>
        </p:txBody>
      </p:sp>
      <p:sp>
        <p:nvSpPr>
          <p:cNvPr id="27" name="Oval 26"/>
          <p:cNvSpPr/>
          <p:nvPr/>
        </p:nvSpPr>
        <p:spPr>
          <a:xfrm>
            <a:off x="6455664" y="2436876"/>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6832" y="2386584"/>
            <a:ext cx="4754880" cy="237744"/>
          </a:xfrm>
          <a:prstGeom prst="rect">
            <a:avLst/>
          </a:prstGeom>
          <a:noFill/>
        </p:spPr>
        <p:txBody>
          <a:bodyPr wrap="square" lIns="0" rIns="0" tIns="0" bIns="0" anchor="t">
            <a:spAutoFit/>
          </a:bodyPr>
          <a:lstStyle/>
          <a:p>
            <a:pPr algn="l">
              <a:lnSpc>
                <a:spcPct val="100000"/>
              </a:lnSpc>
            </a:pPr>
            <a:r>
              <a:rPr sz="1100" b="1" i="0">
                <a:solidFill>
                  <a:srgbClr val="1A1D23"/>
                </a:solidFill>
                <a:latin typeface="Calibri"/>
              </a:rPr>
              <a:t>Asit Mehta &amp; Associates   ← your named competitor</a:t>
            </a:r>
          </a:p>
        </p:txBody>
      </p:sp>
      <p:sp>
        <p:nvSpPr>
          <p:cNvPr id="29" name="Oval 28"/>
          <p:cNvSpPr/>
          <p:nvPr/>
        </p:nvSpPr>
        <p:spPr>
          <a:xfrm>
            <a:off x="6455664" y="2720340"/>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56832" y="2670048"/>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anamca.com</a:t>
            </a:r>
          </a:p>
        </p:txBody>
      </p:sp>
      <p:sp>
        <p:nvSpPr>
          <p:cNvPr id="31" name="Oval 30"/>
          <p:cNvSpPr/>
          <p:nvPr/>
        </p:nvSpPr>
        <p:spPr>
          <a:xfrm>
            <a:off x="6455664" y="3003804"/>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56832" y="2953512"/>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Shah &amp; Doshi</a:t>
            </a:r>
          </a:p>
        </p:txBody>
      </p:sp>
      <p:sp>
        <p:nvSpPr>
          <p:cNvPr id="33" name="Oval 32"/>
          <p:cNvSpPr/>
          <p:nvPr/>
        </p:nvSpPr>
        <p:spPr>
          <a:xfrm>
            <a:off x="6455664" y="3287268"/>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56832" y="3236976"/>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CA Vijay Singh</a:t>
            </a:r>
          </a:p>
        </p:txBody>
      </p:sp>
      <p:sp>
        <p:nvSpPr>
          <p:cNvPr id="35" name="Oval 34"/>
          <p:cNvSpPr/>
          <p:nvPr/>
        </p:nvSpPr>
        <p:spPr>
          <a:xfrm>
            <a:off x="6455664" y="3570732"/>
            <a:ext cx="63500" cy="635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3520440"/>
            <a:ext cx="4754880" cy="237744"/>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Makwana Shweta &amp; Associates</a:t>
            </a:r>
          </a:p>
        </p:txBody>
      </p:sp>
      <p:sp>
        <p:nvSpPr>
          <p:cNvPr id="37" name="TextBox 36"/>
          <p:cNvSpPr txBox="1"/>
          <p:nvPr/>
        </p:nvSpPr>
        <p:spPr>
          <a:xfrm>
            <a:off x="6419088" y="3712463"/>
            <a:ext cx="4992624" cy="237744"/>
          </a:xfrm>
          <a:prstGeom prst="rect">
            <a:avLst/>
          </a:prstGeom>
          <a:noFill/>
        </p:spPr>
        <p:txBody>
          <a:bodyPr wrap="square" lIns="0" rIns="0" tIns="0" bIns="0" anchor="t">
            <a:spAutoFit/>
          </a:bodyPr>
          <a:lstStyle/>
          <a:p>
            <a:pPr algn="l">
              <a:lnSpc>
                <a:spcPct val="100000"/>
              </a:lnSpc>
            </a:pPr>
            <a:r>
              <a:rPr sz="1050" b="1" i="0">
                <a:solidFill>
                  <a:srgbClr val="1B7A43"/>
                </a:solidFill>
                <a:latin typeface="Calibri"/>
              </a:rPr>
              <a:t>Firms your size. You are absent.</a:t>
            </a:r>
          </a:p>
        </p:txBody>
      </p:sp>
      <p:sp>
        <p:nvSpPr>
          <p:cNvPr id="38" name="Rectangle 37"/>
          <p:cNvSpPr/>
          <p:nvPr/>
        </p:nvSpPr>
        <p:spPr>
          <a:xfrm>
            <a:off x="566928" y="4261104"/>
            <a:ext cx="11064240" cy="118872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443984"/>
            <a:ext cx="10424160" cy="896112"/>
          </a:xfrm>
          <a:prstGeom prst="rect">
            <a:avLst/>
          </a:prstGeom>
          <a:noFill/>
        </p:spPr>
        <p:txBody>
          <a:bodyPr wrap="square" lIns="0" rIns="0" tIns="0" bIns="0" anchor="t">
            <a:spAutoFit/>
          </a:bodyPr>
          <a:lstStyle/>
          <a:p>
            <a:pPr algn="l">
              <a:lnSpc>
                <a:spcPct val="120000"/>
              </a:lnSpc>
            </a:pPr>
            <a:r>
              <a:rPr sz="1350" b="1" i="0">
                <a:solidFill>
                  <a:srgbClr val="FFFFFF"/>
                </a:solidFill>
                <a:latin typeface="Calibri"/>
              </a:rPr>
              <a:t>The decisive comparison</a:t>
            </a:r>
          </a:p>
          <a:p>
            <a:pPr algn="l">
              <a:lnSpc>
                <a:spcPct val="120000"/>
              </a:lnSpc>
            </a:pPr>
            <a:r>
              <a:rPr sz="1350" b="1" i="0">
                <a:solidFill>
                  <a:srgbClr val="FFFFFF"/>
                </a:solidFill>
                <a:latin typeface="Calibri"/>
              </a:rPr>
              <a:t>Jain Anurag ranks on the commercial Mumbai SERP with ~1,100 words. This page has 4,500 words and does not appear.</a:t>
            </a:r>
          </a:p>
        </p:txBody>
      </p:sp>
      <p:sp>
        <p:nvSpPr>
          <p:cNvPr id="40" name="Rectangle 39"/>
          <p:cNvSpPr/>
          <p:nvPr/>
        </p:nvSpPr>
        <p:spPr>
          <a:xfrm>
            <a:off x="566928" y="5614416"/>
            <a:ext cx="11064240" cy="45720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5614416"/>
            <a:ext cx="44450" cy="457200"/>
          </a:xfrm>
          <a:prstGeom prst="rect">
            <a:avLst/>
          </a:prstGeom>
          <a:solidFill>
            <a:srgbClr val="9CA3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705856"/>
            <a:ext cx="10753344" cy="310896"/>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Both SERPs observed directly via live search. Results are personalised and localised — point-in-time samples, not tracked rankings. No rank-tracking tool exists in this project.</a:t>
            </a:r>
          </a:p>
        </p:txBody>
      </p:sp>
      <p:sp>
        <p:nvSpPr>
          <p:cNvPr id="43" name="Rectangle 42"/>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45" name="TextBox 44"/>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CRITICAL</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F-01 · The Page Contradicts Itself</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16736"/>
            <a:ext cx="11064240"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What Google actually sees on the page today</a:t>
            </a:r>
          </a:p>
        </p:txBody>
      </p:sp>
      <p:sp>
        <p:nvSpPr>
          <p:cNvPr id="7" name="Rectangle 6"/>
          <p:cNvSpPr/>
          <p:nvPr/>
        </p:nvSpPr>
        <p:spPr>
          <a:xfrm>
            <a:off x="566928" y="1682496"/>
            <a:ext cx="5431536"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82496"/>
            <a:ext cx="5431536" cy="508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865376"/>
            <a:ext cx="4992624" cy="219456"/>
          </a:xfrm>
          <a:prstGeom prst="rect">
            <a:avLst/>
          </a:prstGeom>
          <a:noFill/>
        </p:spPr>
        <p:txBody>
          <a:bodyPr wrap="square" lIns="0" rIns="0" tIns="0" bIns="0" anchor="t">
            <a:spAutoFit/>
          </a:bodyPr>
          <a:lstStyle/>
          <a:p>
            <a:pPr algn="l">
              <a:lnSpc>
                <a:spcPct val="100000"/>
              </a:lnSpc>
            </a:pPr>
            <a:r>
              <a:rPr sz="950" b="1" i="0">
                <a:solidFill>
                  <a:srgbClr val="C99B3B"/>
                </a:solidFill>
                <a:latin typeface="Calibri"/>
              </a:rPr>
              <a:t>TITLE TAG</a:t>
            </a:r>
          </a:p>
        </p:txBody>
      </p:sp>
      <p:sp>
        <p:nvSpPr>
          <p:cNvPr id="10" name="TextBox 9"/>
          <p:cNvSpPr txBox="1"/>
          <p:nvPr/>
        </p:nvSpPr>
        <p:spPr>
          <a:xfrm>
            <a:off x="786384" y="2121408"/>
            <a:ext cx="4992624" cy="402336"/>
          </a:xfrm>
          <a:prstGeom prst="rect">
            <a:avLst/>
          </a:prstGeom>
          <a:noFill/>
        </p:spPr>
        <p:txBody>
          <a:bodyPr wrap="square" lIns="0" rIns="0" tIns="0" bIns="0" anchor="t">
            <a:spAutoFit/>
          </a:bodyPr>
          <a:lstStyle/>
          <a:p>
            <a:pPr algn="l">
              <a:lnSpc>
                <a:spcPct val="108000"/>
              </a:lnSpc>
            </a:pPr>
            <a:r>
              <a:rPr sz="1300" b="1" i="0">
                <a:solidFill>
                  <a:srgbClr val="1A1D23"/>
                </a:solidFill>
                <a:latin typeface="Calibri"/>
              </a:rPr>
              <a:t>"Trusted Audit Services |</a:t>
            </a:r>
          </a:p>
          <a:p>
            <a:pPr algn="l">
              <a:lnSpc>
                <a:spcPct val="108000"/>
              </a:lnSpc>
            </a:pPr>
            <a:r>
              <a:rPr sz="1300" b="1" i="0">
                <a:solidFill>
                  <a:srgbClr val="1A1D23"/>
                </a:solidFill>
                <a:latin typeface="Calibri"/>
              </a:rPr>
              <a:t>Shahnawaz And Associates"</a:t>
            </a:r>
          </a:p>
        </p:txBody>
      </p:sp>
      <p:sp>
        <p:nvSpPr>
          <p:cNvPr id="11" name="TextBox 10"/>
          <p:cNvSpPr txBox="1"/>
          <p:nvPr/>
        </p:nvSpPr>
        <p:spPr>
          <a:xfrm>
            <a:off x="786384" y="2651760"/>
            <a:ext cx="4992624" cy="256032"/>
          </a:xfrm>
          <a:prstGeom prst="rect">
            <a:avLst/>
          </a:prstGeom>
          <a:noFill/>
        </p:spPr>
        <p:txBody>
          <a:bodyPr wrap="square" lIns="0" rIns="0" tIns="0" bIns="0" anchor="t">
            <a:spAutoFit/>
          </a:bodyPr>
          <a:lstStyle/>
          <a:p>
            <a:pPr algn="l">
              <a:lnSpc>
                <a:spcPct val="100000"/>
              </a:lnSpc>
            </a:pPr>
            <a:r>
              <a:rPr sz="1050" b="0" i="1">
                <a:solidFill>
                  <a:srgbClr val="6B7280"/>
                </a:solidFill>
                <a:latin typeface="Calibri"/>
              </a:rPr>
              <a:t>→ promises a commercial service</a:t>
            </a:r>
          </a:p>
        </p:txBody>
      </p:sp>
      <p:sp>
        <p:nvSpPr>
          <p:cNvPr id="12" name="Rectangle 11"/>
          <p:cNvSpPr/>
          <p:nvPr/>
        </p:nvSpPr>
        <p:spPr>
          <a:xfrm>
            <a:off x="6199632" y="1682496"/>
            <a:ext cx="5431536"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682496"/>
            <a:ext cx="5431536" cy="50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1865376"/>
            <a:ext cx="4992624" cy="219456"/>
          </a:xfrm>
          <a:prstGeom prst="rect">
            <a:avLst/>
          </a:prstGeom>
          <a:noFill/>
        </p:spPr>
        <p:txBody>
          <a:bodyPr wrap="square" lIns="0" rIns="0" tIns="0" bIns="0" anchor="t">
            <a:spAutoFit/>
          </a:bodyPr>
          <a:lstStyle/>
          <a:p>
            <a:pPr algn="l">
              <a:lnSpc>
                <a:spcPct val="100000"/>
              </a:lnSpc>
            </a:pPr>
            <a:r>
              <a:rPr sz="950" b="1" i="0">
                <a:solidFill>
                  <a:srgbClr val="B3261E"/>
                </a:solidFill>
                <a:latin typeface="Calibri"/>
              </a:rPr>
              <a:t>H1 HEADING</a:t>
            </a:r>
          </a:p>
        </p:txBody>
      </p:sp>
      <p:sp>
        <p:nvSpPr>
          <p:cNvPr id="15" name="TextBox 14"/>
          <p:cNvSpPr txBox="1"/>
          <p:nvPr/>
        </p:nvSpPr>
        <p:spPr>
          <a:xfrm>
            <a:off x="6419088" y="2121408"/>
            <a:ext cx="4992624" cy="402336"/>
          </a:xfrm>
          <a:prstGeom prst="rect">
            <a:avLst/>
          </a:prstGeom>
          <a:noFill/>
        </p:spPr>
        <p:txBody>
          <a:bodyPr wrap="square" lIns="0" rIns="0" tIns="0" bIns="0" anchor="t">
            <a:spAutoFit/>
          </a:bodyPr>
          <a:lstStyle/>
          <a:p>
            <a:pPr algn="l">
              <a:lnSpc>
                <a:spcPct val="108000"/>
              </a:lnSpc>
            </a:pPr>
            <a:r>
              <a:rPr sz="1300" b="1" i="0">
                <a:solidFill>
                  <a:srgbClr val="1A1D23"/>
                </a:solidFill>
                <a:latin typeface="Calibri"/>
              </a:rPr>
              <a:t>"Tax Audit &amp; Statutory Audit in India —</a:t>
            </a:r>
          </a:p>
          <a:p>
            <a:pPr algn="l">
              <a:lnSpc>
                <a:spcPct val="108000"/>
              </a:lnSpc>
            </a:pPr>
            <a:r>
              <a:rPr sz="1300" b="1" i="0">
                <a:solidFill>
                  <a:srgbClr val="1A1D23"/>
                </a:solidFill>
                <a:latin typeface="Calibri"/>
              </a:rPr>
              <a:t>Complete Guide for FY 2025-26"</a:t>
            </a:r>
          </a:p>
        </p:txBody>
      </p:sp>
      <p:sp>
        <p:nvSpPr>
          <p:cNvPr id="16" name="TextBox 15"/>
          <p:cNvSpPr txBox="1"/>
          <p:nvPr/>
        </p:nvSpPr>
        <p:spPr>
          <a:xfrm>
            <a:off x="6419088" y="2651760"/>
            <a:ext cx="4992624" cy="256032"/>
          </a:xfrm>
          <a:prstGeom prst="rect">
            <a:avLst/>
          </a:prstGeom>
          <a:noFill/>
        </p:spPr>
        <p:txBody>
          <a:bodyPr wrap="square" lIns="0" rIns="0" tIns="0" bIns="0" anchor="t">
            <a:spAutoFit/>
          </a:bodyPr>
          <a:lstStyle/>
          <a:p>
            <a:pPr algn="l">
              <a:lnSpc>
                <a:spcPct val="100000"/>
              </a:lnSpc>
            </a:pPr>
            <a:r>
              <a:rPr sz="1050" b="0" i="1">
                <a:solidFill>
                  <a:srgbClr val="6B7280"/>
                </a:solidFill>
                <a:latin typeface="Calibri"/>
              </a:rPr>
              <a:t>→ delivers a national guide</a:t>
            </a:r>
          </a:p>
        </p:txBody>
      </p:sp>
      <p:sp>
        <p:nvSpPr>
          <p:cNvPr id="17" name="TextBox 16"/>
          <p:cNvSpPr txBox="1"/>
          <p:nvPr/>
        </p:nvSpPr>
        <p:spPr>
          <a:xfrm>
            <a:off x="566928" y="3218688"/>
            <a:ext cx="11064240" cy="402336"/>
          </a:xfrm>
          <a:prstGeom prst="rect">
            <a:avLst/>
          </a:prstGeom>
          <a:noFill/>
        </p:spPr>
        <p:txBody>
          <a:bodyPr wrap="square" lIns="0" rIns="0" tIns="0" bIns="0" anchor="t">
            <a:spAutoFit/>
          </a:bodyPr>
          <a:lstStyle/>
          <a:p>
            <a:pPr algn="l">
              <a:lnSpc>
                <a:spcPct val="106000"/>
              </a:lnSpc>
            </a:pPr>
            <a:r>
              <a:rPr sz="1200" b="1" i="0">
                <a:solidFill>
                  <a:srgbClr val="B3261E"/>
                </a:solidFill>
                <a:latin typeface="Calibri"/>
              </a:rPr>
              <a:t>Neither contains "Mumbai". The H1 explicitly says "in India" — for a firm whose entire commercial catchment is one city.</a:t>
            </a:r>
          </a:p>
        </p:txBody>
      </p:sp>
      <p:sp>
        <p:nvSpPr>
          <p:cNvPr id="18" name="TextBox 17"/>
          <p:cNvSpPr txBox="1"/>
          <p:nvPr/>
        </p:nvSpPr>
        <p:spPr>
          <a:xfrm>
            <a:off x="566928" y="3785615"/>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The fix</a:t>
            </a:r>
          </a:p>
        </p:txBody>
      </p:sp>
      <p:graphicFrame>
        <p:nvGraphicFramePr>
          <p:cNvPr id="19" name="Table 18"/>
          <p:cNvGraphicFramePr>
            <a:graphicFrameLocks noGrp="1"/>
          </p:cNvGraphicFramePr>
          <p:nvPr/>
        </p:nvGraphicFramePr>
        <p:xfrm>
          <a:off x="566928" y="4133087"/>
          <a:ext cx="11064240" cy="1572768"/>
        </p:xfrm>
        <a:graphic>
          <a:graphicData uri="http://schemas.openxmlformats.org/drawingml/2006/table">
            <a:tbl>
              <a:tblPr firstRow="1" bandRow="1">
                <a:tableStyleId>{5C22544A-7EE6-4342-B048-85BDC9FD1C3A}</a:tableStyleId>
              </a:tblPr>
              <a:tblGrid>
                <a:gridCol w="1463040"/>
                <a:gridCol w="4206240"/>
                <a:gridCol w="5394960"/>
              </a:tblGrid>
              <a:tr h="310896">
                <a:tc>
                  <a:txBody>
                    <a:bodyPr wrap="square"/>
                    <a:lstStyle/>
                    <a:p>
                      <a:r>
                        <a:rPr sz="1000" b="1">
                          <a:solidFill>
                            <a:srgbClr val="FFFFFF"/>
                          </a:solidFill>
                          <a:latin typeface="Calibri"/>
                        </a:rPr>
                        <a:t>Element</a:t>
                      </a:r>
                    </a:p>
                  </a:txBody>
                  <a:tcPr marL="82296" marR="64008" marT="27432" marB="27432" anchor="ctr">
                    <a:solidFill>
                      <a:srgbClr val="1B3A5C"/>
                    </a:solidFill>
                  </a:tcPr>
                </a:tc>
                <a:tc>
                  <a:txBody>
                    <a:bodyPr wrap="square"/>
                    <a:lstStyle/>
                    <a:p>
                      <a:r>
                        <a:rPr sz="1000" b="1">
                          <a:solidFill>
                            <a:srgbClr val="FFFFFF"/>
                          </a:solidFill>
                          <a:latin typeface="Calibri"/>
                        </a:rPr>
                        <a:t>Today</a:t>
                      </a:r>
                    </a:p>
                  </a:txBody>
                  <a:tcPr marL="82296" marR="64008" marT="27432" marB="27432" anchor="ctr">
                    <a:solidFill>
                      <a:srgbClr val="1B3A5C"/>
                    </a:solidFill>
                  </a:tcPr>
                </a:tc>
                <a:tc>
                  <a:txBody>
                    <a:bodyPr wrap="square"/>
                    <a:lstStyle/>
                    <a:p>
                      <a:r>
                        <a:rPr sz="1000" b="1">
                          <a:solidFill>
                            <a:srgbClr val="FFFFFF"/>
                          </a:solidFill>
                          <a:latin typeface="Calibri"/>
                        </a:rPr>
                        <a:t>Change to</a:t>
                      </a:r>
                    </a:p>
                  </a:txBody>
                  <a:tcPr marL="82296" marR="64008" marT="27432" marB="27432" anchor="ctr">
                    <a:solidFill>
                      <a:srgbClr val="1B3A5C"/>
                    </a:solidFill>
                  </a:tcPr>
                </a:tc>
              </a:tr>
              <a:tr h="420624">
                <a:tc>
                  <a:txBody>
                    <a:bodyPr wrap="square"/>
                    <a:lstStyle/>
                    <a:p>
                      <a:r>
                        <a:rPr sz="1000" b="0">
                          <a:solidFill>
                            <a:srgbClr val="1A1D23"/>
                          </a:solidFill>
                          <a:latin typeface="Calibri"/>
                        </a:rPr>
                        <a:t>Title</a:t>
                      </a:r>
                    </a:p>
                  </a:txBody>
                  <a:tcPr marL="82296" marR="64008" marT="27432" marB="27432" anchor="ctr">
                    <a:solidFill>
                      <a:srgbClr val="FFFFFF"/>
                    </a:solidFill>
                  </a:tcPr>
                </a:tc>
                <a:tc>
                  <a:txBody>
                    <a:bodyPr wrap="square"/>
                    <a:lstStyle/>
                    <a:p>
                      <a:r>
                        <a:rPr sz="1000" b="0">
                          <a:solidFill>
                            <a:srgbClr val="1A1D23"/>
                          </a:solidFill>
                          <a:latin typeface="Calibri"/>
                        </a:rPr>
                        <a:t>Trusted Audit Services | Shahnawaz And Associates</a:t>
                      </a:r>
                    </a:p>
                  </a:txBody>
                  <a:tcPr marL="82296" marR="64008" marT="27432" marB="27432" anchor="ctr">
                    <a:solidFill>
                      <a:srgbClr val="FFFFFF"/>
                    </a:solidFill>
                  </a:tcPr>
                </a:tc>
                <a:tc>
                  <a:txBody>
                    <a:bodyPr wrap="square"/>
                    <a:lstStyle/>
                    <a:p>
                      <a:r>
                        <a:rPr sz="1000" b="1">
                          <a:solidFill>
                            <a:srgbClr val="1B7A43"/>
                          </a:solidFill>
                          <a:latin typeface="Calibri"/>
                        </a:rPr>
                        <a:t>Statutory Audit &amp; Tax Audit Services in Mumbai | Shahnawaz &amp; Associates</a:t>
                      </a:r>
                    </a:p>
                  </a:txBody>
                  <a:tcPr marL="82296" marR="64008" marT="27432" marB="27432" anchor="ctr">
                    <a:solidFill>
                      <a:srgbClr val="FFFFFF"/>
                    </a:solidFill>
                  </a:tcPr>
                </a:tc>
              </a:tr>
              <a:tr h="420624">
                <a:tc>
                  <a:txBody>
                    <a:bodyPr wrap="square"/>
                    <a:lstStyle/>
                    <a:p>
                      <a:r>
                        <a:rPr sz="1000" b="0">
                          <a:solidFill>
                            <a:srgbClr val="1A1D23"/>
                          </a:solidFill>
                          <a:latin typeface="Calibri"/>
                        </a:rPr>
                        <a:t>H1</a:t>
                      </a:r>
                    </a:p>
                  </a:txBody>
                  <a:tcPr marL="82296" marR="64008" marT="27432" marB="27432" anchor="ctr">
                    <a:solidFill>
                      <a:srgbClr val="ECEFF3"/>
                    </a:solidFill>
                  </a:tcPr>
                </a:tc>
                <a:tc>
                  <a:txBody>
                    <a:bodyPr wrap="square"/>
                    <a:lstStyle/>
                    <a:p>
                      <a:r>
                        <a:rPr sz="1000" b="0">
                          <a:solidFill>
                            <a:srgbClr val="1A1D23"/>
                          </a:solidFill>
                          <a:latin typeface="Calibri"/>
                        </a:rPr>
                        <a:t>Tax Audit &amp; Statutory Audit in India — Complete Guide…</a:t>
                      </a:r>
                    </a:p>
                  </a:txBody>
                  <a:tcPr marL="82296" marR="64008" marT="27432" marB="27432" anchor="ctr">
                    <a:solidFill>
                      <a:srgbClr val="ECEFF3"/>
                    </a:solidFill>
                  </a:tcPr>
                </a:tc>
                <a:tc>
                  <a:txBody>
                    <a:bodyPr wrap="square"/>
                    <a:lstStyle/>
                    <a:p>
                      <a:r>
                        <a:rPr sz="1000" b="1">
                          <a:solidFill>
                            <a:srgbClr val="1B7A43"/>
                          </a:solidFill>
                          <a:latin typeface="Calibri"/>
                        </a:rPr>
                        <a:t>Statutory Audit &amp; Tax Audit Services in Mumbai</a:t>
                      </a:r>
                    </a:p>
                  </a:txBody>
                  <a:tcPr marL="82296" marR="64008" marT="27432" marB="27432" anchor="ctr">
                    <a:solidFill>
                      <a:srgbClr val="ECEFF3"/>
                    </a:solidFill>
                  </a:tcPr>
                </a:tc>
              </a:tr>
              <a:tr h="420624">
                <a:tc>
                  <a:txBody>
                    <a:bodyPr wrap="square"/>
                    <a:lstStyle/>
                    <a:p>
                      <a:r>
                        <a:rPr sz="1000" b="0">
                          <a:solidFill>
                            <a:srgbClr val="1A1D23"/>
                          </a:solidFill>
                          <a:latin typeface="Calibri"/>
                        </a:rPr>
                        <a:t>Guide content</a:t>
                      </a:r>
                    </a:p>
                  </a:txBody>
                  <a:tcPr marL="82296" marR="64008" marT="27432" marB="27432" anchor="ctr">
                    <a:solidFill>
                      <a:srgbClr val="FFFFFF"/>
                    </a:solidFill>
                  </a:tcPr>
                </a:tc>
                <a:tc>
                  <a:txBody>
                    <a:bodyPr wrap="square"/>
                    <a:lstStyle/>
                    <a:p>
                      <a:r>
                        <a:rPr sz="1000" b="0">
                          <a:solidFill>
                            <a:srgbClr val="1A1D23"/>
                          </a:solidFill>
                          <a:latin typeface="Calibri"/>
                        </a:rPr>
                        <a:t>Occupies the service page</a:t>
                      </a:r>
                    </a:p>
                  </a:txBody>
                  <a:tcPr marL="82296" marR="64008" marT="27432" marB="27432" anchor="ctr">
                    <a:solidFill>
                      <a:srgbClr val="FFFFFF"/>
                    </a:solidFill>
                  </a:tcPr>
                </a:tc>
                <a:tc>
                  <a:txBody>
                    <a:bodyPr wrap="square"/>
                    <a:lstStyle/>
                    <a:p>
                      <a:r>
                        <a:rPr sz="1000" b="1">
                          <a:solidFill>
                            <a:srgbClr val="1B7A43"/>
                          </a:solidFill>
                          <a:latin typeface="Calibri"/>
                        </a:rPr>
                        <a:t>Moves to /tax-guides/ — keep it, don't delete it</a:t>
                      </a:r>
                    </a:p>
                  </a:txBody>
                  <a:tcPr marL="82296" marR="64008" marT="27432" marB="27432" anchor="ctr">
                    <a:solidFill>
                      <a:srgbClr val="FFFFFF"/>
                    </a:solidFill>
                  </a:tcPr>
                </a:tc>
              </a:tr>
            </a:tbl>
          </a:graphicData>
        </a:graphic>
      </p:graphicFrame>
      <p:sp>
        <p:nvSpPr>
          <p:cNvPr id="20" name="Rectangle 19"/>
          <p:cNvSpPr/>
          <p:nvPr/>
        </p:nvSpPr>
        <p:spPr>
          <a:xfrm>
            <a:off x="566928" y="5650992"/>
            <a:ext cx="11064240" cy="54864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5650992"/>
            <a:ext cx="44450" cy="54864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742432"/>
            <a:ext cx="10753344" cy="402336"/>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Expected impact: the single highest-leverage change available. It moves the page out of a SERP it cannot win and into one where firms of equivalent size rank today. Impressions for Mumbai audit queries should begin appearing 4–8 weeks after recrawl. It will not reach page one alone — internal links and trust signals gate that.</a:t>
            </a:r>
          </a:p>
        </p:txBody>
      </p:sp>
      <p:sp>
        <p:nvSpPr>
          <p:cNvPr id="23" name="Rectangle 22"/>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25" name="TextBox 24"/>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HIGH · MEASURED ACROSS 25,992 INTERNAL LINKS</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F-03 · The Site Tells Google Nothing About This Page</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566928" y="1389888"/>
          <a:ext cx="5431536" cy="2651760"/>
        </p:xfrm>
        <a:graphic>
          <a:graphicData uri="http://schemas.openxmlformats.org/drawingml/2006/chart">
            <c:chart xmlns:c="http://schemas.openxmlformats.org/drawingml/2006/chart" r:id="rId2"/>
          </a:graphicData>
        </a:graphic>
      </p:graphicFrame>
      <p:sp>
        <p:nvSpPr>
          <p:cNvPr id="7" name="TextBox 6"/>
          <p:cNvSpPr txBox="1"/>
          <p:nvPr/>
        </p:nvSpPr>
        <p:spPr>
          <a:xfrm>
            <a:off x="6199632" y="1389888"/>
            <a:ext cx="5431536"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What the link graph shows</a:t>
            </a:r>
          </a:p>
        </p:txBody>
      </p:sp>
      <p:sp>
        <p:nvSpPr>
          <p:cNvPr id="8" name="Rectangle 7"/>
          <p:cNvSpPr/>
          <p:nvPr/>
        </p:nvSpPr>
        <p:spPr>
          <a:xfrm>
            <a:off x="6199632" y="1737360"/>
            <a:ext cx="5431536" cy="5669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1737360"/>
            <a:ext cx="44450" cy="566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47088"/>
            <a:ext cx="1097280" cy="347472"/>
          </a:xfrm>
          <a:prstGeom prst="rect">
            <a:avLst/>
          </a:prstGeom>
          <a:noFill/>
        </p:spPr>
        <p:txBody>
          <a:bodyPr wrap="square" lIns="0" rIns="0" tIns="0" bIns="0" anchor="t">
            <a:spAutoFit/>
          </a:bodyPr>
          <a:lstStyle/>
          <a:p>
            <a:pPr algn="l">
              <a:lnSpc>
                <a:spcPct val="100000"/>
              </a:lnSpc>
            </a:pPr>
            <a:r>
              <a:rPr sz="1700" b="1" i="0">
                <a:solidFill>
                  <a:srgbClr val="B3261E"/>
                </a:solidFill>
                <a:latin typeface="Calibri"/>
              </a:rPr>
              <a:t>94.8%</a:t>
            </a:r>
          </a:p>
        </p:txBody>
      </p:sp>
      <p:sp>
        <p:nvSpPr>
          <p:cNvPr id="11" name="TextBox 10"/>
          <p:cNvSpPr txBox="1"/>
          <p:nvPr/>
        </p:nvSpPr>
        <p:spPr>
          <a:xfrm>
            <a:off x="7589520" y="1828800"/>
            <a:ext cx="3931920" cy="402336"/>
          </a:xfrm>
          <a:prstGeom prst="rect">
            <a:avLst/>
          </a:prstGeom>
          <a:noFill/>
        </p:spPr>
        <p:txBody>
          <a:bodyPr wrap="square" lIns="0" rIns="0" tIns="0" bIns="0" anchor="t">
            <a:spAutoFit/>
          </a:bodyPr>
          <a:lstStyle/>
          <a:p>
            <a:pPr algn="l">
              <a:lnSpc>
                <a:spcPct val="104000"/>
              </a:lnSpc>
            </a:pPr>
            <a:r>
              <a:rPr sz="1000" b="0" i="0">
                <a:solidFill>
                  <a:srgbClr val="1A1D23"/>
                </a:solidFill>
                <a:latin typeface="Calibri"/>
              </a:rPr>
              <a:t>of inbound links are navigation or footer boilerplate</a:t>
            </a:r>
          </a:p>
        </p:txBody>
      </p:sp>
      <p:sp>
        <p:nvSpPr>
          <p:cNvPr id="12" name="Rectangle 11"/>
          <p:cNvSpPr/>
          <p:nvPr/>
        </p:nvSpPr>
        <p:spPr>
          <a:xfrm>
            <a:off x="6199632" y="2395728"/>
            <a:ext cx="5431536" cy="5669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395728"/>
            <a:ext cx="44450" cy="566928"/>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505456"/>
            <a:ext cx="1097280" cy="347472"/>
          </a:xfrm>
          <a:prstGeom prst="rect">
            <a:avLst/>
          </a:prstGeom>
          <a:noFill/>
        </p:spPr>
        <p:txBody>
          <a:bodyPr wrap="square" lIns="0" rIns="0" tIns="0" bIns="0" anchor="t">
            <a:spAutoFit/>
          </a:bodyPr>
          <a:lstStyle/>
          <a:p>
            <a:pPr algn="l">
              <a:lnSpc>
                <a:spcPct val="100000"/>
              </a:lnSpc>
            </a:pPr>
            <a:r>
              <a:rPr sz="1700" b="1" i="0">
                <a:solidFill>
                  <a:srgbClr val="D2691E"/>
                </a:solidFill>
                <a:latin typeface="Calibri"/>
              </a:rPr>
              <a:t>31</a:t>
            </a:r>
          </a:p>
        </p:txBody>
      </p:sp>
      <p:sp>
        <p:nvSpPr>
          <p:cNvPr id="15" name="TextBox 14"/>
          <p:cNvSpPr txBox="1"/>
          <p:nvPr/>
        </p:nvSpPr>
        <p:spPr>
          <a:xfrm>
            <a:off x="7589520" y="2487168"/>
            <a:ext cx="3931920" cy="402336"/>
          </a:xfrm>
          <a:prstGeom prst="rect">
            <a:avLst/>
          </a:prstGeom>
          <a:noFill/>
        </p:spPr>
        <p:txBody>
          <a:bodyPr wrap="square" lIns="0" rIns="0" tIns="0" bIns="0" anchor="t">
            <a:spAutoFit/>
          </a:bodyPr>
          <a:lstStyle/>
          <a:p>
            <a:pPr algn="l">
              <a:lnSpc>
                <a:spcPct val="104000"/>
              </a:lnSpc>
            </a:pPr>
            <a:r>
              <a:rPr sz="1000" b="0" i="0">
                <a:solidFill>
                  <a:srgbClr val="1A1D23"/>
                </a:solidFill>
                <a:latin typeface="Calibri"/>
              </a:rPr>
              <a:t>genuine editorial links from other pages</a:t>
            </a:r>
          </a:p>
        </p:txBody>
      </p:sp>
      <p:sp>
        <p:nvSpPr>
          <p:cNvPr id="16" name="Rectangle 15"/>
          <p:cNvSpPr/>
          <p:nvPr/>
        </p:nvSpPr>
        <p:spPr>
          <a:xfrm>
            <a:off x="6199632" y="3054096"/>
            <a:ext cx="5431536" cy="5669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054096"/>
            <a:ext cx="44450" cy="566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163824"/>
            <a:ext cx="1097280" cy="347472"/>
          </a:xfrm>
          <a:prstGeom prst="rect">
            <a:avLst/>
          </a:prstGeom>
          <a:noFill/>
        </p:spPr>
        <p:txBody>
          <a:bodyPr wrap="square" lIns="0" rIns="0" tIns="0" bIns="0" anchor="t">
            <a:spAutoFit/>
          </a:bodyPr>
          <a:lstStyle/>
          <a:p>
            <a:pPr algn="l">
              <a:lnSpc>
                <a:spcPct val="100000"/>
              </a:lnSpc>
            </a:pPr>
            <a:r>
              <a:rPr sz="1700" b="1" i="0">
                <a:solidFill>
                  <a:srgbClr val="B3261E"/>
                </a:solidFill>
                <a:latin typeface="Calibri"/>
              </a:rPr>
              <a:t>763</a:t>
            </a:r>
          </a:p>
        </p:txBody>
      </p:sp>
      <p:sp>
        <p:nvSpPr>
          <p:cNvPr id="19" name="TextBox 18"/>
          <p:cNvSpPr txBox="1"/>
          <p:nvPr/>
        </p:nvSpPr>
        <p:spPr>
          <a:xfrm>
            <a:off x="7589520" y="3145536"/>
            <a:ext cx="3931920" cy="402336"/>
          </a:xfrm>
          <a:prstGeom prst="rect">
            <a:avLst/>
          </a:prstGeom>
          <a:noFill/>
        </p:spPr>
        <p:txBody>
          <a:bodyPr wrap="square" lIns="0" rIns="0" tIns="0" bIns="0" anchor="t">
            <a:spAutoFit/>
          </a:bodyPr>
          <a:lstStyle/>
          <a:p>
            <a:pPr algn="l">
              <a:lnSpc>
                <a:spcPct val="104000"/>
              </a:lnSpc>
            </a:pPr>
            <a:r>
              <a:rPr sz="1000" b="0" i="0">
                <a:solidFill>
                  <a:srgbClr val="1A1D23"/>
                </a:solidFill>
                <a:latin typeface="Calibri"/>
              </a:rPr>
              <a:t>of 783 anchors are the identical string "Audit Services"</a:t>
            </a:r>
          </a:p>
        </p:txBody>
      </p:sp>
      <p:sp>
        <p:nvSpPr>
          <p:cNvPr id="20" name="Rectangle 19"/>
          <p:cNvSpPr/>
          <p:nvPr/>
        </p:nvSpPr>
        <p:spPr>
          <a:xfrm>
            <a:off x="6199632" y="3712464"/>
            <a:ext cx="5431536" cy="56692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3712464"/>
            <a:ext cx="44450" cy="566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822192"/>
            <a:ext cx="1097280" cy="347472"/>
          </a:xfrm>
          <a:prstGeom prst="rect">
            <a:avLst/>
          </a:prstGeom>
          <a:noFill/>
        </p:spPr>
        <p:txBody>
          <a:bodyPr wrap="square" lIns="0" rIns="0" tIns="0" bIns="0" anchor="t">
            <a:spAutoFit/>
          </a:bodyPr>
          <a:lstStyle/>
          <a:p>
            <a:pPr algn="l">
              <a:lnSpc>
                <a:spcPct val="100000"/>
              </a:lnSpc>
            </a:pPr>
            <a:r>
              <a:rPr sz="1700" b="1" i="0">
                <a:solidFill>
                  <a:srgbClr val="B3261E"/>
                </a:solidFill>
                <a:latin typeface="Calibri"/>
              </a:rPr>
              <a:t>2</a:t>
            </a:r>
          </a:p>
        </p:txBody>
      </p:sp>
      <p:sp>
        <p:nvSpPr>
          <p:cNvPr id="23" name="TextBox 22"/>
          <p:cNvSpPr txBox="1"/>
          <p:nvPr/>
        </p:nvSpPr>
        <p:spPr>
          <a:xfrm>
            <a:off x="7589520" y="3803904"/>
            <a:ext cx="3931920" cy="402336"/>
          </a:xfrm>
          <a:prstGeom prst="rect">
            <a:avLst/>
          </a:prstGeom>
          <a:noFill/>
        </p:spPr>
        <p:txBody>
          <a:bodyPr wrap="square" lIns="0" rIns="0" tIns="0" bIns="0" anchor="t">
            <a:spAutoFit/>
          </a:bodyPr>
          <a:lstStyle/>
          <a:p>
            <a:pPr algn="l">
              <a:lnSpc>
                <a:spcPct val="104000"/>
              </a:lnSpc>
            </a:pPr>
            <a:r>
              <a:rPr sz="1000" b="0" i="0">
                <a:solidFill>
                  <a:srgbClr val="1A1D23"/>
                </a:solidFill>
                <a:latin typeface="Calibri"/>
              </a:rPr>
              <a:t>descriptive anchors exist across the entire 111-page site</a:t>
            </a:r>
          </a:p>
        </p:txBody>
      </p:sp>
      <p:sp>
        <p:nvSpPr>
          <p:cNvPr id="24" name="TextBox 23"/>
          <p:cNvSpPr txBox="1"/>
          <p:nvPr/>
        </p:nvSpPr>
        <p:spPr>
          <a:xfrm>
            <a:off x="566928" y="4261104"/>
            <a:ext cx="11064240" cy="274320"/>
          </a:xfrm>
          <a:prstGeom prst="rect">
            <a:avLst/>
          </a:prstGeom>
          <a:noFill/>
        </p:spPr>
        <p:txBody>
          <a:bodyPr wrap="square" lIns="0" rIns="0" tIns="0" bIns="0" anchor="t">
            <a:spAutoFit/>
          </a:bodyPr>
          <a:lstStyle/>
          <a:p>
            <a:pPr algn="l">
              <a:lnSpc>
                <a:spcPct val="100000"/>
              </a:lnSpc>
            </a:pPr>
            <a:r>
              <a:rPr sz="1300" b="1" i="0">
                <a:solidFill>
                  <a:srgbClr val="1B3A5C"/>
                </a:solidFill>
                <a:latin typeface="Calibri"/>
              </a:rPr>
              <a:t>Why it matters — and the fix</a:t>
            </a:r>
          </a:p>
        </p:txBody>
      </p:sp>
      <p:sp>
        <p:nvSpPr>
          <p:cNvPr id="25" name="TextBox 24"/>
          <p:cNvSpPr txBox="1"/>
          <p:nvPr/>
        </p:nvSpPr>
        <p:spPr>
          <a:xfrm>
            <a:off x="566928" y="4590288"/>
            <a:ext cx="5431536" cy="841248"/>
          </a:xfrm>
          <a:prstGeom prst="rect">
            <a:avLst/>
          </a:prstGeom>
          <a:noFill/>
        </p:spPr>
        <p:txBody>
          <a:bodyPr wrap="square" lIns="0" rIns="0" tIns="0" bIns="0" anchor="t">
            <a:spAutoFit/>
          </a:bodyPr>
          <a:lstStyle/>
          <a:p>
            <a:pPr algn="l">
              <a:lnSpc>
                <a:spcPct val="108000"/>
              </a:lnSpc>
            </a:pPr>
            <a:r>
              <a:rPr sz="1100" b="0" i="0">
                <a:solidFill>
                  <a:srgbClr val="1A1D23"/>
                </a:solidFill>
                <a:latin typeface="Calibri"/>
              </a:rPr>
              <a:t>Sitewide nav and footer links are template noise — Google heavily discounts them for relevance. Nothing internally signals that this page is about statutory audit, Section 44AB, or Mumbai.</a:t>
            </a:r>
          </a:p>
        </p:txBody>
      </p:sp>
      <p:sp>
        <p:nvSpPr>
          <p:cNvPr id="26" name="TextBox 25"/>
          <p:cNvSpPr txBox="1"/>
          <p:nvPr/>
        </p:nvSpPr>
        <p:spPr>
          <a:xfrm>
            <a:off x="6199632" y="4590288"/>
            <a:ext cx="5431536" cy="841248"/>
          </a:xfrm>
          <a:prstGeom prst="rect">
            <a:avLst/>
          </a:prstGeom>
          <a:noFill/>
        </p:spPr>
        <p:txBody>
          <a:bodyPr wrap="square" lIns="0" rIns="0" tIns="0" bIns="0" anchor="t">
            <a:spAutoFit/>
          </a:bodyPr>
          <a:lstStyle/>
          <a:p>
            <a:pPr algn="l">
              <a:lnSpc>
                <a:spcPct val="108000"/>
              </a:lnSpc>
            </a:pPr>
            <a:r>
              <a:rPr sz="1100" b="0" i="0">
                <a:solidFill>
                  <a:srgbClr val="1A1D23"/>
                </a:solidFill>
                <a:latin typeface="Calibri"/>
              </a:rPr>
              <a:t>Add 8–12 contextual in-content links with varied descriptive anchors — from Accounting Services, LLP Annual Filing, Public Limited, Section 8, ITR Mumbai, NRI and the due-date pages.</a:t>
            </a:r>
          </a:p>
        </p:txBody>
      </p:sp>
      <p:sp>
        <p:nvSpPr>
          <p:cNvPr id="27" name="Rectangle 26"/>
          <p:cNvSpPr/>
          <p:nvPr/>
        </p:nvSpPr>
        <p:spPr>
          <a:xfrm>
            <a:off x="566928" y="5577840"/>
            <a:ext cx="11064240" cy="530352"/>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5577840"/>
            <a:ext cx="44450" cy="530352"/>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669280"/>
            <a:ext cx="10753344" cy="384048"/>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Do NOT add more nav or footer links — that worsens the 94.8% ratio. This is one of the few ranking levers fully under the firm's control: no outreach, no third party, no budget.</a:t>
            </a:r>
          </a:p>
        </p:txBody>
      </p:sp>
      <p:sp>
        <p:nvSpPr>
          <p:cNvPr id="30" name="Rectangle 29"/>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32" name="TextBox 31"/>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FIX THESE BEFORE ANYTHING ELSE</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Critical Findings</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431536" cy="155448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44450" cy="15544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499616"/>
            <a:ext cx="685800" cy="219456"/>
          </a:xfrm>
          <a:prstGeom prst="rect">
            <a:avLst/>
          </a:prstGeom>
          <a:noFill/>
        </p:spPr>
        <p:txBody>
          <a:bodyPr wrap="square" lIns="0" rIns="0" tIns="0" bIns="0" anchor="t">
            <a:spAutoFit/>
          </a:bodyPr>
          <a:lstStyle/>
          <a:p>
            <a:pPr algn="l">
              <a:lnSpc>
                <a:spcPct val="100000"/>
              </a:lnSpc>
            </a:pPr>
            <a:r>
              <a:rPr sz="1000" b="1" i="0">
                <a:solidFill>
                  <a:srgbClr val="B3261E"/>
                </a:solidFill>
                <a:latin typeface="Calibri"/>
              </a:rPr>
              <a:t>F-01</a:t>
            </a:r>
          </a:p>
        </p:txBody>
      </p:sp>
      <p:sp>
        <p:nvSpPr>
          <p:cNvPr id="9" name="TextBox 8"/>
          <p:cNvSpPr txBox="1"/>
          <p:nvPr/>
        </p:nvSpPr>
        <p:spPr>
          <a:xfrm>
            <a:off x="4672584" y="1499616"/>
            <a:ext cx="1143000" cy="219456"/>
          </a:xfrm>
          <a:prstGeom prst="rect">
            <a:avLst/>
          </a:prstGeom>
          <a:noFill/>
        </p:spPr>
        <p:txBody>
          <a:bodyPr wrap="square" lIns="0" rIns="0" tIns="0" bIns="0" anchor="t">
            <a:spAutoFit/>
          </a:bodyPr>
          <a:lstStyle/>
          <a:p>
            <a:pPr algn="r">
              <a:lnSpc>
                <a:spcPct val="100000"/>
              </a:lnSpc>
            </a:pPr>
            <a:r>
              <a:rPr sz="900" b="1" i="0">
                <a:solidFill>
                  <a:srgbClr val="B3261E"/>
                </a:solidFill>
                <a:latin typeface="Calibri"/>
              </a:rPr>
              <a:t>CRITICAL</a:t>
            </a:r>
          </a:p>
        </p:txBody>
      </p:sp>
      <p:sp>
        <p:nvSpPr>
          <p:cNvPr id="10" name="TextBox 9"/>
          <p:cNvSpPr txBox="1"/>
          <p:nvPr/>
        </p:nvSpPr>
        <p:spPr>
          <a:xfrm>
            <a:off x="749808" y="1737360"/>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Title and H1 target different intents</a:t>
            </a:r>
          </a:p>
        </p:txBody>
      </p:sp>
      <p:sp>
        <p:nvSpPr>
          <p:cNvPr id="11" name="TextBox 10"/>
          <p:cNvSpPr txBox="1"/>
          <p:nvPr/>
        </p:nvSpPr>
        <p:spPr>
          <a:xfrm>
            <a:off x="749808" y="2029968"/>
            <a:ext cx="5065776" cy="841248"/>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Title promises a service; H1 delivers a national guide; neither mentions Mumbai. Google resolves intent from the body — and the body is a guide. The page therefore competes against ClearTax and TaxGuru instead of against Mumbai CA firms.</a:t>
            </a:r>
          </a:p>
        </p:txBody>
      </p:sp>
      <p:sp>
        <p:nvSpPr>
          <p:cNvPr id="12" name="Rectangle 11"/>
          <p:cNvSpPr/>
          <p:nvPr/>
        </p:nvSpPr>
        <p:spPr>
          <a:xfrm>
            <a:off x="6199632" y="1389888"/>
            <a:ext cx="5431536" cy="1554480"/>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389888"/>
            <a:ext cx="44450" cy="15544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499616"/>
            <a:ext cx="685800" cy="219456"/>
          </a:xfrm>
          <a:prstGeom prst="rect">
            <a:avLst/>
          </a:prstGeom>
          <a:noFill/>
        </p:spPr>
        <p:txBody>
          <a:bodyPr wrap="square" lIns="0" rIns="0" tIns="0" bIns="0" anchor="t">
            <a:spAutoFit/>
          </a:bodyPr>
          <a:lstStyle/>
          <a:p>
            <a:pPr algn="l">
              <a:lnSpc>
                <a:spcPct val="100000"/>
              </a:lnSpc>
            </a:pPr>
            <a:r>
              <a:rPr sz="1000" b="1" i="0">
                <a:solidFill>
                  <a:srgbClr val="B3261E"/>
                </a:solidFill>
                <a:latin typeface="Calibri"/>
              </a:rPr>
              <a:t>F-02</a:t>
            </a:r>
          </a:p>
        </p:txBody>
      </p:sp>
      <p:sp>
        <p:nvSpPr>
          <p:cNvPr id="15" name="TextBox 14"/>
          <p:cNvSpPr txBox="1"/>
          <p:nvPr/>
        </p:nvSpPr>
        <p:spPr>
          <a:xfrm>
            <a:off x="10305288" y="1499616"/>
            <a:ext cx="1143000" cy="219456"/>
          </a:xfrm>
          <a:prstGeom prst="rect">
            <a:avLst/>
          </a:prstGeom>
          <a:noFill/>
        </p:spPr>
        <p:txBody>
          <a:bodyPr wrap="square" lIns="0" rIns="0" tIns="0" bIns="0" anchor="t">
            <a:spAutoFit/>
          </a:bodyPr>
          <a:lstStyle/>
          <a:p>
            <a:pPr algn="r">
              <a:lnSpc>
                <a:spcPct val="100000"/>
              </a:lnSpc>
            </a:pPr>
            <a:r>
              <a:rPr sz="900" b="1" i="0">
                <a:solidFill>
                  <a:srgbClr val="B3261E"/>
                </a:solidFill>
                <a:latin typeface="Calibri"/>
              </a:rPr>
              <a:t>CRITICAL</a:t>
            </a:r>
          </a:p>
        </p:txBody>
      </p:sp>
      <p:sp>
        <p:nvSpPr>
          <p:cNvPr id="16" name="TextBox 15"/>
          <p:cNvSpPr txBox="1"/>
          <p:nvPr/>
        </p:nvSpPr>
        <p:spPr>
          <a:xfrm>
            <a:off x="6382512" y="1737360"/>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One URL trying to own three services</a:t>
            </a:r>
          </a:p>
        </p:txBody>
      </p:sp>
      <p:sp>
        <p:nvSpPr>
          <p:cNvPr id="17" name="TextBox 16"/>
          <p:cNvSpPr txBox="1"/>
          <p:nvPr/>
        </p:nvSpPr>
        <p:spPr>
          <a:xfrm>
            <a:off x="6382512" y="2029968"/>
            <a:ext cx="5065776" cy="841248"/>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Tax Audit, Statutory Audit and Internal Audit share one URL — alongside a compliance guide, an Act-2025 crosswalk, a calendar and an FAQ. A page optimised for everything ranks for nothing. Internal Audit is one table row.</a:t>
            </a:r>
          </a:p>
        </p:txBody>
      </p:sp>
      <p:sp>
        <p:nvSpPr>
          <p:cNvPr id="18" name="TextBox 17"/>
          <p:cNvSpPr txBox="1"/>
          <p:nvPr/>
        </p:nvSpPr>
        <p:spPr>
          <a:xfrm>
            <a:off x="566928" y="3182112"/>
            <a:ext cx="11064240"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F-02 · Recommended structure</a:t>
            </a:r>
          </a:p>
        </p:txBody>
      </p:sp>
      <p:sp>
        <p:nvSpPr>
          <p:cNvPr id="19" name="Rectangle 18"/>
          <p:cNvSpPr/>
          <p:nvPr/>
        </p:nvSpPr>
        <p:spPr>
          <a:xfrm>
            <a:off x="566928" y="3529584"/>
            <a:ext cx="2103120"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529584"/>
            <a:ext cx="2103120" cy="5080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694176"/>
            <a:ext cx="1828800" cy="475488"/>
          </a:xfrm>
          <a:prstGeom prst="rect">
            <a:avLst/>
          </a:prstGeom>
          <a:noFill/>
        </p:spPr>
        <p:txBody>
          <a:bodyPr wrap="square" lIns="0" rIns="0" tIns="0" bIns="0" anchor="t">
            <a:spAutoFit/>
          </a:bodyPr>
          <a:lstStyle/>
          <a:p>
            <a:pPr algn="l">
              <a:lnSpc>
                <a:spcPct val="104000"/>
              </a:lnSpc>
            </a:pPr>
            <a:r>
              <a:rPr sz="1000" b="1" i="0">
                <a:solidFill>
                  <a:srgbClr val="1B3A5C"/>
                </a:solidFill>
                <a:latin typeface="Calibri"/>
              </a:rPr>
              <a:t>/audit-services/</a:t>
            </a:r>
          </a:p>
        </p:txBody>
      </p:sp>
      <p:sp>
        <p:nvSpPr>
          <p:cNvPr id="22" name="TextBox 21"/>
          <p:cNvSpPr txBox="1"/>
          <p:nvPr/>
        </p:nvSpPr>
        <p:spPr>
          <a:xfrm>
            <a:off x="713232" y="4224528"/>
            <a:ext cx="1828800" cy="566928"/>
          </a:xfrm>
          <a:prstGeom prst="rect">
            <a:avLst/>
          </a:prstGeom>
          <a:noFill/>
        </p:spPr>
        <p:txBody>
          <a:bodyPr wrap="square" lIns="0" rIns="0" tIns="0" bIns="0" anchor="t">
            <a:spAutoFit/>
          </a:bodyPr>
          <a:lstStyle/>
          <a:p>
            <a:pPr algn="l">
              <a:lnSpc>
                <a:spcPct val="106000"/>
              </a:lnSpc>
            </a:pPr>
            <a:r>
              <a:rPr sz="900" b="0" i="0">
                <a:solidFill>
                  <a:srgbClr val="1A1D23"/>
                </a:solidFill>
                <a:latin typeface="Calibri"/>
              </a:rPr>
              <a:t>Commercial hub</a:t>
            </a:r>
          </a:p>
          <a:p>
            <a:pPr algn="l">
              <a:lnSpc>
                <a:spcPct val="106000"/>
              </a:lnSpc>
            </a:pPr>
            <a:r>
              <a:rPr sz="900" b="0" i="0">
                <a:solidFill>
                  <a:srgbClr val="1A1D23"/>
                </a:solidFill>
                <a:latin typeface="Calibri"/>
              </a:rPr>
              <a:t>1,200–1,600 words</a:t>
            </a:r>
          </a:p>
          <a:p>
            <a:pPr algn="l">
              <a:lnSpc>
                <a:spcPct val="106000"/>
              </a:lnSpc>
            </a:pPr>
            <a:r>
              <a:rPr sz="900" b="0" i="0">
                <a:solidFill>
                  <a:srgbClr val="1A1D23"/>
                </a:solidFill>
                <a:latin typeface="Calibri"/>
              </a:rPr>
              <a:t>Mumbai-targeted</a:t>
            </a:r>
          </a:p>
        </p:txBody>
      </p:sp>
      <p:sp>
        <p:nvSpPr>
          <p:cNvPr id="23" name="Rectangle 22"/>
          <p:cNvSpPr/>
          <p:nvPr/>
        </p:nvSpPr>
        <p:spPr>
          <a:xfrm>
            <a:off x="2798064" y="3529584"/>
            <a:ext cx="2103120"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98064" y="3529584"/>
            <a:ext cx="2103120" cy="50800"/>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44368" y="3694176"/>
            <a:ext cx="1828800" cy="475488"/>
          </a:xfrm>
          <a:prstGeom prst="rect">
            <a:avLst/>
          </a:prstGeom>
          <a:noFill/>
        </p:spPr>
        <p:txBody>
          <a:bodyPr wrap="square" lIns="0" rIns="0" tIns="0" bIns="0" anchor="t">
            <a:spAutoFit/>
          </a:bodyPr>
          <a:lstStyle/>
          <a:p>
            <a:pPr algn="l">
              <a:lnSpc>
                <a:spcPct val="104000"/>
              </a:lnSpc>
            </a:pPr>
            <a:r>
              <a:rPr sz="1000" b="1" i="0">
                <a:solidFill>
                  <a:srgbClr val="2F5233"/>
                </a:solidFill>
                <a:latin typeface="Calibri"/>
              </a:rPr>
              <a:t>/statutory-audit-</a:t>
            </a:r>
          </a:p>
          <a:p>
            <a:pPr algn="l">
              <a:lnSpc>
                <a:spcPct val="104000"/>
              </a:lnSpc>
            </a:pPr>
            <a:r>
              <a:rPr sz="1000" b="1" i="0">
                <a:solidFill>
                  <a:srgbClr val="2F5233"/>
                </a:solidFill>
                <a:latin typeface="Calibri"/>
              </a:rPr>
              <a:t>services-mumbai/</a:t>
            </a:r>
          </a:p>
        </p:txBody>
      </p:sp>
      <p:sp>
        <p:nvSpPr>
          <p:cNvPr id="26" name="TextBox 25"/>
          <p:cNvSpPr txBox="1"/>
          <p:nvPr/>
        </p:nvSpPr>
        <p:spPr>
          <a:xfrm>
            <a:off x="2944368" y="4224528"/>
            <a:ext cx="1828800" cy="566928"/>
          </a:xfrm>
          <a:prstGeom prst="rect">
            <a:avLst/>
          </a:prstGeom>
          <a:noFill/>
        </p:spPr>
        <p:txBody>
          <a:bodyPr wrap="square" lIns="0" rIns="0" tIns="0" bIns="0" anchor="t">
            <a:spAutoFit/>
          </a:bodyPr>
          <a:lstStyle/>
          <a:p>
            <a:pPr algn="l">
              <a:lnSpc>
                <a:spcPct val="106000"/>
              </a:lnSpc>
            </a:pPr>
            <a:r>
              <a:rPr sz="900" b="0" i="0">
                <a:solidFill>
                  <a:srgbClr val="1A1D23"/>
                </a:solidFill>
                <a:latin typeface="Calibri"/>
              </a:rPr>
              <a:t>Companies &amp; LLPs</a:t>
            </a:r>
          </a:p>
          <a:p>
            <a:pPr algn="l">
              <a:lnSpc>
                <a:spcPct val="106000"/>
              </a:lnSpc>
            </a:pPr>
            <a:r>
              <a:rPr sz="900" b="0" i="0">
                <a:solidFill>
                  <a:srgbClr val="1A1D23"/>
                </a:solidFill>
                <a:latin typeface="Calibri"/>
              </a:rPr>
              <a:t>process, deliverables</a:t>
            </a:r>
          </a:p>
        </p:txBody>
      </p:sp>
      <p:sp>
        <p:nvSpPr>
          <p:cNvPr id="27" name="Rectangle 26"/>
          <p:cNvSpPr/>
          <p:nvPr/>
        </p:nvSpPr>
        <p:spPr>
          <a:xfrm>
            <a:off x="5029200" y="3529584"/>
            <a:ext cx="2103120"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0" y="3529584"/>
            <a:ext cx="2103120" cy="50800"/>
          </a:xfrm>
          <a:prstGeom prst="rect">
            <a:avLst/>
          </a:prstGeom>
          <a:solidFill>
            <a:srgbClr val="2F5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75504" y="3694176"/>
            <a:ext cx="1828800" cy="475488"/>
          </a:xfrm>
          <a:prstGeom prst="rect">
            <a:avLst/>
          </a:prstGeom>
          <a:noFill/>
        </p:spPr>
        <p:txBody>
          <a:bodyPr wrap="square" lIns="0" rIns="0" tIns="0" bIns="0" anchor="t">
            <a:spAutoFit/>
          </a:bodyPr>
          <a:lstStyle/>
          <a:p>
            <a:pPr algn="l">
              <a:lnSpc>
                <a:spcPct val="104000"/>
              </a:lnSpc>
            </a:pPr>
            <a:r>
              <a:rPr sz="1000" b="1" i="0">
                <a:solidFill>
                  <a:srgbClr val="2F5233"/>
                </a:solidFill>
                <a:latin typeface="Calibri"/>
              </a:rPr>
              <a:t>/tax-audit-</a:t>
            </a:r>
          </a:p>
          <a:p>
            <a:pPr algn="l">
              <a:lnSpc>
                <a:spcPct val="104000"/>
              </a:lnSpc>
            </a:pPr>
            <a:r>
              <a:rPr sz="1000" b="1" i="0">
                <a:solidFill>
                  <a:srgbClr val="2F5233"/>
                </a:solidFill>
                <a:latin typeface="Calibri"/>
              </a:rPr>
              <a:t>services-mumbai/</a:t>
            </a:r>
          </a:p>
        </p:txBody>
      </p:sp>
      <p:sp>
        <p:nvSpPr>
          <p:cNvPr id="30" name="TextBox 29"/>
          <p:cNvSpPr txBox="1"/>
          <p:nvPr/>
        </p:nvSpPr>
        <p:spPr>
          <a:xfrm>
            <a:off x="5175504" y="4224528"/>
            <a:ext cx="1828800" cy="566928"/>
          </a:xfrm>
          <a:prstGeom prst="rect">
            <a:avLst/>
          </a:prstGeom>
          <a:noFill/>
        </p:spPr>
        <p:txBody>
          <a:bodyPr wrap="square" lIns="0" rIns="0" tIns="0" bIns="0" anchor="t">
            <a:spAutoFit/>
          </a:bodyPr>
          <a:lstStyle/>
          <a:p>
            <a:pPr algn="l">
              <a:lnSpc>
                <a:spcPct val="106000"/>
              </a:lnSpc>
            </a:pPr>
            <a:r>
              <a:rPr sz="900" b="0" i="0">
                <a:solidFill>
                  <a:srgbClr val="1A1D23"/>
                </a:solidFill>
                <a:latin typeface="Calibri"/>
              </a:rPr>
              <a:t>Sec. 44AB thresholds</a:t>
            </a:r>
          </a:p>
          <a:p>
            <a:pPr algn="l">
              <a:lnSpc>
                <a:spcPct val="106000"/>
              </a:lnSpc>
            </a:pPr>
            <a:r>
              <a:rPr sz="900" b="0" i="0">
                <a:solidFill>
                  <a:srgbClr val="1A1D23"/>
                </a:solidFill>
                <a:latin typeface="Calibri"/>
              </a:rPr>
              <a:t>forms, due dates</a:t>
            </a:r>
          </a:p>
        </p:txBody>
      </p:sp>
      <p:sp>
        <p:nvSpPr>
          <p:cNvPr id="31" name="Rectangle 30"/>
          <p:cNvSpPr/>
          <p:nvPr/>
        </p:nvSpPr>
        <p:spPr>
          <a:xfrm>
            <a:off x="7260336" y="3529584"/>
            <a:ext cx="2103120"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60336" y="3529584"/>
            <a:ext cx="2103120" cy="508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3694176"/>
            <a:ext cx="1828800" cy="475488"/>
          </a:xfrm>
          <a:prstGeom prst="rect">
            <a:avLst/>
          </a:prstGeom>
          <a:noFill/>
        </p:spPr>
        <p:txBody>
          <a:bodyPr wrap="square" lIns="0" rIns="0" tIns="0" bIns="0" anchor="t">
            <a:spAutoFit/>
          </a:bodyPr>
          <a:lstStyle/>
          <a:p>
            <a:pPr algn="l">
              <a:lnSpc>
                <a:spcPct val="104000"/>
              </a:lnSpc>
            </a:pPr>
            <a:r>
              <a:rPr sz="1000" b="1" i="0">
                <a:solidFill>
                  <a:srgbClr val="C99B3B"/>
                </a:solidFill>
                <a:latin typeface="Calibri"/>
              </a:rPr>
              <a:t>/internal-audit-</a:t>
            </a:r>
          </a:p>
          <a:p>
            <a:pPr algn="l">
              <a:lnSpc>
                <a:spcPct val="104000"/>
              </a:lnSpc>
            </a:pPr>
            <a:r>
              <a:rPr sz="1000" b="1" i="0">
                <a:solidFill>
                  <a:srgbClr val="C99B3B"/>
                </a:solidFill>
                <a:latin typeface="Calibri"/>
              </a:rPr>
              <a:t>services-mumbai/</a:t>
            </a:r>
          </a:p>
        </p:txBody>
      </p:sp>
      <p:sp>
        <p:nvSpPr>
          <p:cNvPr id="34" name="TextBox 33"/>
          <p:cNvSpPr txBox="1"/>
          <p:nvPr/>
        </p:nvSpPr>
        <p:spPr>
          <a:xfrm>
            <a:off x="7406640" y="4224528"/>
            <a:ext cx="1828800" cy="566928"/>
          </a:xfrm>
          <a:prstGeom prst="rect">
            <a:avLst/>
          </a:prstGeom>
          <a:noFill/>
        </p:spPr>
        <p:txBody>
          <a:bodyPr wrap="square" lIns="0" rIns="0" tIns="0" bIns="0" anchor="t">
            <a:spAutoFit/>
          </a:bodyPr>
          <a:lstStyle/>
          <a:p>
            <a:pPr algn="l">
              <a:lnSpc>
                <a:spcPct val="106000"/>
              </a:lnSpc>
            </a:pPr>
            <a:r>
              <a:rPr sz="900" b="0" i="0">
                <a:solidFill>
                  <a:srgbClr val="1A1D23"/>
                </a:solidFill>
                <a:latin typeface="Calibri"/>
              </a:rPr>
              <a:t>Only if genuinely</a:t>
            </a:r>
          </a:p>
          <a:p>
            <a:pPr algn="l">
              <a:lnSpc>
                <a:spcPct val="106000"/>
              </a:lnSpc>
            </a:pPr>
            <a:r>
              <a:rPr sz="900" b="0" i="0">
                <a:solidFill>
                  <a:srgbClr val="1A1D23"/>
                </a:solidFill>
                <a:latin typeface="Calibri"/>
              </a:rPr>
              <a:t>delivered</a:t>
            </a:r>
          </a:p>
        </p:txBody>
      </p:sp>
      <p:sp>
        <p:nvSpPr>
          <p:cNvPr id="35" name="Rectangle 34"/>
          <p:cNvSpPr/>
          <p:nvPr/>
        </p:nvSpPr>
        <p:spPr>
          <a:xfrm>
            <a:off x="9491472" y="3529584"/>
            <a:ext cx="2103120" cy="1335024"/>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491472" y="3529584"/>
            <a:ext cx="2103120" cy="508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37776" y="3694176"/>
            <a:ext cx="1828800" cy="475488"/>
          </a:xfrm>
          <a:prstGeom prst="rect">
            <a:avLst/>
          </a:prstGeom>
          <a:noFill/>
        </p:spPr>
        <p:txBody>
          <a:bodyPr wrap="square" lIns="0" rIns="0" tIns="0" bIns="0" anchor="t">
            <a:spAutoFit/>
          </a:bodyPr>
          <a:lstStyle/>
          <a:p>
            <a:pPr algn="l">
              <a:lnSpc>
                <a:spcPct val="104000"/>
              </a:lnSpc>
            </a:pPr>
            <a:r>
              <a:rPr sz="1000" b="1" i="0">
                <a:solidFill>
                  <a:srgbClr val="6B7280"/>
                </a:solidFill>
                <a:latin typeface="Calibri"/>
              </a:rPr>
              <a:t>/tax-guides/…</a:t>
            </a:r>
          </a:p>
        </p:txBody>
      </p:sp>
      <p:sp>
        <p:nvSpPr>
          <p:cNvPr id="38" name="TextBox 37"/>
          <p:cNvSpPr txBox="1"/>
          <p:nvPr/>
        </p:nvSpPr>
        <p:spPr>
          <a:xfrm>
            <a:off x="9637776" y="4224528"/>
            <a:ext cx="1828800" cy="566928"/>
          </a:xfrm>
          <a:prstGeom prst="rect">
            <a:avLst/>
          </a:prstGeom>
          <a:noFill/>
        </p:spPr>
        <p:txBody>
          <a:bodyPr wrap="square" lIns="0" rIns="0" tIns="0" bIns="0" anchor="t">
            <a:spAutoFit/>
          </a:bodyPr>
          <a:lstStyle/>
          <a:p>
            <a:pPr algn="l">
              <a:lnSpc>
                <a:spcPct val="106000"/>
              </a:lnSpc>
            </a:pPr>
            <a:r>
              <a:rPr sz="900" b="0" i="0">
                <a:solidFill>
                  <a:srgbClr val="1A1D23"/>
                </a:solidFill>
                <a:latin typeface="Calibri"/>
              </a:rPr>
              <a:t>The existing guide</a:t>
            </a:r>
          </a:p>
          <a:p>
            <a:pPr algn="l">
              <a:lnSpc>
                <a:spcPct val="106000"/>
              </a:lnSpc>
            </a:pPr>
            <a:r>
              <a:rPr sz="900" b="0" i="0">
                <a:solidFill>
                  <a:srgbClr val="1A1D23"/>
                </a:solidFill>
                <a:latin typeface="Calibri"/>
              </a:rPr>
              <a:t>moves here</a:t>
            </a:r>
          </a:p>
        </p:txBody>
      </p:sp>
      <p:sp>
        <p:nvSpPr>
          <p:cNvPr id="39" name="Rectangle 38"/>
          <p:cNvSpPr/>
          <p:nvPr/>
        </p:nvSpPr>
        <p:spPr>
          <a:xfrm>
            <a:off x="566928" y="5084064"/>
            <a:ext cx="11064240" cy="56692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084064"/>
            <a:ext cx="44450" cy="56692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5175504"/>
            <a:ext cx="10753344" cy="42062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Keep /audit-services/ on its existing URL so it retains accumulated signals. Use 301s only where a URL is genuinely retired. Do not delete the guide content — it is the best linkable asset the firm has, and it becomes the authority play later.</a:t>
            </a:r>
          </a:p>
        </p:txBody>
      </p:sp>
      <p:sp>
        <p:nvSpPr>
          <p:cNvPr id="42" name="Rectangle 41"/>
          <p:cNvSpPr/>
          <p:nvPr/>
        </p:nvSpPr>
        <p:spPr>
          <a:xfrm>
            <a:off x="566928" y="5760720"/>
            <a:ext cx="11064240" cy="45720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66928" y="5760720"/>
            <a:ext cx="44450" cy="45720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852160"/>
            <a:ext cx="10753344" cy="310896"/>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Sequence note: F-01 is a two-hour change. F-02 is a multi-week project. Ship F-01 first and measure it — do not bundle them, or attribution becomes impossible.</a:t>
            </a:r>
          </a:p>
        </p:txBody>
      </p:sp>
      <p:sp>
        <p:nvSpPr>
          <p:cNvPr id="45" name="Rectangle 44"/>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47" name="TextBox 46"/>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SUBSTANTIAL IMPACT, MOSTLY WITHIN YOUR CONTROL</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High-Priority Findings</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431536" cy="117043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44450" cy="1170432"/>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499616"/>
            <a:ext cx="685800" cy="219456"/>
          </a:xfrm>
          <a:prstGeom prst="rect">
            <a:avLst/>
          </a:prstGeom>
          <a:noFill/>
        </p:spPr>
        <p:txBody>
          <a:bodyPr wrap="square" lIns="0" rIns="0" tIns="0" bIns="0" anchor="t">
            <a:spAutoFit/>
          </a:bodyPr>
          <a:lstStyle/>
          <a:p>
            <a:pPr algn="l">
              <a:lnSpc>
                <a:spcPct val="100000"/>
              </a:lnSpc>
            </a:pPr>
            <a:r>
              <a:rPr sz="1000" b="1" i="0">
                <a:solidFill>
                  <a:srgbClr val="D2691E"/>
                </a:solidFill>
                <a:latin typeface="Calibri"/>
              </a:rPr>
              <a:t>F-03</a:t>
            </a:r>
          </a:p>
        </p:txBody>
      </p:sp>
      <p:sp>
        <p:nvSpPr>
          <p:cNvPr id="9" name="TextBox 8"/>
          <p:cNvSpPr txBox="1"/>
          <p:nvPr/>
        </p:nvSpPr>
        <p:spPr>
          <a:xfrm>
            <a:off x="4672584" y="1499616"/>
            <a:ext cx="1143000" cy="219456"/>
          </a:xfrm>
          <a:prstGeom prst="rect">
            <a:avLst/>
          </a:prstGeom>
          <a:noFill/>
        </p:spPr>
        <p:txBody>
          <a:bodyPr wrap="square" lIns="0" rIns="0" tIns="0" bIns="0" anchor="t">
            <a:spAutoFit/>
          </a:bodyPr>
          <a:lstStyle/>
          <a:p>
            <a:pPr algn="r">
              <a:lnSpc>
                <a:spcPct val="100000"/>
              </a:lnSpc>
            </a:pPr>
            <a:r>
              <a:rPr sz="900" b="1" i="0">
                <a:solidFill>
                  <a:srgbClr val="D2691E"/>
                </a:solidFill>
                <a:latin typeface="Calibri"/>
              </a:rPr>
              <a:t>HIGH</a:t>
            </a:r>
          </a:p>
        </p:txBody>
      </p:sp>
      <p:sp>
        <p:nvSpPr>
          <p:cNvPr id="10" name="TextBox 9"/>
          <p:cNvSpPr txBox="1"/>
          <p:nvPr/>
        </p:nvSpPr>
        <p:spPr>
          <a:xfrm>
            <a:off x="749808" y="1737360"/>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Internal links give zero topical support</a:t>
            </a:r>
          </a:p>
        </p:txBody>
      </p:sp>
      <p:sp>
        <p:nvSpPr>
          <p:cNvPr id="11" name="TextBox 10"/>
          <p:cNvSpPr txBox="1"/>
          <p:nvPr/>
        </p:nvSpPr>
        <p:spPr>
          <a:xfrm>
            <a:off x="749808" y="2029968"/>
            <a:ext cx="5065776" cy="457200"/>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94.8% boilerplate; 31 editorial links; 763 of 783 anchors are the identical generic string. Fix: 8–12 in-content links with varied, descriptive anchors.</a:t>
            </a:r>
          </a:p>
        </p:txBody>
      </p:sp>
      <p:sp>
        <p:nvSpPr>
          <p:cNvPr id="12" name="Rectangle 11"/>
          <p:cNvSpPr/>
          <p:nvPr/>
        </p:nvSpPr>
        <p:spPr>
          <a:xfrm>
            <a:off x="6199632" y="1389888"/>
            <a:ext cx="5431536" cy="117043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389888"/>
            <a:ext cx="44450" cy="1170432"/>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499616"/>
            <a:ext cx="685800" cy="219456"/>
          </a:xfrm>
          <a:prstGeom prst="rect">
            <a:avLst/>
          </a:prstGeom>
          <a:noFill/>
        </p:spPr>
        <p:txBody>
          <a:bodyPr wrap="square" lIns="0" rIns="0" tIns="0" bIns="0" anchor="t">
            <a:spAutoFit/>
          </a:bodyPr>
          <a:lstStyle/>
          <a:p>
            <a:pPr algn="l">
              <a:lnSpc>
                <a:spcPct val="100000"/>
              </a:lnSpc>
            </a:pPr>
            <a:r>
              <a:rPr sz="1000" b="1" i="0">
                <a:solidFill>
                  <a:srgbClr val="D2691E"/>
                </a:solidFill>
                <a:latin typeface="Calibri"/>
              </a:rPr>
              <a:t>F-04</a:t>
            </a:r>
          </a:p>
        </p:txBody>
      </p:sp>
      <p:sp>
        <p:nvSpPr>
          <p:cNvPr id="15" name="TextBox 14"/>
          <p:cNvSpPr txBox="1"/>
          <p:nvPr/>
        </p:nvSpPr>
        <p:spPr>
          <a:xfrm>
            <a:off x="10305288" y="1499616"/>
            <a:ext cx="1143000" cy="219456"/>
          </a:xfrm>
          <a:prstGeom prst="rect">
            <a:avLst/>
          </a:prstGeom>
          <a:noFill/>
        </p:spPr>
        <p:txBody>
          <a:bodyPr wrap="square" lIns="0" rIns="0" tIns="0" bIns="0" anchor="t">
            <a:spAutoFit/>
          </a:bodyPr>
          <a:lstStyle/>
          <a:p>
            <a:pPr algn="r">
              <a:lnSpc>
                <a:spcPct val="100000"/>
              </a:lnSpc>
            </a:pPr>
            <a:r>
              <a:rPr sz="900" b="1" i="0">
                <a:solidFill>
                  <a:srgbClr val="D2691E"/>
                </a:solidFill>
                <a:latin typeface="Calibri"/>
              </a:rPr>
              <a:t>HIGH</a:t>
            </a:r>
          </a:p>
        </p:txBody>
      </p:sp>
      <p:sp>
        <p:nvSpPr>
          <p:cNvPr id="16" name="TextBox 15"/>
          <p:cNvSpPr txBox="1"/>
          <p:nvPr/>
        </p:nvSpPr>
        <p:spPr>
          <a:xfrm>
            <a:off x="6382512" y="1737360"/>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No trust signals on a YMYL page</a:t>
            </a:r>
          </a:p>
        </p:txBody>
      </p:sp>
      <p:sp>
        <p:nvSpPr>
          <p:cNvPr id="17" name="TextBox 16"/>
          <p:cNvSpPr txBox="1"/>
          <p:nvPr/>
        </p:nvSpPr>
        <p:spPr>
          <a:xfrm>
            <a:off x="6382512" y="2029968"/>
            <a:ext cx="5065776" cy="457200"/>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Zero testimonials. "ICAI Practising CA UDIN-verified" is attached to no named person — despite membership 194241 and FRN 151767W being verifiable. Name the CA.</a:t>
            </a:r>
          </a:p>
        </p:txBody>
      </p:sp>
      <p:sp>
        <p:nvSpPr>
          <p:cNvPr id="18" name="Rectangle 17"/>
          <p:cNvSpPr/>
          <p:nvPr/>
        </p:nvSpPr>
        <p:spPr>
          <a:xfrm>
            <a:off x="566928" y="2706624"/>
            <a:ext cx="5431536" cy="117043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2706624"/>
            <a:ext cx="44450" cy="1170432"/>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2816352"/>
            <a:ext cx="685800" cy="219456"/>
          </a:xfrm>
          <a:prstGeom prst="rect">
            <a:avLst/>
          </a:prstGeom>
          <a:noFill/>
        </p:spPr>
        <p:txBody>
          <a:bodyPr wrap="square" lIns="0" rIns="0" tIns="0" bIns="0" anchor="t">
            <a:spAutoFit/>
          </a:bodyPr>
          <a:lstStyle/>
          <a:p>
            <a:pPr algn="l">
              <a:lnSpc>
                <a:spcPct val="100000"/>
              </a:lnSpc>
            </a:pPr>
            <a:r>
              <a:rPr sz="1000" b="1" i="0">
                <a:solidFill>
                  <a:srgbClr val="D2691E"/>
                </a:solidFill>
                <a:latin typeface="Calibri"/>
              </a:rPr>
              <a:t>F-05</a:t>
            </a:r>
          </a:p>
        </p:txBody>
      </p:sp>
      <p:sp>
        <p:nvSpPr>
          <p:cNvPr id="21" name="TextBox 20"/>
          <p:cNvSpPr txBox="1"/>
          <p:nvPr/>
        </p:nvSpPr>
        <p:spPr>
          <a:xfrm>
            <a:off x="4672584" y="2816352"/>
            <a:ext cx="1143000" cy="219456"/>
          </a:xfrm>
          <a:prstGeom prst="rect">
            <a:avLst/>
          </a:prstGeom>
          <a:noFill/>
        </p:spPr>
        <p:txBody>
          <a:bodyPr wrap="square" lIns="0" rIns="0" tIns="0" bIns="0" anchor="t">
            <a:spAutoFit/>
          </a:bodyPr>
          <a:lstStyle/>
          <a:p>
            <a:pPr algn="r">
              <a:lnSpc>
                <a:spcPct val="100000"/>
              </a:lnSpc>
            </a:pPr>
            <a:r>
              <a:rPr sz="900" b="1" i="0">
                <a:solidFill>
                  <a:srgbClr val="D2691E"/>
                </a:solidFill>
                <a:latin typeface="Calibri"/>
              </a:rPr>
              <a:t>HIGH</a:t>
            </a:r>
          </a:p>
        </p:txBody>
      </p:sp>
      <p:sp>
        <p:nvSpPr>
          <p:cNvPr id="22" name="TextBox 21"/>
          <p:cNvSpPr txBox="1"/>
          <p:nvPr/>
        </p:nvSpPr>
        <p:spPr>
          <a:xfrm>
            <a:off x="749808" y="3054096"/>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No geographic targeting anywhere that matters</a:t>
            </a:r>
          </a:p>
        </p:txBody>
      </p:sp>
      <p:sp>
        <p:nvSpPr>
          <p:cNvPr id="23" name="TextBox 22"/>
          <p:cNvSpPr txBox="1"/>
          <p:nvPr/>
        </p:nvSpPr>
        <p:spPr>
          <a:xfrm>
            <a:off x="749808" y="3346704"/>
            <a:ext cx="5065776" cy="457200"/>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"Mumbai" appears only in the footer address. The H1 says "in India". Every ranking competitor geo-targets explicitly in title and H1.</a:t>
            </a:r>
          </a:p>
        </p:txBody>
      </p:sp>
      <p:sp>
        <p:nvSpPr>
          <p:cNvPr id="24" name="Rectangle 23"/>
          <p:cNvSpPr/>
          <p:nvPr/>
        </p:nvSpPr>
        <p:spPr>
          <a:xfrm>
            <a:off x="6199632" y="2706624"/>
            <a:ext cx="5431536" cy="1170432"/>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2706624"/>
            <a:ext cx="44450" cy="1170432"/>
          </a:xfrm>
          <a:prstGeom prst="rect">
            <a:avLst/>
          </a:prstGeom>
          <a:solidFill>
            <a:srgbClr val="D269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82512" y="2816352"/>
            <a:ext cx="685800" cy="219456"/>
          </a:xfrm>
          <a:prstGeom prst="rect">
            <a:avLst/>
          </a:prstGeom>
          <a:noFill/>
        </p:spPr>
        <p:txBody>
          <a:bodyPr wrap="square" lIns="0" rIns="0" tIns="0" bIns="0" anchor="t">
            <a:spAutoFit/>
          </a:bodyPr>
          <a:lstStyle/>
          <a:p>
            <a:pPr algn="l">
              <a:lnSpc>
                <a:spcPct val="100000"/>
              </a:lnSpc>
            </a:pPr>
            <a:r>
              <a:rPr sz="1000" b="1" i="0">
                <a:solidFill>
                  <a:srgbClr val="D2691E"/>
                </a:solidFill>
                <a:latin typeface="Calibri"/>
              </a:rPr>
              <a:t>F-06</a:t>
            </a:r>
          </a:p>
        </p:txBody>
      </p:sp>
      <p:sp>
        <p:nvSpPr>
          <p:cNvPr id="27" name="TextBox 26"/>
          <p:cNvSpPr txBox="1"/>
          <p:nvPr/>
        </p:nvSpPr>
        <p:spPr>
          <a:xfrm>
            <a:off x="10305288" y="2816352"/>
            <a:ext cx="1143000" cy="219456"/>
          </a:xfrm>
          <a:prstGeom prst="rect">
            <a:avLst/>
          </a:prstGeom>
          <a:noFill/>
        </p:spPr>
        <p:txBody>
          <a:bodyPr wrap="square" lIns="0" rIns="0" tIns="0" bIns="0" anchor="t">
            <a:spAutoFit/>
          </a:bodyPr>
          <a:lstStyle/>
          <a:p>
            <a:pPr algn="r">
              <a:lnSpc>
                <a:spcPct val="100000"/>
              </a:lnSpc>
            </a:pPr>
            <a:r>
              <a:rPr sz="900" b="1" i="0">
                <a:solidFill>
                  <a:srgbClr val="D2691E"/>
                </a:solidFill>
                <a:latin typeface="Calibri"/>
              </a:rPr>
              <a:t>HIGH</a:t>
            </a:r>
          </a:p>
        </p:txBody>
      </p:sp>
      <p:sp>
        <p:nvSpPr>
          <p:cNvPr id="28" name="TextBox 27"/>
          <p:cNvSpPr txBox="1"/>
          <p:nvPr/>
        </p:nvSpPr>
        <p:spPr>
          <a:xfrm>
            <a:off x="6382512" y="3054096"/>
            <a:ext cx="5065776" cy="256032"/>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No authority — and none measurable</a:t>
            </a:r>
          </a:p>
        </p:txBody>
      </p:sp>
      <p:sp>
        <p:nvSpPr>
          <p:cNvPr id="29" name="TextBox 28"/>
          <p:cNvSpPr txBox="1"/>
          <p:nvPr/>
        </p:nvSpPr>
        <p:spPr>
          <a:xfrm>
            <a:off x="6382512" y="3346704"/>
            <a:ext cx="5065776" cy="457200"/>
          </a:xfrm>
          <a:prstGeom prst="rect">
            <a:avLst/>
          </a:prstGeom>
          <a:noFill/>
        </p:spPr>
        <p:txBody>
          <a:bodyPr wrap="square" lIns="0" rIns="0" tIns="0" bIns="0" anchor="t">
            <a:spAutoFit/>
          </a:bodyPr>
          <a:lstStyle/>
          <a:p>
            <a:pPr algn="l">
              <a:lnSpc>
                <a:spcPct val="106000"/>
              </a:lnSpc>
            </a:pPr>
            <a:r>
              <a:rPr sz="950" b="0" i="0">
                <a:solidFill>
                  <a:srgbClr val="1A1D23"/>
                </a:solidFill>
                <a:latin typeface="Calibri"/>
              </a:rPr>
              <a:t>No verified backlinks to the page, and no backlink tool connected, so Domain Rating and referring domains are DATA NOT AVAILABLE. Slow lever — sequence it last.</a:t>
            </a:r>
          </a:p>
        </p:txBody>
      </p:sp>
      <p:sp>
        <p:nvSpPr>
          <p:cNvPr id="30" name="TextBox 29"/>
          <p:cNvSpPr txBox="1"/>
          <p:nvPr/>
        </p:nvSpPr>
        <p:spPr>
          <a:xfrm>
            <a:off x="566928" y="4078224"/>
            <a:ext cx="11064240"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Why F-06 is listed high but sequenced last</a:t>
            </a:r>
          </a:p>
        </p:txBody>
      </p:sp>
      <p:sp>
        <p:nvSpPr>
          <p:cNvPr id="31" name="TextBox 30"/>
          <p:cNvSpPr txBox="1"/>
          <p:nvPr/>
        </p:nvSpPr>
        <p:spPr>
          <a:xfrm>
            <a:off x="566928" y="4407408"/>
            <a:ext cx="11064240" cy="658368"/>
          </a:xfrm>
          <a:prstGeom prst="rect">
            <a:avLst/>
          </a:prstGeom>
          <a:noFill/>
        </p:spPr>
        <p:txBody>
          <a:bodyPr wrap="square" lIns="0" rIns="0" tIns="0" bIns="0" anchor="t">
            <a:spAutoFit/>
          </a:bodyPr>
          <a:lstStyle/>
          <a:p>
            <a:pPr algn="l">
              <a:lnSpc>
                <a:spcPct val="108000"/>
              </a:lnSpc>
            </a:pPr>
            <a:r>
              <a:rPr sz="1150" b="0" i="0">
                <a:solidFill>
                  <a:srgbClr val="1A1D23"/>
                </a:solidFill>
                <a:latin typeface="Calibri"/>
              </a:rPr>
              <a:t>Authority is the slowest and most expensive lever. The page currently fails on intent, geography and internal linking — all faster, cheaper and entirely within the firm's control. Chasing links before fixing those wastes them. And by the project's own rule, a page that is not yet link-worthy should not be pitched to anyone.</a:t>
            </a:r>
          </a:p>
        </p:txBody>
      </p:sp>
      <p:sp>
        <p:nvSpPr>
          <p:cNvPr id="32" name="Rectangle 31"/>
          <p:cNvSpPr/>
          <p:nvPr/>
        </p:nvSpPr>
        <p:spPr>
          <a:xfrm>
            <a:off x="566928" y="5248656"/>
            <a:ext cx="11064240" cy="621792"/>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 y="5248656"/>
            <a:ext cx="44450" cy="621792"/>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340096"/>
            <a:ext cx="10753344" cy="475488"/>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Once the guide is split out (F-02), the guide — not the service page — becomes the linkable asset. That is what a resource page or a journalist would actually cite. Ten opportunities are already scored in the backlink CRM, led by ICAI CA Connect at 96/100.</a:t>
            </a:r>
          </a:p>
        </p:txBody>
      </p:sp>
      <p:sp>
        <p:nvSpPr>
          <p:cNvPr id="35" name="Rectangle 34"/>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37" name="TextBox 36"/>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WORTH DOING — BUT NONE OF THESE EXPLAIN ZERO IMPRESSIONS</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Medium-Priority Findings</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389888"/>
          <a:ext cx="11064240" cy="3511296"/>
        </p:xfrm>
        <a:graphic>
          <a:graphicData uri="http://schemas.openxmlformats.org/drawingml/2006/table">
            <a:tbl>
              <a:tblPr firstRow="1" bandRow="1">
                <a:tableStyleId>{5C22544A-7EE6-4342-B048-85BDC9FD1C3A}</a:tableStyleId>
              </a:tblPr>
              <a:tblGrid>
                <a:gridCol w="694944"/>
                <a:gridCol w="4041648"/>
                <a:gridCol w="4956048"/>
                <a:gridCol w="1371600"/>
              </a:tblGrid>
              <a:tr h="310896">
                <a:tc>
                  <a:txBody>
                    <a:bodyPr wrap="square"/>
                    <a:lstStyle/>
                    <a:p>
                      <a:pPr algn="ctr"/>
                      <a:r>
                        <a:rPr sz="1000" b="1">
                          <a:solidFill>
                            <a:srgbClr val="FFFFFF"/>
                          </a:solidFill>
                          <a:latin typeface="Calibri"/>
                        </a:rPr>
                        <a:t>#</a:t>
                      </a:r>
                    </a:p>
                  </a:txBody>
                  <a:tcPr marL="82296" marR="64008" marT="27432" marB="27432" anchor="ctr">
                    <a:solidFill>
                      <a:srgbClr val="1B3A5C"/>
                    </a:solidFill>
                  </a:tcPr>
                </a:tc>
                <a:tc>
                  <a:txBody>
                    <a:bodyPr wrap="square"/>
                    <a:lstStyle/>
                    <a:p>
                      <a:r>
                        <a:rPr sz="1000" b="1">
                          <a:solidFill>
                            <a:srgbClr val="FFFFFF"/>
                          </a:solidFill>
                          <a:latin typeface="Calibri"/>
                        </a:rPr>
                        <a:t>Finding</a:t>
                      </a:r>
                    </a:p>
                  </a:txBody>
                  <a:tcPr marL="82296" marR="64008" marT="27432" marB="27432" anchor="ctr">
                    <a:solidFill>
                      <a:srgbClr val="1B3A5C"/>
                    </a:solidFill>
                  </a:tcPr>
                </a:tc>
                <a:tc>
                  <a:txBody>
                    <a:bodyPr wrap="square"/>
                    <a:lstStyle/>
                    <a:p>
                      <a:r>
                        <a:rPr sz="1000" b="1">
                          <a:solidFill>
                            <a:srgbClr val="FFFFFF"/>
                          </a:solidFill>
                          <a:latin typeface="Calibri"/>
                        </a:rPr>
                        <a:t>Evidence</a:t>
                      </a:r>
                    </a:p>
                  </a:txBody>
                  <a:tcPr marL="82296" marR="64008" marT="27432" marB="27432" anchor="ctr">
                    <a:solidFill>
                      <a:srgbClr val="1B3A5C"/>
                    </a:solidFill>
                  </a:tcPr>
                </a:tc>
                <a:tc>
                  <a:txBody>
                    <a:bodyPr wrap="square"/>
                    <a:lstStyle/>
                    <a:p>
                      <a:pPr algn="ctr"/>
                      <a:r>
                        <a:rPr sz="1000" b="1">
                          <a:solidFill>
                            <a:srgbClr val="FFFFFF"/>
                          </a:solidFill>
                          <a:latin typeface="Calibri"/>
                        </a:rPr>
                        <a:t>Priority</a:t>
                      </a:r>
                    </a:p>
                  </a:txBody>
                  <a:tcPr marL="82296" marR="64008" marT="27432" marB="27432" anchor="ctr">
                    <a:solidFill>
                      <a:srgbClr val="1B3A5C"/>
                    </a:solidFill>
                  </a:tcPr>
                </a:tc>
              </a:tr>
              <a:tr h="457200">
                <a:tc>
                  <a:txBody>
                    <a:bodyPr wrap="square"/>
                    <a:lstStyle/>
                    <a:p>
                      <a:pPr algn="ctr"/>
                      <a:r>
                        <a:rPr sz="1000" b="0">
                          <a:solidFill>
                            <a:srgbClr val="1A1D23"/>
                          </a:solidFill>
                          <a:latin typeface="Calibri"/>
                        </a:rPr>
                        <a:t>F-07</a:t>
                      </a:r>
                    </a:p>
                  </a:txBody>
                  <a:tcPr marL="82296" marR="64008" marT="27432" marB="27432" anchor="ctr">
                    <a:solidFill>
                      <a:srgbClr val="FFFFFF"/>
                    </a:solidFill>
                  </a:tcPr>
                </a:tc>
                <a:tc>
                  <a:txBody>
                    <a:bodyPr wrap="square"/>
                    <a:lstStyle/>
                    <a:p>
                      <a:r>
                        <a:rPr sz="1000" b="0">
                          <a:solidFill>
                            <a:srgbClr val="1A1D23"/>
                          </a:solidFill>
                          <a:latin typeface="Calibri"/>
                        </a:rPr>
                        <a:t>Layout instability — CLS 0.18, the worst on the site</a:t>
                      </a:r>
                    </a:p>
                  </a:txBody>
                  <a:tcPr marL="82296" marR="64008" marT="27432" marB="27432" anchor="ctr">
                    <a:solidFill>
                      <a:srgbClr val="FFFFFF"/>
                    </a:solidFill>
                  </a:tcPr>
                </a:tc>
                <a:tc>
                  <a:txBody>
                    <a:bodyPr wrap="square"/>
                    <a:lstStyle/>
                    <a:p>
                      <a:r>
                        <a:rPr sz="1000" b="0">
                          <a:solidFill>
                            <a:srgbClr val="1A1D23"/>
                          </a:solidFill>
                          <a:latin typeface="Calibri"/>
                        </a:rPr>
                        <a:t>Mobile lab: CLS 0.18 vs ≤0.1 target; every other page measured 0.00–0.06</a:t>
                      </a:r>
                    </a:p>
                  </a:txBody>
                  <a:tcPr marL="82296" marR="64008" marT="27432" marB="27432" anchor="ctr">
                    <a:solidFill>
                      <a:srgbClr val="FFFFFF"/>
                    </a:solidFill>
                  </a:tcPr>
                </a:tc>
                <a:tc>
                  <a:txBody>
                    <a:bodyPr wrap="square"/>
                    <a:lstStyle/>
                    <a:p>
                      <a:pPr algn="ctr"/>
                      <a:r>
                        <a:rPr sz="1000" b="1">
                          <a:solidFill>
                            <a:srgbClr val="C99B3B"/>
                          </a:solidFill>
                          <a:latin typeface="Calibri"/>
                        </a:rPr>
                        <a:t>MEDIUM</a:t>
                      </a:r>
                    </a:p>
                  </a:txBody>
                  <a:tcPr marL="82296" marR="64008" marT="27432" marB="27432" anchor="ctr">
                    <a:solidFill>
                      <a:srgbClr val="FFFFFF"/>
                    </a:solidFill>
                  </a:tcPr>
                </a:tc>
              </a:tr>
              <a:tr h="457200">
                <a:tc>
                  <a:txBody>
                    <a:bodyPr wrap="square"/>
                    <a:lstStyle/>
                    <a:p>
                      <a:pPr algn="ctr"/>
                      <a:r>
                        <a:rPr sz="1000" b="0">
                          <a:solidFill>
                            <a:srgbClr val="1A1D23"/>
                          </a:solidFill>
                          <a:latin typeface="Calibri"/>
                        </a:rPr>
                        <a:t>F-08</a:t>
                      </a:r>
                    </a:p>
                  </a:txBody>
                  <a:tcPr marL="82296" marR="64008" marT="27432" marB="27432" anchor="ctr">
                    <a:solidFill>
                      <a:srgbClr val="ECEFF3"/>
                    </a:solidFill>
                  </a:tcPr>
                </a:tc>
                <a:tc>
                  <a:txBody>
                    <a:bodyPr wrap="square"/>
                    <a:lstStyle/>
                    <a:p>
                      <a:r>
                        <a:rPr sz="1000" b="0">
                          <a:solidFill>
                            <a:srgbClr val="1A1D23"/>
                          </a:solidFill>
                          <a:latin typeface="Calibri"/>
                        </a:rPr>
                        <a:t>Schema opportunity unused — no FAQ, Service or areaServed markup</a:t>
                      </a:r>
                    </a:p>
                  </a:txBody>
                  <a:tcPr marL="82296" marR="64008" marT="27432" marB="27432" anchor="ctr">
                    <a:solidFill>
                      <a:srgbClr val="ECEFF3"/>
                    </a:solidFill>
                  </a:tcPr>
                </a:tc>
                <a:tc>
                  <a:txBody>
                    <a:bodyPr wrap="square"/>
                    <a:lstStyle/>
                    <a:p>
                      <a:r>
                        <a:rPr sz="1000" b="0">
                          <a:solidFill>
                            <a:srgbClr val="1A1D23"/>
                          </a:solidFill>
                          <a:latin typeface="Calibri"/>
                        </a:rPr>
                        <a:t>5 FAQs render on-page with no confirmed markup; 2 invalid FAQ blocks exist elsewhere</a:t>
                      </a:r>
                    </a:p>
                  </a:txBody>
                  <a:tcPr marL="82296" marR="64008" marT="27432" marB="27432" anchor="ctr">
                    <a:solidFill>
                      <a:srgbClr val="ECEFF3"/>
                    </a:solidFill>
                  </a:tcPr>
                </a:tc>
                <a:tc>
                  <a:txBody>
                    <a:bodyPr wrap="square"/>
                    <a:lstStyle/>
                    <a:p>
                      <a:pPr algn="ctr"/>
                      <a:r>
                        <a:rPr sz="1000" b="1">
                          <a:solidFill>
                            <a:srgbClr val="C99B3B"/>
                          </a:solidFill>
                          <a:latin typeface="Calibri"/>
                        </a:rPr>
                        <a:t>MEDIUM</a:t>
                      </a:r>
                    </a:p>
                  </a:txBody>
                  <a:tcPr marL="82296" marR="64008" marT="27432" marB="27432" anchor="ctr">
                    <a:solidFill>
                      <a:srgbClr val="ECEFF3"/>
                    </a:solidFill>
                  </a:tcPr>
                </a:tc>
              </a:tr>
              <a:tr h="457200">
                <a:tc>
                  <a:txBody>
                    <a:bodyPr wrap="square"/>
                    <a:lstStyle/>
                    <a:p>
                      <a:pPr algn="ctr"/>
                      <a:r>
                        <a:rPr sz="1000" b="0">
                          <a:solidFill>
                            <a:srgbClr val="1A1D23"/>
                          </a:solidFill>
                          <a:latin typeface="Calibri"/>
                        </a:rPr>
                        <a:t>F-09</a:t>
                      </a:r>
                    </a:p>
                  </a:txBody>
                  <a:tcPr marL="82296" marR="64008" marT="27432" marB="27432" anchor="ctr">
                    <a:solidFill>
                      <a:srgbClr val="FFFFFF"/>
                    </a:solidFill>
                  </a:tcPr>
                </a:tc>
                <a:tc>
                  <a:txBody>
                    <a:bodyPr wrap="square"/>
                    <a:lstStyle/>
                    <a:p>
                      <a:r>
                        <a:rPr sz="1000" b="0">
                          <a:solidFill>
                            <a:srgbClr val="1A1D23"/>
                          </a:solidFill>
                          <a:latin typeface="Calibri"/>
                        </a:rPr>
                        <a:t>Form 3CA/3CB/3CD content needs professional verification</a:t>
                      </a:r>
                    </a:p>
                  </a:txBody>
                  <a:tcPr marL="82296" marR="64008" marT="27432" marB="27432" anchor="ctr">
                    <a:solidFill>
                      <a:srgbClr val="FFFFFF"/>
                    </a:solidFill>
                  </a:tcPr>
                </a:tc>
                <a:tc>
                  <a:txBody>
                    <a:bodyPr wrap="square"/>
                    <a:lstStyle/>
                    <a:p>
                      <a:r>
                        <a:rPr sz="1000" b="0">
                          <a:solidFill>
                            <a:srgbClr val="1A1D23"/>
                          </a:solidFill>
                          <a:latin typeface="Calibri"/>
                        </a:rPr>
                        <a:t>Sources indicate Form 26 now consolidates these — see next slide</a:t>
                      </a:r>
                    </a:p>
                  </a:txBody>
                  <a:tcPr marL="82296" marR="64008" marT="27432" marB="27432" anchor="ctr">
                    <a:solidFill>
                      <a:srgbClr val="FFFFFF"/>
                    </a:solidFill>
                  </a:tcPr>
                </a:tc>
                <a:tc>
                  <a:txBody>
                    <a:bodyPr wrap="square"/>
                    <a:lstStyle/>
                    <a:p>
                      <a:pPr algn="ctr"/>
                      <a:r>
                        <a:rPr sz="1000" b="1">
                          <a:solidFill>
                            <a:srgbClr val="B3261E"/>
                          </a:solidFill>
                          <a:latin typeface="Calibri"/>
                        </a:rPr>
                        <a:t>MEDIUM→CRITICAL</a:t>
                      </a:r>
                    </a:p>
                  </a:txBody>
                  <a:tcPr marL="82296" marR="64008" marT="27432" marB="27432" anchor="ctr">
                    <a:solidFill>
                      <a:srgbClr val="FFFFFF"/>
                    </a:solidFill>
                  </a:tcPr>
                </a:tc>
              </a:tr>
              <a:tr h="457200">
                <a:tc>
                  <a:txBody>
                    <a:bodyPr wrap="square"/>
                    <a:lstStyle/>
                    <a:p>
                      <a:pPr algn="ctr"/>
                      <a:r>
                        <a:rPr sz="1000" b="0">
                          <a:solidFill>
                            <a:srgbClr val="1A1D23"/>
                          </a:solidFill>
                          <a:latin typeface="Calibri"/>
                        </a:rPr>
                        <a:t>F-10</a:t>
                      </a:r>
                    </a:p>
                  </a:txBody>
                  <a:tcPr marL="82296" marR="64008" marT="27432" marB="27432" anchor="ctr">
                    <a:solidFill>
                      <a:srgbClr val="ECEFF3"/>
                    </a:solidFill>
                  </a:tcPr>
                </a:tc>
                <a:tc>
                  <a:txBody>
                    <a:bodyPr wrap="square"/>
                    <a:lstStyle/>
                    <a:p>
                      <a:r>
                        <a:rPr sz="1000" b="0">
                          <a:solidFill>
                            <a:srgbClr val="1A1D23"/>
                          </a:solidFill>
                          <a:latin typeface="Calibri"/>
                        </a:rPr>
                        <a:t>Internal Audit is a priority service with no real coverage</a:t>
                      </a:r>
                    </a:p>
                  </a:txBody>
                  <a:tcPr marL="82296" marR="64008" marT="27432" marB="27432" anchor="ctr">
                    <a:solidFill>
                      <a:srgbClr val="ECEFF3"/>
                    </a:solidFill>
                  </a:tcPr>
                </a:tc>
                <a:tc>
                  <a:txBody>
                    <a:bodyPr wrap="square"/>
                    <a:lstStyle/>
                    <a:p>
                      <a:r>
                        <a:rPr sz="1000" b="0">
                          <a:solidFill>
                            <a:srgbClr val="1A1D23"/>
                          </a:solidFill>
                          <a:latin typeface="Calibri"/>
                        </a:rPr>
                        <a:t>One row in a comparison table; no applicability, process or deliverables</a:t>
                      </a:r>
                    </a:p>
                  </a:txBody>
                  <a:tcPr marL="82296" marR="64008" marT="27432" marB="27432" anchor="ctr">
                    <a:solidFill>
                      <a:srgbClr val="ECEFF3"/>
                    </a:solidFill>
                  </a:tcPr>
                </a:tc>
                <a:tc>
                  <a:txBody>
                    <a:bodyPr wrap="square"/>
                    <a:lstStyle/>
                    <a:p>
                      <a:pPr algn="ctr"/>
                      <a:r>
                        <a:rPr sz="1000" b="1">
                          <a:solidFill>
                            <a:srgbClr val="C99B3B"/>
                          </a:solidFill>
                          <a:latin typeface="Calibri"/>
                        </a:rPr>
                        <a:t>MEDIUM</a:t>
                      </a:r>
                    </a:p>
                  </a:txBody>
                  <a:tcPr marL="82296" marR="64008" marT="27432" marB="27432" anchor="ctr">
                    <a:solidFill>
                      <a:srgbClr val="ECEFF3"/>
                    </a:solidFill>
                  </a:tcPr>
                </a:tc>
              </a:tr>
              <a:tr h="457200">
                <a:tc>
                  <a:txBody>
                    <a:bodyPr wrap="square"/>
                    <a:lstStyle/>
                    <a:p>
                      <a:pPr algn="ctr"/>
                      <a:r>
                        <a:rPr sz="1000" b="0">
                          <a:solidFill>
                            <a:srgbClr val="1A1D23"/>
                          </a:solidFill>
                          <a:latin typeface="Calibri"/>
                        </a:rPr>
                        <a:t>F-11</a:t>
                      </a:r>
                    </a:p>
                  </a:txBody>
                  <a:tcPr marL="82296" marR="64008" marT="27432" marB="27432" anchor="ctr">
                    <a:solidFill>
                      <a:srgbClr val="FFFFFF"/>
                    </a:solidFill>
                  </a:tcPr>
                </a:tc>
                <a:tc>
                  <a:txBody>
                    <a:bodyPr wrap="square"/>
                    <a:lstStyle/>
                    <a:p>
                      <a:r>
                        <a:rPr sz="1000" b="0">
                          <a:solidFill>
                            <a:srgbClr val="1A1D23"/>
                          </a:solidFill>
                          <a:latin typeface="Calibri"/>
                        </a:rPr>
                        <a:t>No topical authority cluster around audit</a:t>
                      </a:r>
                    </a:p>
                  </a:txBody>
                  <a:tcPr marL="82296" marR="64008" marT="27432" marB="27432" anchor="ctr">
                    <a:solidFill>
                      <a:srgbClr val="FFFFFF"/>
                    </a:solidFill>
                  </a:tcPr>
                </a:tc>
                <a:tc>
                  <a:txBody>
                    <a:bodyPr wrap="square"/>
                    <a:lstStyle/>
                    <a:p>
                      <a:r>
                        <a:rPr sz="1000" b="0">
                          <a:solidFill>
                            <a:srgbClr val="1A1D23"/>
                          </a:solidFill>
                          <a:latin typeface="Calibri"/>
                        </a:rPr>
                        <a:t>Audit exists as a single page; no supporting content of any kind</a:t>
                      </a:r>
                    </a:p>
                  </a:txBody>
                  <a:tcPr marL="82296" marR="64008" marT="27432" marB="27432" anchor="ctr">
                    <a:solidFill>
                      <a:srgbClr val="FFFFFF"/>
                    </a:solidFill>
                  </a:tcPr>
                </a:tc>
                <a:tc>
                  <a:txBody>
                    <a:bodyPr wrap="square"/>
                    <a:lstStyle/>
                    <a:p>
                      <a:pPr algn="ctr"/>
                      <a:r>
                        <a:rPr sz="1000" b="1">
                          <a:solidFill>
                            <a:srgbClr val="C99B3B"/>
                          </a:solidFill>
                          <a:latin typeface="Calibri"/>
                        </a:rPr>
                        <a:t>MEDIUM</a:t>
                      </a:r>
                    </a:p>
                  </a:txBody>
                  <a:tcPr marL="82296" marR="64008" marT="27432" marB="27432" anchor="ctr">
                    <a:solidFill>
                      <a:srgbClr val="FFFFFF"/>
                    </a:solidFill>
                  </a:tcPr>
                </a:tc>
              </a:tr>
              <a:tr h="457200">
                <a:tc>
                  <a:txBody>
                    <a:bodyPr wrap="square"/>
                    <a:lstStyle/>
                    <a:p>
                      <a:pPr algn="ctr"/>
                      <a:r>
                        <a:rPr sz="1000" b="0">
                          <a:solidFill>
                            <a:srgbClr val="1A1D23"/>
                          </a:solidFill>
                          <a:latin typeface="Calibri"/>
                        </a:rPr>
                        <a:t>F-12</a:t>
                      </a:r>
                    </a:p>
                  </a:txBody>
                  <a:tcPr marL="82296" marR="64008" marT="27432" marB="27432" anchor="ctr">
                    <a:solidFill>
                      <a:srgbClr val="ECEFF3"/>
                    </a:solidFill>
                  </a:tcPr>
                </a:tc>
                <a:tc>
                  <a:txBody>
                    <a:bodyPr wrap="square"/>
                    <a:lstStyle/>
                    <a:p>
                      <a:r>
                        <a:rPr sz="1000" b="0">
                          <a:solidFill>
                            <a:srgbClr val="1A1D23"/>
                          </a:solidFill>
                          <a:latin typeface="Calibri"/>
                        </a:rPr>
                        <a:t>Conversion path weaker than the content feeding it</a:t>
                      </a:r>
                    </a:p>
                  </a:txBody>
                  <a:tcPr marL="82296" marR="64008" marT="27432" marB="27432" anchor="ctr">
                    <a:solidFill>
                      <a:srgbClr val="ECEFF3"/>
                    </a:solidFill>
                  </a:tcPr>
                </a:tc>
                <a:tc>
                  <a:txBody>
                    <a:bodyPr wrap="square"/>
                    <a:lstStyle/>
                    <a:p>
                      <a:r>
                        <a:rPr sz="1000" b="0">
                          <a:solidFill>
                            <a:srgbClr val="1A1D23"/>
                          </a:solidFill>
                          <a:latin typeface="Calibri"/>
                        </a:rPr>
                        <a:t>"GET IT NOW" on an audit page; no deadline urgency despite statutory dates</a:t>
                      </a:r>
                    </a:p>
                  </a:txBody>
                  <a:tcPr marL="82296" marR="64008" marT="27432" marB="27432" anchor="ctr">
                    <a:solidFill>
                      <a:srgbClr val="ECEFF3"/>
                    </a:solidFill>
                  </a:tcPr>
                </a:tc>
                <a:tc>
                  <a:txBody>
                    <a:bodyPr wrap="square"/>
                    <a:lstStyle/>
                    <a:p>
                      <a:pPr algn="ctr"/>
                      <a:r>
                        <a:rPr sz="1000" b="1">
                          <a:solidFill>
                            <a:srgbClr val="C99B3B"/>
                          </a:solidFill>
                          <a:latin typeface="Calibri"/>
                        </a:rPr>
                        <a:t>MEDIUM</a:t>
                      </a:r>
                    </a:p>
                  </a:txBody>
                  <a:tcPr marL="82296" marR="64008" marT="27432" marB="27432" anchor="ctr">
                    <a:solidFill>
                      <a:srgbClr val="ECEFF3"/>
                    </a:solidFill>
                  </a:tcPr>
                </a:tc>
              </a:tr>
              <a:tr h="457200">
                <a:tc>
                  <a:txBody>
                    <a:bodyPr wrap="square"/>
                    <a:lstStyle/>
                    <a:p>
                      <a:pPr algn="ctr"/>
                      <a:r>
                        <a:rPr sz="1000" b="0">
                          <a:solidFill>
                            <a:srgbClr val="1A1D23"/>
                          </a:solidFill>
                          <a:latin typeface="Calibri"/>
                        </a:rPr>
                        <a:t>F-13</a:t>
                      </a:r>
                    </a:p>
                  </a:txBody>
                  <a:tcPr marL="82296" marR="64008" marT="27432" marB="27432" anchor="ctr">
                    <a:solidFill>
                      <a:srgbClr val="FFFFFF"/>
                    </a:solidFill>
                  </a:tcPr>
                </a:tc>
                <a:tc>
                  <a:txBody>
                    <a:bodyPr wrap="square"/>
                    <a:lstStyle/>
                    <a:p>
                      <a:r>
                        <a:rPr sz="1000" b="0">
                          <a:solidFill>
                            <a:srgbClr val="1A1D23"/>
                          </a:solidFill>
                          <a:latin typeface="Calibri"/>
                        </a:rPr>
                        <a:t>Image SEO and accessibility — NOT DETERMINED</a:t>
                      </a:r>
                    </a:p>
                  </a:txBody>
                  <a:tcPr marL="82296" marR="64008" marT="27432" marB="27432" anchor="ctr">
                    <a:solidFill>
                      <a:srgbClr val="FFFFFF"/>
                    </a:solidFill>
                  </a:tcPr>
                </a:tc>
                <a:tc>
                  <a:txBody>
                    <a:bodyPr wrap="square"/>
                    <a:lstStyle/>
                    <a:p>
                      <a:r>
                        <a:rPr sz="1000" b="0">
                          <a:solidFill>
                            <a:srgbClr val="1A1D23"/>
                          </a:solidFill>
                          <a:latin typeface="Calibri"/>
                        </a:rPr>
                        <a:t>No browser rendering available; alt text and dimensions could not be inspected</a:t>
                      </a:r>
                    </a:p>
                  </a:txBody>
                  <a:tcPr marL="82296" marR="64008" marT="27432" marB="27432" anchor="ctr">
                    <a:solidFill>
                      <a:srgbClr val="FFFFFF"/>
                    </a:solidFill>
                  </a:tcPr>
                </a:tc>
                <a:tc>
                  <a:txBody>
                    <a:bodyPr wrap="square"/>
                    <a:lstStyle/>
                    <a:p>
                      <a:pPr algn="ctr"/>
                      <a:r>
                        <a:rPr sz="1000" b="1">
                          <a:solidFill>
                            <a:srgbClr val="6B7280"/>
                          </a:solidFill>
                          <a:latin typeface="Calibri"/>
                        </a:rPr>
                        <a:t>LOW</a:t>
                      </a:r>
                    </a:p>
                  </a:txBody>
                  <a:tcPr marL="82296" marR="64008" marT="27432" marB="27432" anchor="ctr">
                    <a:solidFill>
                      <a:srgbClr val="FFFFFF"/>
                    </a:solidFill>
                  </a:tcPr>
                </a:tc>
              </a:tr>
            </a:tbl>
          </a:graphicData>
        </a:graphic>
      </p:graphicFrame>
      <p:sp>
        <p:nvSpPr>
          <p:cNvPr id="7" name="Rectangle 6"/>
          <p:cNvSpPr/>
          <p:nvPr/>
        </p:nvSpPr>
        <p:spPr>
          <a:xfrm>
            <a:off x="566928" y="4956048"/>
            <a:ext cx="5431536" cy="100584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4956048"/>
            <a:ext cx="44450" cy="100584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047488"/>
            <a:ext cx="5120640" cy="85953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On page speed: LCP 2.64s is marginal and CLS 0.18 is real —</a:t>
            </a:r>
          </a:p>
          <a:p>
            <a:pPr algn="l">
              <a:lnSpc>
                <a:spcPct val="105000"/>
              </a:lnSpc>
            </a:pPr>
            <a:r>
              <a:rPr sz="1000" b="0" i="0">
                <a:solidFill>
                  <a:srgbClr val="1A1D23"/>
                </a:solidFill>
                <a:latin typeface="Calibri"/>
              </a:rPr>
              <a:t>but Core Web Vitals is a tie-breaker signal, not a primary</a:t>
            </a:r>
          </a:p>
          <a:p>
            <a:pPr algn="l">
              <a:lnSpc>
                <a:spcPct val="105000"/>
              </a:lnSpc>
            </a:pPr>
            <a:r>
              <a:rPr sz="1000" b="0" i="0">
                <a:solidFill>
                  <a:srgbClr val="1A1D23"/>
                </a:solidFill>
                <a:latin typeface="Calibri"/>
              </a:rPr>
              <a:t>ranking factor. Fixing it will not fix the targeting problem.</a:t>
            </a:r>
          </a:p>
          <a:p>
            <a:pPr algn="l">
              <a:lnSpc>
                <a:spcPct val="105000"/>
              </a:lnSpc>
            </a:pPr>
            <a:r>
              <a:rPr sz="1000" b="0" i="0">
                <a:solidFill>
                  <a:srgbClr val="1A1D23"/>
                </a:solidFill>
                <a:latin typeface="Calibri"/>
              </a:rPr>
              <a:t>Do it on its own merits.</a:t>
            </a:r>
          </a:p>
        </p:txBody>
      </p:sp>
      <p:sp>
        <p:nvSpPr>
          <p:cNvPr id="10" name="Rectangle 9"/>
          <p:cNvSpPr/>
          <p:nvPr/>
        </p:nvSpPr>
        <p:spPr>
          <a:xfrm>
            <a:off x="6199632" y="4956048"/>
            <a:ext cx="5431536" cy="100584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99632" y="4956048"/>
            <a:ext cx="44450" cy="100584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5047488"/>
            <a:ext cx="5120640" cy="85953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On Internal Audit: build it only if the firm actively delivers</a:t>
            </a:r>
          </a:p>
          <a:p>
            <a:pPr algn="l">
              <a:lnSpc>
                <a:spcPct val="105000"/>
              </a:lnSpc>
            </a:pPr>
            <a:r>
              <a:rPr sz="1000" b="0" i="0">
                <a:solidFill>
                  <a:srgbClr val="1A1D23"/>
                </a:solidFill>
                <a:latin typeface="Calibri"/>
              </a:rPr>
              <a:t>internal audit. Publishing a page for a service it cannot</a:t>
            </a:r>
          </a:p>
          <a:p>
            <a:pPr algn="l">
              <a:lnSpc>
                <a:spcPct val="105000"/>
              </a:lnSpc>
            </a:pPr>
            <a:r>
              <a:rPr sz="1000" b="0" i="0">
                <a:solidFill>
                  <a:srgbClr val="1A1D23"/>
                </a:solidFill>
                <a:latin typeface="Calibri"/>
              </a:rPr>
              <a:t>perform generates exactly the unqualified enquiries the</a:t>
            </a:r>
          </a:p>
          <a:p>
            <a:pPr algn="l">
              <a:lnSpc>
                <a:spcPct val="105000"/>
              </a:lnSpc>
            </a:pPr>
            <a:r>
              <a:rPr sz="1000" b="0" i="0">
                <a:solidFill>
                  <a:srgbClr val="1A1D23"/>
                </a:solidFill>
                <a:latin typeface="Calibri"/>
              </a:rPr>
              <a:t>project counts as a failure.</a:t>
            </a:r>
          </a:p>
        </p:txBody>
      </p:sp>
      <p:sp>
        <p:nvSpPr>
          <p:cNvPr id="13" name="Rectangle 12"/>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15" name="TextBox 14"/>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STOP LOOKING HERE — THIS IS WHERE AUDITS USUALLY WASTE EFFORT</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What We Tested and Cleared</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389888"/>
          <a:ext cx="11064239" cy="3236976"/>
        </p:xfrm>
        <a:graphic>
          <a:graphicData uri="http://schemas.openxmlformats.org/drawingml/2006/table">
            <a:tbl>
              <a:tblPr firstRow="1" bandRow="1">
                <a:tableStyleId>{5C22544A-7EE6-4342-B048-85BDC9FD1C3A}</a:tableStyleId>
              </a:tblPr>
              <a:tblGrid>
                <a:gridCol w="3749039"/>
                <a:gridCol w="2286000"/>
                <a:gridCol w="5029200"/>
              </a:tblGrid>
              <a:tr h="310896">
                <a:tc>
                  <a:txBody>
                    <a:bodyPr wrap="square"/>
                    <a:lstStyle/>
                    <a:p>
                      <a:r>
                        <a:rPr sz="1050" b="1">
                          <a:solidFill>
                            <a:srgbClr val="FFFFFF"/>
                          </a:solidFill>
                          <a:latin typeface="Calibri"/>
                        </a:rPr>
                        <a:t>Hypothesis</a:t>
                      </a:r>
                    </a:p>
                  </a:txBody>
                  <a:tcPr marL="82296" marR="64008" marT="27432" marB="27432" anchor="ctr">
                    <a:solidFill>
                      <a:srgbClr val="1B3A5C"/>
                    </a:solidFill>
                  </a:tcPr>
                </a:tc>
                <a:tc>
                  <a:txBody>
                    <a:bodyPr wrap="square"/>
                    <a:lstStyle/>
                    <a:p>
                      <a:pPr algn="ctr"/>
                      <a:r>
                        <a:rPr sz="1050" b="1">
                          <a:solidFill>
                            <a:srgbClr val="FFFFFF"/>
                          </a:solidFill>
                          <a:latin typeface="Calibri"/>
                        </a:rPr>
                        <a:t>Verdict</a:t>
                      </a:r>
                    </a:p>
                  </a:txBody>
                  <a:tcPr marL="82296" marR="64008" marT="27432" marB="27432" anchor="ctr">
                    <a:solidFill>
                      <a:srgbClr val="1B3A5C"/>
                    </a:solidFill>
                  </a:tcPr>
                </a:tc>
                <a:tc>
                  <a:txBody>
                    <a:bodyPr wrap="square"/>
                    <a:lstStyle/>
                    <a:p>
                      <a:r>
                        <a:rPr sz="1050" b="1">
                          <a:solidFill>
                            <a:srgbClr val="FFFFFF"/>
                          </a:solidFill>
                          <a:latin typeface="Calibri"/>
                        </a:rPr>
                        <a:t>How it was tested</a:t>
                      </a:r>
                    </a:p>
                  </a:txBody>
                  <a:tcPr marL="82296" marR="64008" marT="27432" marB="27432" anchor="ctr">
                    <a:solidFill>
                      <a:srgbClr val="1B3A5C"/>
                    </a:solidFill>
                  </a:tcPr>
                </a:tc>
              </a:tr>
              <a:tr h="365760">
                <a:tc>
                  <a:txBody>
                    <a:bodyPr wrap="square"/>
                    <a:lstStyle/>
                    <a:p>
                      <a:r>
                        <a:rPr sz="1050" b="0">
                          <a:solidFill>
                            <a:srgbClr val="1A1D23"/>
                          </a:solidFill>
                          <a:latin typeface="Calibri"/>
                        </a:rPr>
                        <a:t>Page is not indexed</a:t>
                      </a:r>
                    </a:p>
                  </a:txBody>
                  <a:tcPr marL="82296" marR="64008" marT="27432" marB="27432" anchor="ctr">
                    <a:solidFill>
                      <a:srgbClr val="FFFFFF"/>
                    </a:solidFill>
                  </a:tcPr>
                </a:tc>
                <a:tc>
                  <a:txBody>
                    <a:bodyPr wrap="square"/>
                    <a:lstStyle/>
                    <a:p>
                      <a:pPr algn="ctr"/>
                      <a:r>
                        <a:rPr sz="1050" b="1">
                          <a:solidFill>
                            <a:srgbClr val="1B7A43"/>
                          </a:solidFill>
                          <a:latin typeface="Calibri"/>
                        </a:rPr>
                        <a:t>CLEARED</a:t>
                      </a:r>
                    </a:p>
                  </a:txBody>
                  <a:tcPr marL="82296" marR="64008" marT="27432" marB="27432" anchor="ctr">
                    <a:solidFill>
                      <a:srgbClr val="FFFFFF"/>
                    </a:solidFill>
                  </a:tcPr>
                </a:tc>
                <a:tc>
                  <a:txBody>
                    <a:bodyPr wrap="square"/>
                    <a:lstStyle/>
                    <a:p>
                      <a:r>
                        <a:rPr sz="1050" b="0">
                          <a:solidFill>
                            <a:srgbClr val="1A1D23"/>
                          </a:solidFill>
                          <a:latin typeface="Calibri"/>
                        </a:rPr>
                        <a:t>Surfaced in live search for its exact title string</a:t>
                      </a:r>
                    </a:p>
                  </a:txBody>
                  <a:tcPr marL="82296" marR="64008" marT="27432" marB="27432" anchor="ctr">
                    <a:solidFill>
                      <a:srgbClr val="FFFFFF"/>
                    </a:solidFill>
                  </a:tcPr>
                </a:tc>
              </a:tr>
              <a:tr h="365760">
                <a:tc>
                  <a:txBody>
                    <a:bodyPr wrap="square"/>
                    <a:lstStyle/>
                    <a:p>
                      <a:r>
                        <a:rPr sz="1050" b="0">
                          <a:solidFill>
                            <a:srgbClr val="1A1D23"/>
                          </a:solidFill>
                          <a:latin typeface="Calibri"/>
                        </a:rPr>
                        <a:t>Blocked by robots.txt</a:t>
                      </a:r>
                    </a:p>
                  </a:txBody>
                  <a:tcPr marL="82296" marR="64008" marT="27432" marB="27432" anchor="ctr">
                    <a:solidFill>
                      <a:srgbClr val="ECEFF3"/>
                    </a:solidFill>
                  </a:tcPr>
                </a:tc>
                <a:tc>
                  <a:txBody>
                    <a:bodyPr wrap="square"/>
                    <a:lstStyle/>
                    <a:p>
                      <a:pPr algn="ctr"/>
                      <a:r>
                        <a:rPr sz="1050" b="1">
                          <a:solidFill>
                            <a:srgbClr val="1B7A43"/>
                          </a:solidFill>
                          <a:latin typeface="Calibri"/>
                        </a:rPr>
                        <a:t>CLEARED</a:t>
                      </a:r>
                    </a:p>
                  </a:txBody>
                  <a:tcPr marL="82296" marR="64008" marT="27432" marB="27432" anchor="ctr">
                    <a:solidFill>
                      <a:srgbClr val="ECEFF3"/>
                    </a:solidFill>
                  </a:tcPr>
                </a:tc>
                <a:tc>
                  <a:txBody>
                    <a:bodyPr wrap="square"/>
                    <a:lstStyle/>
                    <a:p>
                      <a:r>
                        <a:rPr sz="1050" b="0">
                          <a:solidFill>
                            <a:srgbClr val="1A1D23"/>
                          </a:solidFill>
                          <a:latin typeface="Calibri"/>
                        </a:rPr>
                        <a:t>Fetched verbatim — only /wp-admin/ disallowed</a:t>
                      </a:r>
                    </a:p>
                  </a:txBody>
                  <a:tcPr marL="82296" marR="64008" marT="27432" marB="27432" anchor="ctr">
                    <a:solidFill>
                      <a:srgbClr val="ECEFF3"/>
                    </a:solidFill>
                  </a:tcPr>
                </a:tc>
              </a:tr>
              <a:tr h="365760">
                <a:tc>
                  <a:txBody>
                    <a:bodyPr wrap="square"/>
                    <a:lstStyle/>
                    <a:p>
                      <a:r>
                        <a:rPr sz="1050" b="0">
                          <a:solidFill>
                            <a:srgbClr val="1A1D23"/>
                          </a:solidFill>
                          <a:latin typeface="Calibri"/>
                        </a:rPr>
                        <a:t>Missing from XML sitemap</a:t>
                      </a:r>
                    </a:p>
                  </a:txBody>
                  <a:tcPr marL="82296" marR="64008" marT="27432" marB="27432" anchor="ctr">
                    <a:solidFill>
                      <a:srgbClr val="FFFFFF"/>
                    </a:solidFill>
                  </a:tcPr>
                </a:tc>
                <a:tc>
                  <a:txBody>
                    <a:bodyPr wrap="square"/>
                    <a:lstStyle/>
                    <a:p>
                      <a:pPr algn="ctr"/>
                      <a:r>
                        <a:rPr sz="1050" b="1">
                          <a:solidFill>
                            <a:srgbClr val="1B7A43"/>
                          </a:solidFill>
                          <a:latin typeface="Calibri"/>
                        </a:rPr>
                        <a:t>CLEARED</a:t>
                      </a:r>
                    </a:p>
                  </a:txBody>
                  <a:tcPr marL="82296" marR="64008" marT="27432" marB="27432" anchor="ctr">
                    <a:solidFill>
                      <a:srgbClr val="FFFFFF"/>
                    </a:solidFill>
                  </a:tcPr>
                </a:tc>
                <a:tc>
                  <a:txBody>
                    <a:bodyPr wrap="square"/>
                    <a:lstStyle/>
                    <a:p>
                      <a:r>
                        <a:rPr sz="1050" b="0">
                          <a:solidFill>
                            <a:srgbClr val="1A1D23"/>
                          </a:solidFill>
                          <a:latin typeface="Calibri"/>
                        </a:rPr>
                        <a:t>Present in page-sitemap.xml, lastmod 2026-09-10</a:t>
                      </a:r>
                    </a:p>
                  </a:txBody>
                  <a:tcPr marL="82296" marR="64008" marT="27432" marB="27432" anchor="ctr">
                    <a:solidFill>
                      <a:srgbClr val="FFFFFF"/>
                    </a:solidFill>
                  </a:tcPr>
                </a:tc>
              </a:tr>
              <a:tr h="365760">
                <a:tc>
                  <a:txBody>
                    <a:bodyPr wrap="square"/>
                    <a:lstStyle/>
                    <a:p>
                      <a:r>
                        <a:rPr sz="1050" b="0">
                          <a:solidFill>
                            <a:srgbClr val="1A1D23"/>
                          </a:solidFill>
                          <a:latin typeface="Calibri"/>
                        </a:rPr>
                        <a:t>Cannibalised by Accounting Services</a:t>
                      </a:r>
                    </a:p>
                  </a:txBody>
                  <a:tcPr marL="82296" marR="64008" marT="27432" marB="27432" anchor="ctr">
                    <a:solidFill>
                      <a:srgbClr val="ECEFF3"/>
                    </a:solidFill>
                  </a:tcPr>
                </a:tc>
                <a:tc>
                  <a:txBody>
                    <a:bodyPr wrap="square"/>
                    <a:lstStyle/>
                    <a:p>
                      <a:pPr algn="ctr"/>
                      <a:r>
                        <a:rPr sz="1050" b="1">
                          <a:solidFill>
                            <a:srgbClr val="1B7A43"/>
                          </a:solidFill>
                          <a:latin typeface="Calibri"/>
                        </a:rPr>
                        <a:t>CLEARED</a:t>
                      </a:r>
                    </a:p>
                  </a:txBody>
                  <a:tcPr marL="82296" marR="64008" marT="27432" marB="27432" anchor="ctr">
                    <a:solidFill>
                      <a:srgbClr val="ECEFF3"/>
                    </a:solidFill>
                  </a:tcPr>
                </a:tc>
                <a:tc>
                  <a:txBody>
                    <a:bodyPr wrap="square"/>
                    <a:lstStyle/>
                    <a:p>
                      <a:r>
                        <a:rPr sz="1050" b="0">
                          <a:solidFill>
                            <a:srgbClr val="1A1D23"/>
                          </a:solidFill>
                          <a:latin typeface="Calibri"/>
                        </a:rPr>
                        <a:t>Checked directly — "no meaningful overlap found"</a:t>
                      </a:r>
                    </a:p>
                  </a:txBody>
                  <a:tcPr marL="82296" marR="64008" marT="27432" marB="27432" anchor="ctr">
                    <a:solidFill>
                      <a:srgbClr val="ECEFF3"/>
                    </a:solidFill>
                  </a:tcPr>
                </a:tc>
              </a:tr>
              <a:tr h="365760">
                <a:tc>
                  <a:txBody>
                    <a:bodyPr wrap="square"/>
                    <a:lstStyle/>
                    <a:p>
                      <a:r>
                        <a:rPr sz="1050" b="0">
                          <a:solidFill>
                            <a:srgbClr val="1A1D23"/>
                          </a:solidFill>
                          <a:latin typeface="Calibri"/>
                        </a:rPr>
                        <a:t>Content too thin</a:t>
                      </a:r>
                    </a:p>
                  </a:txBody>
                  <a:tcPr marL="82296" marR="64008" marT="27432" marB="27432" anchor="ctr">
                    <a:solidFill>
                      <a:srgbClr val="FFFFFF"/>
                    </a:solidFill>
                  </a:tcPr>
                </a:tc>
                <a:tc>
                  <a:txBody>
                    <a:bodyPr wrap="square"/>
                    <a:lstStyle/>
                    <a:p>
                      <a:pPr algn="ctr"/>
                      <a:r>
                        <a:rPr sz="1050" b="1">
                          <a:solidFill>
                            <a:srgbClr val="1B7A43"/>
                          </a:solidFill>
                          <a:latin typeface="Calibri"/>
                        </a:rPr>
                        <a:t>CLEARED</a:t>
                      </a:r>
                    </a:p>
                  </a:txBody>
                  <a:tcPr marL="82296" marR="64008" marT="27432" marB="27432" anchor="ctr">
                    <a:solidFill>
                      <a:srgbClr val="FFFFFF"/>
                    </a:solidFill>
                  </a:tcPr>
                </a:tc>
                <a:tc>
                  <a:txBody>
                    <a:bodyPr wrap="square"/>
                    <a:lstStyle/>
                    <a:p>
                      <a:r>
                        <a:rPr sz="1050" b="0">
                          <a:solidFill>
                            <a:srgbClr val="1A1D23"/>
                          </a:solidFill>
                          <a:latin typeface="Calibri"/>
                        </a:rPr>
                        <a:t>4,000–4,500 words; the ranking competitor has ~1,100</a:t>
                      </a:r>
                    </a:p>
                  </a:txBody>
                  <a:tcPr marL="82296" marR="64008" marT="27432" marB="27432" anchor="ctr">
                    <a:solidFill>
                      <a:srgbClr val="FFFFFF"/>
                    </a:solidFill>
                  </a:tcPr>
                </a:tc>
              </a:tr>
              <a:tr h="365760">
                <a:tc>
                  <a:txBody>
                    <a:bodyPr wrap="square"/>
                    <a:lstStyle/>
                    <a:p>
                      <a:r>
                        <a:rPr sz="1050" b="0">
                          <a:solidFill>
                            <a:srgbClr val="1A1D23"/>
                          </a:solidFill>
                          <a:latin typeface="Calibri"/>
                        </a:rPr>
                        <a:t>Needs more content</a:t>
                      </a:r>
                    </a:p>
                  </a:txBody>
                  <a:tcPr marL="82296" marR="64008" marT="27432" marB="27432" anchor="ctr">
                    <a:solidFill>
                      <a:srgbClr val="ECEFF3"/>
                    </a:solidFill>
                  </a:tcPr>
                </a:tc>
                <a:tc>
                  <a:txBody>
                    <a:bodyPr wrap="square"/>
                    <a:lstStyle/>
                    <a:p>
                      <a:pPr algn="ctr"/>
                      <a:r>
                        <a:rPr sz="1050" b="1">
                          <a:solidFill>
                            <a:srgbClr val="B3261E"/>
                          </a:solidFill>
                          <a:latin typeface="Calibri"/>
                        </a:rPr>
                        <a:t>COUNTER-INDICATED</a:t>
                      </a:r>
                    </a:p>
                  </a:txBody>
                  <a:tcPr marL="82296" marR="64008" marT="27432" marB="27432" anchor="ctr">
                    <a:solidFill>
                      <a:srgbClr val="ECEFF3"/>
                    </a:solidFill>
                  </a:tcPr>
                </a:tc>
                <a:tc>
                  <a:txBody>
                    <a:bodyPr wrap="square"/>
                    <a:lstStyle/>
                    <a:p>
                      <a:r>
                        <a:rPr sz="1050" b="0">
                          <a:solidFill>
                            <a:srgbClr val="1A1D23"/>
                          </a:solidFill>
                          <a:latin typeface="Calibri"/>
                        </a:rPr>
                        <a:t>Already too broad — the fix is splitting, not adding</a:t>
                      </a:r>
                    </a:p>
                  </a:txBody>
                  <a:tcPr marL="82296" marR="64008" marT="27432" marB="27432" anchor="ctr">
                    <a:solidFill>
                      <a:srgbClr val="ECEFF3"/>
                    </a:solidFill>
                  </a:tcPr>
                </a:tc>
              </a:tr>
              <a:tr h="365760">
                <a:tc>
                  <a:txBody>
                    <a:bodyPr wrap="square"/>
                    <a:lstStyle/>
                    <a:p>
                      <a:r>
                        <a:rPr sz="1050" b="0">
                          <a:solidFill>
                            <a:srgbClr val="1A1D23"/>
                          </a:solidFill>
                          <a:latin typeface="Calibri"/>
                        </a:rPr>
                        <a:t>Page speed is the cause</a:t>
                      </a:r>
                    </a:p>
                  </a:txBody>
                  <a:tcPr marL="82296" marR="64008" marT="27432" marB="27432" anchor="ctr">
                    <a:solidFill>
                      <a:srgbClr val="FFFFFF"/>
                    </a:solidFill>
                  </a:tcPr>
                </a:tc>
                <a:tc>
                  <a:txBody>
                    <a:bodyPr wrap="square"/>
                    <a:lstStyle/>
                    <a:p>
                      <a:pPr algn="ctr"/>
                      <a:r>
                        <a:rPr sz="1050" b="1">
                          <a:solidFill>
                            <a:srgbClr val="D2691E"/>
                          </a:solidFill>
                          <a:latin typeface="Calibri"/>
                        </a:rPr>
                        <a:t>NOT CAUSAL</a:t>
                      </a:r>
                    </a:p>
                  </a:txBody>
                  <a:tcPr marL="82296" marR="64008" marT="27432" marB="27432" anchor="ctr">
                    <a:solidFill>
                      <a:srgbClr val="FFFFFF"/>
                    </a:solidFill>
                  </a:tcPr>
                </a:tc>
                <a:tc>
                  <a:txBody>
                    <a:bodyPr wrap="square"/>
                    <a:lstStyle/>
                    <a:p>
                      <a:r>
                        <a:rPr sz="1050" b="0">
                          <a:solidFill>
                            <a:srgbClr val="1A1D23"/>
                          </a:solidFill>
                          <a:latin typeface="Calibri"/>
                        </a:rPr>
                        <a:t>LCP 2.64s marginal; CLS real but a tie-breaker</a:t>
                      </a:r>
                    </a:p>
                  </a:txBody>
                  <a:tcPr marL="82296" marR="64008" marT="27432" marB="27432" anchor="ctr">
                    <a:solidFill>
                      <a:srgbClr val="FFFFFF"/>
                    </a:solidFill>
                  </a:tcPr>
                </a:tc>
              </a:tr>
              <a:tr h="365760">
                <a:tc>
                  <a:txBody>
                    <a:bodyPr wrap="square"/>
                    <a:lstStyle/>
                    <a:p>
                      <a:r>
                        <a:rPr sz="1050" b="0">
                          <a:solidFill>
                            <a:srgbClr val="1A1D23"/>
                          </a:solidFill>
                          <a:latin typeface="Calibri"/>
                        </a:rPr>
                        <a:t>Canonical problem</a:t>
                      </a:r>
                    </a:p>
                  </a:txBody>
                  <a:tcPr marL="82296" marR="64008" marT="27432" marB="27432" anchor="ctr">
                    <a:solidFill>
                      <a:srgbClr val="ECEFF3"/>
                    </a:solidFill>
                  </a:tcPr>
                </a:tc>
                <a:tc>
                  <a:txBody>
                    <a:bodyPr wrap="square"/>
                    <a:lstStyle/>
                    <a:p>
                      <a:pPr algn="ctr"/>
                      <a:r>
                        <a:rPr sz="1050" b="1">
                          <a:solidFill>
                            <a:srgbClr val="6B7280"/>
                          </a:solidFill>
                          <a:latin typeface="Calibri"/>
                        </a:rPr>
                        <a:t>NOT OBSERVED</a:t>
                      </a:r>
                    </a:p>
                  </a:txBody>
                  <a:tcPr marL="82296" marR="64008" marT="27432" marB="27432" anchor="ctr">
                    <a:solidFill>
                      <a:srgbClr val="ECEFF3"/>
                    </a:solidFill>
                  </a:tcPr>
                </a:tc>
                <a:tc>
                  <a:txBody>
                    <a:bodyPr wrap="square"/>
                    <a:lstStyle/>
                    <a:p>
                      <a:r>
                        <a:rPr sz="1050" b="0">
                          <a:solidFill>
                            <a:srgbClr val="1A1D23"/>
                          </a:solidFill>
                          <a:latin typeface="Calibri"/>
                        </a:rPr>
                        <a:t>No canonical issue on this URL</a:t>
                      </a:r>
                    </a:p>
                  </a:txBody>
                  <a:tcPr marL="82296" marR="64008" marT="27432" marB="27432" anchor="ctr">
                    <a:solidFill>
                      <a:srgbClr val="ECEFF3"/>
                    </a:solidFill>
                  </a:tcPr>
                </a:tc>
              </a:tr>
            </a:tbl>
          </a:graphicData>
        </a:graphic>
      </p:graphicFrame>
      <p:sp>
        <p:nvSpPr>
          <p:cNvPr id="7" name="Rectangle 6"/>
          <p:cNvSpPr/>
          <p:nvPr/>
        </p:nvSpPr>
        <p:spPr>
          <a:xfrm>
            <a:off x="566928" y="4828032"/>
            <a:ext cx="11064240" cy="64008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4828032"/>
            <a:ext cx="44450" cy="64008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919472"/>
            <a:ext cx="10753344" cy="49377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This matters commercially. A conventional audit would have recommended more content, faster pages and a canonical review — none of which would have moved this page, because none of them is the constraint. The constraint is that the page is aimed at the wrong SERP.</a:t>
            </a:r>
          </a:p>
        </p:txBody>
      </p:sp>
      <p:sp>
        <p:nvSpPr>
          <p:cNvPr id="10" name="Rectangle 9"/>
          <p:cNvSpPr/>
          <p:nvPr/>
        </p:nvSpPr>
        <p:spPr>
          <a:xfrm>
            <a:off x="566928" y="5614416"/>
            <a:ext cx="11064240" cy="47548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5614416"/>
            <a:ext cx="44450" cy="47548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705856"/>
            <a:ext cx="10753344" cy="32918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One thing NOT to do: do not delete the guide content. It is the strongest raw material the firm has for building genuine authority — it just needs its own URL.</a:t>
            </a:r>
          </a:p>
        </p:txBody>
      </p:sp>
      <p:sp>
        <p:nvSpPr>
          <p:cNvPr id="13" name="Rectangle 12"/>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15" name="TextBox 14"/>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ESCALATES TO CRITICAL IF THE CONTENT IS WRONG</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F-09 · One Item Needs Your CA, Not Your SEO</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53312"/>
            <a:ext cx="11064240" cy="1188720"/>
          </a:xfrm>
          <a:prstGeom prst="rect">
            <a:avLst/>
          </a:prstGeom>
          <a:solidFill>
            <a:srgbClr val="FFFFFF"/>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53312"/>
            <a:ext cx="63500" cy="11887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499616"/>
            <a:ext cx="10515600" cy="256032"/>
          </a:xfrm>
          <a:prstGeom prst="rect">
            <a:avLst/>
          </a:prstGeom>
          <a:noFill/>
        </p:spPr>
        <p:txBody>
          <a:bodyPr wrap="square" lIns="0" rIns="0" tIns="0" bIns="0" anchor="t">
            <a:spAutoFit/>
          </a:bodyPr>
          <a:lstStyle/>
          <a:p>
            <a:pPr algn="l">
              <a:lnSpc>
                <a:spcPct val="100000"/>
              </a:lnSpc>
            </a:pPr>
            <a:r>
              <a:rPr sz="1100" b="1" i="0">
                <a:solidFill>
                  <a:srgbClr val="B3261E"/>
                </a:solidFill>
                <a:latin typeface="Calibri"/>
              </a:rPr>
              <a:t>PROFESSIONAL VERIFICATION REQUIRED  ·  Not an SEO judgement</a:t>
            </a:r>
          </a:p>
        </p:txBody>
      </p:sp>
      <p:sp>
        <p:nvSpPr>
          <p:cNvPr id="9" name="TextBox 8"/>
          <p:cNvSpPr txBox="1"/>
          <p:nvPr/>
        </p:nvSpPr>
        <p:spPr>
          <a:xfrm>
            <a:off x="841248" y="1792224"/>
            <a:ext cx="10515600" cy="658368"/>
          </a:xfrm>
          <a:prstGeom prst="rect">
            <a:avLst/>
          </a:prstGeom>
          <a:noFill/>
        </p:spPr>
        <p:txBody>
          <a:bodyPr wrap="square" lIns="0" rIns="0" tIns="0" bIns="0" anchor="t">
            <a:spAutoFit/>
          </a:bodyPr>
          <a:lstStyle/>
          <a:p>
            <a:pPr algn="l">
              <a:lnSpc>
                <a:spcPct val="108000"/>
              </a:lnSpc>
            </a:pPr>
            <a:r>
              <a:rPr sz="1100" b="0" i="0">
                <a:solidFill>
                  <a:srgbClr val="1A1D23"/>
                </a:solidFill>
                <a:latin typeface="Calibri"/>
              </a:rPr>
              <a:t>The page references Forms 3CA, 3CB and 3CD, and carries a heading on "Form 3CD clauses that most often need attention". Independent sources indicate Form 26 now consolidates and replaces these forms — with the older forms continuing for assessment years up to 2026-27, and Form 26 applying from the following tax year. The page targets FY 2025-26 (AY 2026-27) specifically.</a:t>
            </a:r>
          </a:p>
        </p:txBody>
      </p:sp>
      <p:sp>
        <p:nvSpPr>
          <p:cNvPr id="10" name="TextBox 9"/>
          <p:cNvSpPr txBox="1"/>
          <p:nvPr/>
        </p:nvSpPr>
        <p:spPr>
          <a:xfrm>
            <a:off x="566928" y="2779776"/>
            <a:ext cx="5431536"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Why this is flagged, not asserted</a:t>
            </a:r>
          </a:p>
        </p:txBody>
      </p:sp>
      <p:sp>
        <p:nvSpPr>
          <p:cNvPr id="11" name="TextBox 10"/>
          <p:cNvSpPr txBox="1"/>
          <p:nvPr/>
        </p:nvSpPr>
        <p:spPr>
          <a:xfrm>
            <a:off x="566928" y="3108960"/>
            <a:ext cx="5431536" cy="1005840"/>
          </a:xfrm>
          <a:prstGeom prst="rect">
            <a:avLst/>
          </a:prstGeom>
          <a:noFill/>
        </p:spPr>
        <p:txBody>
          <a:bodyPr wrap="square" lIns="0" rIns="0" tIns="0" bIns="0" anchor="t">
            <a:spAutoFit/>
          </a:bodyPr>
          <a:lstStyle/>
          <a:p>
            <a:pPr algn="l">
              <a:lnSpc>
                <a:spcPct val="108000"/>
              </a:lnSpc>
            </a:pPr>
            <a:r>
              <a:rPr sz="1100" b="0" i="0">
                <a:solidFill>
                  <a:srgbClr val="1A1D23"/>
                </a:solidFill>
                <a:latin typeface="Calibri"/>
              </a:rPr>
              <a:t>Tax positions are never stated from model knowledge or secondary sources in this project. Indian tax law changes constantly and a confidently-wrong deadline or form reference on a CA firm's own site is a client-harm risk before it is an SEO issue.</a:t>
            </a:r>
          </a:p>
          <a:p>
            <a:pPr algn="l">
              <a:lnSpc>
                <a:spcPct val="108000"/>
              </a:lnSpc>
            </a:pPr>
            <a:r>
              <a:rPr sz="1100" b="0" i="0">
                <a:solidFill>
                  <a:srgbClr val="1A1D23"/>
                </a:solidFill>
                <a:latin typeface="Calibri"/>
              </a:rPr>
              <a:t/>
            </a:r>
          </a:p>
          <a:p>
            <a:pPr algn="l">
              <a:lnSpc>
                <a:spcPct val="108000"/>
              </a:lnSpc>
            </a:pPr>
            <a:r>
              <a:rPr sz="1100" b="0" i="0">
                <a:solidFill>
                  <a:srgbClr val="1A1D23"/>
                </a:solidFill>
                <a:latin typeface="Calibri"/>
              </a:rPr>
              <a:t>This must be verified against CBDT primary sources.</a:t>
            </a:r>
          </a:p>
        </p:txBody>
      </p:sp>
      <p:sp>
        <p:nvSpPr>
          <p:cNvPr id="12" name="TextBox 11"/>
          <p:cNvSpPr txBox="1"/>
          <p:nvPr/>
        </p:nvSpPr>
        <p:spPr>
          <a:xfrm>
            <a:off x="6199632" y="2779776"/>
            <a:ext cx="5431536" cy="274320"/>
          </a:xfrm>
          <a:prstGeom prst="rect">
            <a:avLst/>
          </a:prstGeom>
          <a:noFill/>
        </p:spPr>
        <p:txBody>
          <a:bodyPr wrap="square" lIns="0" rIns="0" tIns="0" bIns="0" anchor="t">
            <a:spAutoFit/>
          </a:bodyPr>
          <a:lstStyle/>
          <a:p>
            <a:pPr algn="l">
              <a:lnSpc>
                <a:spcPct val="100000"/>
              </a:lnSpc>
            </a:pPr>
            <a:r>
              <a:rPr sz="1250" b="1" i="0">
                <a:solidFill>
                  <a:srgbClr val="1B7A43"/>
                </a:solidFill>
                <a:latin typeface="Calibri"/>
              </a:rPr>
              <a:t>It is also a genuine opportunity</a:t>
            </a:r>
          </a:p>
        </p:txBody>
      </p:sp>
      <p:sp>
        <p:nvSpPr>
          <p:cNvPr id="13" name="TextBox 12"/>
          <p:cNvSpPr txBox="1"/>
          <p:nvPr/>
        </p:nvSpPr>
        <p:spPr>
          <a:xfrm>
            <a:off x="6199632" y="3108960"/>
            <a:ext cx="5431536" cy="1005840"/>
          </a:xfrm>
          <a:prstGeom prst="rect">
            <a:avLst/>
          </a:prstGeom>
          <a:noFill/>
        </p:spPr>
        <p:txBody>
          <a:bodyPr wrap="square" lIns="0" rIns="0" tIns="0" bIns="0" anchor="t">
            <a:spAutoFit/>
          </a:bodyPr>
          <a:lstStyle/>
          <a:p>
            <a:pPr algn="l">
              <a:lnSpc>
                <a:spcPct val="108000"/>
              </a:lnSpc>
            </a:pPr>
            <a:r>
              <a:rPr sz="1100" b="0" i="0">
                <a:solidFill>
                  <a:srgbClr val="1A1D23"/>
                </a:solidFill>
                <a:latin typeface="Calibri"/>
              </a:rPr>
              <a:t>A confusing, high-interest regulatory change that most competitor pages handle poorly is exactly the kind of topic that earns citations and links.</a:t>
            </a:r>
          </a:p>
          <a:p>
            <a:pPr algn="l">
              <a:lnSpc>
                <a:spcPct val="108000"/>
              </a:lnSpc>
            </a:pPr>
            <a:r>
              <a:rPr sz="1100" b="0" i="0">
                <a:solidFill>
                  <a:srgbClr val="1A1D23"/>
                </a:solidFill>
                <a:latin typeface="Calibri"/>
              </a:rPr>
              <a:t/>
            </a:r>
          </a:p>
          <a:p>
            <a:pPr algn="l">
              <a:lnSpc>
                <a:spcPct val="108000"/>
              </a:lnSpc>
            </a:pPr>
            <a:r>
              <a:rPr sz="1100" b="0" i="0">
                <a:solidFill>
                  <a:srgbClr val="1A1D23"/>
                </a:solidFill>
                <a:latin typeface="Calibri"/>
              </a:rPr>
              <a:t>Get the transition right, date it clearly, cite the source — and this becomes the linkable asset the authority plan needs.</a:t>
            </a:r>
          </a:p>
        </p:txBody>
      </p:sp>
      <p:sp>
        <p:nvSpPr>
          <p:cNvPr id="14" name="TextBox 13"/>
          <p:cNvSpPr txBox="1"/>
          <p:nvPr/>
        </p:nvSpPr>
        <p:spPr>
          <a:xfrm>
            <a:off x="566928" y="4315968"/>
            <a:ext cx="11064240"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Required sequence</a:t>
            </a:r>
          </a:p>
        </p:txBody>
      </p:sp>
      <p:sp>
        <p:nvSpPr>
          <p:cNvPr id="15" name="Oval 14"/>
          <p:cNvSpPr/>
          <p:nvPr/>
        </p:nvSpPr>
        <p:spPr>
          <a:xfrm>
            <a:off x="566928" y="4553712"/>
            <a:ext cx="274320" cy="27432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4594860"/>
            <a:ext cx="274320" cy="219456"/>
          </a:xfrm>
          <a:prstGeom prst="rect">
            <a:avLst/>
          </a:prstGeom>
          <a:noFill/>
        </p:spPr>
        <p:txBody>
          <a:bodyPr wrap="square" lIns="0" rIns="0" tIns="0" bIns="0" anchor="t">
            <a:spAutoFit/>
          </a:bodyPr>
          <a:lstStyle/>
          <a:p>
            <a:pPr algn="ctr">
              <a:lnSpc>
                <a:spcPct val="100000"/>
              </a:lnSpc>
            </a:pPr>
            <a:r>
              <a:rPr sz="1000" b="1" i="0">
                <a:solidFill>
                  <a:srgbClr val="FFFFFF"/>
                </a:solidFill>
                <a:latin typeface="Calibri"/>
              </a:rPr>
              <a:t>1</a:t>
            </a:r>
          </a:p>
        </p:txBody>
      </p:sp>
      <p:sp>
        <p:nvSpPr>
          <p:cNvPr id="17" name="TextBox 16"/>
          <p:cNvSpPr txBox="1"/>
          <p:nvPr/>
        </p:nvSpPr>
        <p:spPr>
          <a:xfrm>
            <a:off x="950976" y="4572000"/>
            <a:ext cx="10607040" cy="256032"/>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CA verifies both the Act-2025 section crosswalk and the 3CA/3CB/3CD → Form 26 position against CBDT primary sources</a:t>
            </a:r>
          </a:p>
        </p:txBody>
      </p:sp>
      <p:sp>
        <p:nvSpPr>
          <p:cNvPr id="18" name="Oval 17"/>
          <p:cNvSpPr/>
          <p:nvPr/>
        </p:nvSpPr>
        <p:spPr>
          <a:xfrm>
            <a:off x="566928" y="4901184"/>
            <a:ext cx="274320" cy="27432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942332"/>
            <a:ext cx="274320" cy="219456"/>
          </a:xfrm>
          <a:prstGeom prst="rect">
            <a:avLst/>
          </a:prstGeom>
          <a:noFill/>
        </p:spPr>
        <p:txBody>
          <a:bodyPr wrap="square" lIns="0" rIns="0" tIns="0" bIns="0" anchor="t">
            <a:spAutoFit/>
          </a:bodyPr>
          <a:lstStyle/>
          <a:p>
            <a:pPr algn="ctr">
              <a:lnSpc>
                <a:spcPct val="100000"/>
              </a:lnSpc>
            </a:pPr>
            <a:r>
              <a:rPr sz="1000" b="1" i="0">
                <a:solidFill>
                  <a:srgbClr val="FFFFFF"/>
                </a:solidFill>
                <a:latin typeface="Calibri"/>
              </a:rPr>
              <a:t>2</a:t>
            </a:r>
          </a:p>
        </p:txBody>
      </p:sp>
      <p:sp>
        <p:nvSpPr>
          <p:cNvPr id="20" name="TextBox 19"/>
          <p:cNvSpPr txBox="1"/>
          <p:nvPr/>
        </p:nvSpPr>
        <p:spPr>
          <a:xfrm>
            <a:off x="950976" y="4919472"/>
            <a:ext cx="10607040" cy="256032"/>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If anything is wrong for FY 2025-26 — correct it immediately, ahead of all SEO work</a:t>
            </a:r>
          </a:p>
        </p:txBody>
      </p:sp>
      <p:sp>
        <p:nvSpPr>
          <p:cNvPr id="21" name="Oval 20"/>
          <p:cNvSpPr/>
          <p:nvPr/>
        </p:nvSpPr>
        <p:spPr>
          <a:xfrm>
            <a:off x="566928" y="5248656"/>
            <a:ext cx="274320" cy="27432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5289804"/>
            <a:ext cx="274320" cy="219456"/>
          </a:xfrm>
          <a:prstGeom prst="rect">
            <a:avLst/>
          </a:prstGeom>
          <a:noFill/>
        </p:spPr>
        <p:txBody>
          <a:bodyPr wrap="square" lIns="0" rIns="0" tIns="0" bIns="0" anchor="t">
            <a:spAutoFit/>
          </a:bodyPr>
          <a:lstStyle/>
          <a:p>
            <a:pPr algn="ctr">
              <a:lnSpc>
                <a:spcPct val="100000"/>
              </a:lnSpc>
            </a:pPr>
            <a:r>
              <a:rPr sz="1000" b="1" i="0">
                <a:solidFill>
                  <a:srgbClr val="FFFFFF"/>
                </a:solidFill>
                <a:latin typeface="Calibri"/>
              </a:rPr>
              <a:t>3</a:t>
            </a:r>
          </a:p>
        </p:txBody>
      </p:sp>
      <p:sp>
        <p:nvSpPr>
          <p:cNvPr id="23" name="TextBox 22"/>
          <p:cNvSpPr txBox="1"/>
          <p:nvPr/>
        </p:nvSpPr>
        <p:spPr>
          <a:xfrm>
            <a:off x="950976" y="5266944"/>
            <a:ext cx="10607040" cy="256032"/>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If correct — add an explicit dated transition section with the primary source cited and a "verified as of" line</a:t>
            </a:r>
          </a:p>
        </p:txBody>
      </p:sp>
      <p:sp>
        <p:nvSpPr>
          <p:cNvPr id="24" name="Oval 23"/>
          <p:cNvSpPr/>
          <p:nvPr/>
        </p:nvSpPr>
        <p:spPr>
          <a:xfrm>
            <a:off x="566928" y="5596128"/>
            <a:ext cx="274320" cy="27432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637276"/>
            <a:ext cx="274320" cy="219456"/>
          </a:xfrm>
          <a:prstGeom prst="rect">
            <a:avLst/>
          </a:prstGeom>
          <a:noFill/>
        </p:spPr>
        <p:txBody>
          <a:bodyPr wrap="square" lIns="0" rIns="0" tIns="0" bIns="0" anchor="t">
            <a:spAutoFit/>
          </a:bodyPr>
          <a:lstStyle/>
          <a:p>
            <a:pPr algn="ctr">
              <a:lnSpc>
                <a:spcPct val="100000"/>
              </a:lnSpc>
            </a:pPr>
            <a:r>
              <a:rPr sz="1000" b="1" i="0">
                <a:solidFill>
                  <a:srgbClr val="FFFFFF"/>
                </a:solidFill>
                <a:latin typeface="Calibri"/>
              </a:rPr>
              <a:t>4</a:t>
            </a:r>
          </a:p>
        </p:txBody>
      </p:sp>
      <p:sp>
        <p:nvSpPr>
          <p:cNvPr id="26" name="TextBox 25"/>
          <p:cNvSpPr txBox="1"/>
          <p:nvPr/>
        </p:nvSpPr>
        <p:spPr>
          <a:xfrm>
            <a:off x="950976" y="5614416"/>
            <a:ext cx="10607040" cy="256032"/>
          </a:xfrm>
          <a:prstGeom prst="rect">
            <a:avLst/>
          </a:prstGeom>
          <a:noFill/>
        </p:spPr>
        <p:txBody>
          <a:bodyPr wrap="square" lIns="0" rIns="0" tIns="0" bIns="0" anchor="t">
            <a:spAutoFit/>
          </a:bodyPr>
          <a:lstStyle/>
          <a:p>
            <a:pPr algn="l">
              <a:lnSpc>
                <a:spcPct val="100000"/>
              </a:lnSpc>
            </a:pPr>
            <a:r>
              <a:rPr sz="1100" b="0" i="0">
                <a:solidFill>
                  <a:srgbClr val="1A1D23"/>
                </a:solidFill>
                <a:latin typeface="Calibri"/>
              </a:rPr>
              <a:t>Record every claim in the accuracy register with its source and effective date; set the regulatory review trigger</a:t>
            </a:r>
          </a:p>
        </p:txBody>
      </p:sp>
      <p:sp>
        <p:nvSpPr>
          <p:cNvPr id="27" name="Rectangle 26"/>
          <p:cNvSpPr/>
          <p:nvPr/>
        </p:nvSpPr>
        <p:spPr>
          <a:xfrm>
            <a:off x="566928" y="5907024"/>
            <a:ext cx="11064240" cy="347472"/>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 y="5907024"/>
            <a:ext cx="44450" cy="347472"/>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998464"/>
            <a:ext cx="10753344" cy="201168"/>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This compounds CONT-011, already open and NOT STARTED, which names this page among three affected by Act-2025 cross-reference uncertainty.</a:t>
            </a:r>
          </a:p>
        </p:txBody>
      </p:sp>
      <p:sp>
        <p:nvSpPr>
          <p:cNvPr id="30" name="Rectangle 29"/>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32" name="TextBox 31"/>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02336"/>
            <a:ext cx="10515600" cy="237744"/>
          </a:xfrm>
          <a:prstGeom prst="rect">
            <a:avLst/>
          </a:prstGeom>
          <a:noFill/>
        </p:spPr>
        <p:txBody>
          <a:bodyPr wrap="square" lIns="0" rIns="0" tIns="0" bIns="0" anchor="t">
            <a:spAutoFit/>
          </a:bodyPr>
          <a:lstStyle/>
          <a:p>
            <a:pPr algn="l">
              <a:lnSpc>
                <a:spcPct val="100000"/>
              </a:lnSpc>
            </a:pPr>
            <a:r>
              <a:rPr sz="1050" b="1" i="0">
                <a:solidFill>
                  <a:srgbClr val="C99B3B"/>
                </a:solidFill>
                <a:latin typeface="Calibri"/>
              </a:rPr>
              <a:t>WHAT TO CHANGE FIRST, LATER, AND NOT AT ALL</a:t>
            </a:r>
          </a:p>
        </p:txBody>
      </p:sp>
      <p:sp>
        <p:nvSpPr>
          <p:cNvPr id="4" name="TextBox 3"/>
          <p:cNvSpPr txBox="1"/>
          <p:nvPr/>
        </p:nvSpPr>
        <p:spPr>
          <a:xfrm>
            <a:off x="566928" y="676656"/>
            <a:ext cx="11064240" cy="475488"/>
          </a:xfrm>
          <a:prstGeom prst="rect">
            <a:avLst/>
          </a:prstGeom>
          <a:noFill/>
        </p:spPr>
        <p:txBody>
          <a:bodyPr wrap="square" lIns="0" rIns="0" tIns="0" bIns="0" anchor="t">
            <a:spAutoFit/>
          </a:bodyPr>
          <a:lstStyle/>
          <a:p>
            <a:pPr algn="l">
              <a:lnSpc>
                <a:spcPct val="100000"/>
              </a:lnSpc>
            </a:pPr>
            <a:r>
              <a:rPr sz="2600" b="1" i="0">
                <a:solidFill>
                  <a:srgbClr val="1B3A5C"/>
                </a:solidFill>
                <a:latin typeface="Calibri"/>
              </a:rPr>
              <a:t>Prioritised Action Plan</a:t>
            </a:r>
          </a:p>
        </p:txBody>
      </p:sp>
      <p:sp>
        <p:nvSpPr>
          <p:cNvPr id="5" name="Rectangle 4"/>
          <p:cNvSpPr/>
          <p:nvPr/>
        </p:nvSpPr>
        <p:spPr>
          <a:xfrm>
            <a:off x="566928" y="1207008"/>
            <a:ext cx="960120" cy="38100"/>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35024"/>
            <a:ext cx="11064240" cy="566928"/>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444752"/>
            <a:ext cx="10607040" cy="36576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STEP 0 — this week  ·  Verify the impressions premise in GSC, and have the CA verify the Form 26 position. Both are blocking.</a:t>
            </a:r>
          </a:p>
        </p:txBody>
      </p:sp>
      <p:sp>
        <p:nvSpPr>
          <p:cNvPr id="8" name="Rectangle 7"/>
          <p:cNvSpPr/>
          <p:nvPr/>
        </p:nvSpPr>
        <p:spPr>
          <a:xfrm>
            <a:off x="566928" y="2048256"/>
            <a:ext cx="3602736" cy="312724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3602736" cy="60350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39696"/>
            <a:ext cx="3200400" cy="201168"/>
          </a:xfrm>
          <a:prstGeom prst="rect">
            <a:avLst/>
          </a:prstGeom>
          <a:noFill/>
        </p:spPr>
        <p:txBody>
          <a:bodyPr wrap="square" lIns="0" rIns="0" tIns="0" bIns="0" anchor="t">
            <a:spAutoFit/>
          </a:bodyPr>
          <a:lstStyle/>
          <a:p>
            <a:pPr algn="l">
              <a:lnSpc>
                <a:spcPct val="100000"/>
              </a:lnSpc>
            </a:pPr>
            <a:r>
              <a:rPr sz="900" b="1" i="0">
                <a:solidFill>
                  <a:srgbClr val="FFFFFF"/>
                </a:solidFill>
                <a:latin typeface="Calibri"/>
              </a:rPr>
              <a:t>PHASE 1 · WEEKS 1–2</a:t>
            </a:r>
          </a:p>
        </p:txBody>
      </p:sp>
      <p:sp>
        <p:nvSpPr>
          <p:cNvPr id="11" name="TextBox 10"/>
          <p:cNvSpPr txBox="1"/>
          <p:nvPr/>
        </p:nvSpPr>
        <p:spPr>
          <a:xfrm>
            <a:off x="749808" y="2340864"/>
            <a:ext cx="3200400" cy="237744"/>
          </a:xfrm>
          <a:prstGeom prst="rect">
            <a:avLst/>
          </a:prstGeom>
          <a:noFill/>
        </p:spPr>
        <p:txBody>
          <a:bodyPr wrap="square" lIns="0" rIns="0" tIns="0" bIns="0" anchor="t">
            <a:spAutoFit/>
          </a:bodyPr>
          <a:lstStyle/>
          <a:p>
            <a:pPr algn="l">
              <a:lnSpc>
                <a:spcPct val="100000"/>
              </a:lnSpc>
            </a:pPr>
            <a:r>
              <a:rPr sz="1300" b="1" i="0">
                <a:solidFill>
                  <a:srgbClr val="FFFFFF"/>
                </a:solidFill>
                <a:latin typeface="Calibri"/>
              </a:rPr>
              <a:t>Fix the aim</a:t>
            </a:r>
          </a:p>
        </p:txBody>
      </p:sp>
      <p:sp>
        <p:nvSpPr>
          <p:cNvPr id="12" name="Oval 11"/>
          <p:cNvSpPr/>
          <p:nvPr/>
        </p:nvSpPr>
        <p:spPr>
          <a:xfrm>
            <a:off x="749808" y="2811780"/>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761488"/>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Rewrite title + H1 to Mumbai commercial intent</a:t>
            </a:r>
          </a:p>
        </p:txBody>
      </p:sp>
      <p:sp>
        <p:nvSpPr>
          <p:cNvPr id="14" name="Oval 13"/>
          <p:cNvSpPr/>
          <p:nvPr/>
        </p:nvSpPr>
        <p:spPr>
          <a:xfrm>
            <a:off x="749808" y="3195828"/>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45536"/>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Write a real meta description</a:t>
            </a:r>
          </a:p>
        </p:txBody>
      </p:sp>
      <p:sp>
        <p:nvSpPr>
          <p:cNvPr id="16" name="Oval 15"/>
          <p:cNvSpPr/>
          <p:nvPr/>
        </p:nvSpPr>
        <p:spPr>
          <a:xfrm>
            <a:off x="749808" y="3579876"/>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529584"/>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Add named CA credentials — 194241 / FRN 151767W</a:t>
            </a:r>
          </a:p>
        </p:txBody>
      </p:sp>
      <p:sp>
        <p:nvSpPr>
          <p:cNvPr id="18" name="Oval 17"/>
          <p:cNvSpPr/>
          <p:nvPr/>
        </p:nvSpPr>
        <p:spPr>
          <a:xfrm>
            <a:off x="749808" y="3963924"/>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13632"/>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Add genuine Mumbai service-area content</a:t>
            </a:r>
          </a:p>
        </p:txBody>
      </p:sp>
      <p:sp>
        <p:nvSpPr>
          <p:cNvPr id="20" name="Oval 19"/>
          <p:cNvSpPr/>
          <p:nvPr/>
        </p:nvSpPr>
        <p:spPr>
          <a:xfrm>
            <a:off x="749808" y="4347972"/>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297680"/>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Add 8–12 in-content links, varied anchors</a:t>
            </a:r>
          </a:p>
        </p:txBody>
      </p:sp>
      <p:sp>
        <p:nvSpPr>
          <p:cNvPr id="22" name="Oval 21"/>
          <p:cNvSpPr/>
          <p:nvPr/>
        </p:nvSpPr>
        <p:spPr>
          <a:xfrm>
            <a:off x="749808" y="4732020"/>
            <a:ext cx="50800" cy="50800"/>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681728"/>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Replace "GET IT NOW" with an audit-specific CTA</a:t>
            </a:r>
          </a:p>
        </p:txBody>
      </p:sp>
      <p:sp>
        <p:nvSpPr>
          <p:cNvPr id="24" name="Rectangle 23"/>
          <p:cNvSpPr/>
          <p:nvPr/>
        </p:nvSpPr>
        <p:spPr>
          <a:xfrm>
            <a:off x="4297680" y="2048256"/>
            <a:ext cx="3602736" cy="312724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2048256"/>
            <a:ext cx="3602736" cy="603504"/>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2139696"/>
            <a:ext cx="3200400" cy="201168"/>
          </a:xfrm>
          <a:prstGeom prst="rect">
            <a:avLst/>
          </a:prstGeom>
          <a:noFill/>
        </p:spPr>
        <p:txBody>
          <a:bodyPr wrap="square" lIns="0" rIns="0" tIns="0" bIns="0" anchor="t">
            <a:spAutoFit/>
          </a:bodyPr>
          <a:lstStyle/>
          <a:p>
            <a:pPr algn="l">
              <a:lnSpc>
                <a:spcPct val="100000"/>
              </a:lnSpc>
            </a:pPr>
            <a:r>
              <a:rPr sz="900" b="1" i="0">
                <a:solidFill>
                  <a:srgbClr val="FFFFFF"/>
                </a:solidFill>
                <a:latin typeface="Calibri"/>
              </a:rPr>
              <a:t>PHASE 2 · WEEKS 3–6</a:t>
            </a:r>
          </a:p>
        </p:txBody>
      </p:sp>
      <p:sp>
        <p:nvSpPr>
          <p:cNvPr id="27" name="TextBox 26"/>
          <p:cNvSpPr txBox="1"/>
          <p:nvPr/>
        </p:nvSpPr>
        <p:spPr>
          <a:xfrm>
            <a:off x="4480560" y="2340864"/>
            <a:ext cx="3200400" cy="237744"/>
          </a:xfrm>
          <a:prstGeom prst="rect">
            <a:avLst/>
          </a:prstGeom>
          <a:noFill/>
        </p:spPr>
        <p:txBody>
          <a:bodyPr wrap="square" lIns="0" rIns="0" tIns="0" bIns="0" anchor="t">
            <a:spAutoFit/>
          </a:bodyPr>
          <a:lstStyle/>
          <a:p>
            <a:pPr algn="l">
              <a:lnSpc>
                <a:spcPct val="100000"/>
              </a:lnSpc>
            </a:pPr>
            <a:r>
              <a:rPr sz="1300" b="1" i="0">
                <a:solidFill>
                  <a:srgbClr val="FFFFFF"/>
                </a:solidFill>
                <a:latin typeface="Calibri"/>
              </a:rPr>
              <a:t>Fix the structure</a:t>
            </a:r>
          </a:p>
        </p:txBody>
      </p:sp>
      <p:sp>
        <p:nvSpPr>
          <p:cNvPr id="28" name="Oval 27"/>
          <p:cNvSpPr/>
          <p:nvPr/>
        </p:nvSpPr>
        <p:spPr>
          <a:xfrm>
            <a:off x="4480560" y="2811780"/>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45152" y="2761488"/>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Split into hub + statutory + tax audit pages</a:t>
            </a:r>
          </a:p>
        </p:txBody>
      </p:sp>
      <p:sp>
        <p:nvSpPr>
          <p:cNvPr id="30" name="Oval 29"/>
          <p:cNvSpPr/>
          <p:nvPr/>
        </p:nvSpPr>
        <p:spPr>
          <a:xfrm>
            <a:off x="4480560" y="3195828"/>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45152" y="3145536"/>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Move guide content to /tax-guides/</a:t>
            </a:r>
          </a:p>
        </p:txBody>
      </p:sp>
      <p:sp>
        <p:nvSpPr>
          <p:cNvPr id="32" name="Oval 31"/>
          <p:cNvSpPr/>
          <p:nvPr/>
        </p:nvSpPr>
        <p:spPr>
          <a:xfrm>
            <a:off x="4480560" y="3579876"/>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45152" y="3529584"/>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Build Internal Audit — only if genuinely delivered</a:t>
            </a:r>
          </a:p>
        </p:txBody>
      </p:sp>
      <p:sp>
        <p:nvSpPr>
          <p:cNvPr id="34" name="Oval 33"/>
          <p:cNvSpPr/>
          <p:nvPr/>
        </p:nvSpPr>
        <p:spPr>
          <a:xfrm>
            <a:off x="4480560" y="3963924"/>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5152" y="3913632"/>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Add FAQ / Service / areaServed / author schema</a:t>
            </a:r>
          </a:p>
        </p:txBody>
      </p:sp>
      <p:sp>
        <p:nvSpPr>
          <p:cNvPr id="36" name="Oval 35"/>
          <p:cNvSpPr/>
          <p:nvPr/>
        </p:nvSpPr>
        <p:spPr>
          <a:xfrm>
            <a:off x="4480560" y="4347972"/>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45152" y="4297680"/>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Fix CLS 0.18 — image dimensions, reserved space</a:t>
            </a:r>
          </a:p>
        </p:txBody>
      </p:sp>
      <p:sp>
        <p:nvSpPr>
          <p:cNvPr id="38" name="Oval 37"/>
          <p:cNvSpPr/>
          <p:nvPr/>
        </p:nvSpPr>
        <p:spPr>
          <a:xfrm>
            <a:off x="4480560" y="4732020"/>
            <a:ext cx="50800" cy="50800"/>
          </a:xfrm>
          <a:prstGeom prst="ellipse">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45152" y="4681728"/>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Add 2–4 genuine audit-specific testimonials</a:t>
            </a:r>
          </a:p>
        </p:txBody>
      </p:sp>
      <p:sp>
        <p:nvSpPr>
          <p:cNvPr id="40" name="Rectangle 39"/>
          <p:cNvSpPr/>
          <p:nvPr/>
        </p:nvSpPr>
        <p:spPr>
          <a:xfrm>
            <a:off x="8028432" y="2048256"/>
            <a:ext cx="3602736" cy="3127248"/>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28432" y="2048256"/>
            <a:ext cx="3602736" cy="603504"/>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11312" y="2139696"/>
            <a:ext cx="3200400" cy="201168"/>
          </a:xfrm>
          <a:prstGeom prst="rect">
            <a:avLst/>
          </a:prstGeom>
          <a:noFill/>
        </p:spPr>
        <p:txBody>
          <a:bodyPr wrap="square" lIns="0" rIns="0" tIns="0" bIns="0" anchor="t">
            <a:spAutoFit/>
          </a:bodyPr>
          <a:lstStyle/>
          <a:p>
            <a:pPr algn="l">
              <a:lnSpc>
                <a:spcPct val="100000"/>
              </a:lnSpc>
            </a:pPr>
            <a:r>
              <a:rPr sz="900" b="1" i="0">
                <a:solidFill>
                  <a:srgbClr val="FFFFFF"/>
                </a:solidFill>
                <a:latin typeface="Calibri"/>
              </a:rPr>
              <a:t>PHASE 3 · MONTHS 2–4</a:t>
            </a:r>
          </a:p>
        </p:txBody>
      </p:sp>
      <p:sp>
        <p:nvSpPr>
          <p:cNvPr id="43" name="TextBox 42"/>
          <p:cNvSpPr txBox="1"/>
          <p:nvPr/>
        </p:nvSpPr>
        <p:spPr>
          <a:xfrm>
            <a:off x="8211312" y="2340864"/>
            <a:ext cx="3200400" cy="237744"/>
          </a:xfrm>
          <a:prstGeom prst="rect">
            <a:avLst/>
          </a:prstGeom>
          <a:noFill/>
        </p:spPr>
        <p:txBody>
          <a:bodyPr wrap="square" lIns="0" rIns="0" tIns="0" bIns="0" anchor="t">
            <a:spAutoFit/>
          </a:bodyPr>
          <a:lstStyle/>
          <a:p>
            <a:pPr algn="l">
              <a:lnSpc>
                <a:spcPct val="100000"/>
              </a:lnSpc>
            </a:pPr>
            <a:r>
              <a:rPr sz="1300" b="1" i="0">
                <a:solidFill>
                  <a:srgbClr val="FFFFFF"/>
                </a:solidFill>
                <a:latin typeface="Calibri"/>
              </a:rPr>
              <a:t>Build authority</a:t>
            </a:r>
          </a:p>
        </p:txBody>
      </p:sp>
      <p:sp>
        <p:nvSpPr>
          <p:cNvPr id="44" name="Oval 43"/>
          <p:cNvSpPr/>
          <p:nvPr/>
        </p:nvSpPr>
        <p:spPr>
          <a:xfrm>
            <a:off x="8211312" y="2811780"/>
            <a:ext cx="50800" cy="508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75904" y="2761488"/>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Connect a backlink tool so authority is measurable</a:t>
            </a:r>
          </a:p>
        </p:txBody>
      </p:sp>
      <p:sp>
        <p:nvSpPr>
          <p:cNvPr id="46" name="Oval 45"/>
          <p:cNvSpPr/>
          <p:nvPr/>
        </p:nvSpPr>
        <p:spPr>
          <a:xfrm>
            <a:off x="8211312" y="3195828"/>
            <a:ext cx="50800" cy="508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75904" y="3145536"/>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Build 2–3 cluster assets — 44AB checker first</a:t>
            </a:r>
          </a:p>
        </p:txBody>
      </p:sp>
      <p:sp>
        <p:nvSpPr>
          <p:cNvPr id="48" name="Oval 47"/>
          <p:cNvSpPr/>
          <p:nvPr/>
        </p:nvSpPr>
        <p:spPr>
          <a:xfrm>
            <a:off x="8211312" y="3579876"/>
            <a:ext cx="50800" cy="508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3529584"/>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Pursue links to the guide, not the service page</a:t>
            </a:r>
          </a:p>
        </p:txBody>
      </p:sp>
      <p:sp>
        <p:nvSpPr>
          <p:cNvPr id="50" name="Oval 49"/>
          <p:cNvSpPr/>
          <p:nvPr/>
        </p:nvSpPr>
        <p:spPr>
          <a:xfrm>
            <a:off x="8211312" y="3963924"/>
            <a:ext cx="50800" cy="508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375904" y="3913632"/>
            <a:ext cx="3090672" cy="365760"/>
          </a:xfrm>
          <a:prstGeom prst="rect">
            <a:avLst/>
          </a:prstGeom>
          <a:noFill/>
        </p:spPr>
        <p:txBody>
          <a:bodyPr wrap="square" lIns="0" rIns="0" tIns="0" bIns="0" anchor="t">
            <a:spAutoFit/>
          </a:bodyPr>
          <a:lstStyle/>
          <a:p>
            <a:pPr algn="l">
              <a:lnSpc>
                <a:spcPct val="104000"/>
              </a:lnSpc>
            </a:pPr>
            <a:r>
              <a:rPr sz="950" b="0" i="0">
                <a:solidFill>
                  <a:srgbClr val="1A1D23"/>
                </a:solidFill>
                <a:latin typeface="Calibri"/>
              </a:rPr>
              <a:t>ICAI CA Connect listing (96/100, already scored)</a:t>
            </a:r>
          </a:p>
        </p:txBody>
      </p:sp>
      <p:sp>
        <p:nvSpPr>
          <p:cNvPr id="52" name="Rectangle 51"/>
          <p:cNvSpPr/>
          <p:nvPr/>
        </p:nvSpPr>
        <p:spPr>
          <a:xfrm>
            <a:off x="566928" y="5340096"/>
            <a:ext cx="11064240" cy="566928"/>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66928" y="5340096"/>
            <a:ext cx="44450" cy="566928"/>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5431536"/>
            <a:ext cx="10753344" cy="420624"/>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Ship Phase 1, then STOP and measure for 4–6 weeks before starting Phase 2. Changing everything at once makes it impossible to know what worked — and if the page really did change on 10 September, it needs time to settle rather than another rewrite.</a:t>
            </a:r>
          </a:p>
        </p:txBody>
      </p:sp>
      <p:sp>
        <p:nvSpPr>
          <p:cNvPr id="55" name="Rectangle 54"/>
          <p:cNvSpPr/>
          <p:nvPr/>
        </p:nvSpPr>
        <p:spPr>
          <a:xfrm>
            <a:off x="566928" y="6016752"/>
            <a:ext cx="11064240" cy="329184"/>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6016752"/>
            <a:ext cx="44450" cy="329184"/>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6108192"/>
            <a:ext cx="10753344" cy="182880"/>
          </a:xfrm>
          <a:prstGeom prst="rect">
            <a:avLst/>
          </a:prstGeom>
          <a:noFill/>
        </p:spPr>
        <p:txBody>
          <a:bodyPr wrap="square" lIns="0" rIns="0" tIns="0" bIns="0" anchor="t">
            <a:spAutoFit/>
          </a:bodyPr>
          <a:lstStyle/>
          <a:p>
            <a:pPr algn="l">
              <a:lnSpc>
                <a:spcPct val="105000"/>
              </a:lnSpc>
            </a:pPr>
            <a:r>
              <a:rPr sz="950" b="0" i="0">
                <a:solidFill>
                  <a:srgbClr val="1A1D23"/>
                </a:solidFill>
                <a:latin typeface="Calibri"/>
              </a:rPr>
              <a:t>Every change is implemented manually by the firm. This audit diagnoses and specifies; it does not touch the live site.</a:t>
            </a:r>
          </a:p>
        </p:txBody>
      </p:sp>
      <p:sp>
        <p:nvSpPr>
          <p:cNvPr id="58" name="Rectangle 57"/>
          <p:cNvSpPr/>
          <p:nvPr/>
        </p:nvSpPr>
        <p:spPr>
          <a:xfrm>
            <a:off x="566928" y="6336792"/>
            <a:ext cx="11064240" cy="9525"/>
          </a:xfrm>
          <a:prstGeom prst="rect">
            <a:avLst/>
          </a:prstGeom>
          <a:solidFill>
            <a:srgbClr val="D8DD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6928" y="6437376"/>
            <a:ext cx="78638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Deep SEO Audit  ·  /audit-services/  ·  18 September 2026  ·  Confidential</a:t>
            </a:r>
          </a:p>
        </p:txBody>
      </p:sp>
      <p:sp>
        <p:nvSpPr>
          <p:cNvPr id="60" name="TextBox 59"/>
          <p:cNvSpPr txBox="1"/>
          <p:nvPr/>
        </p:nvSpPr>
        <p:spPr>
          <a:xfrm>
            <a:off x="9144000" y="6437376"/>
            <a:ext cx="2487168" cy="237744"/>
          </a:xfrm>
          <a:prstGeom prst="rect">
            <a:avLst/>
          </a:prstGeom>
          <a:noFill/>
        </p:spPr>
        <p:txBody>
          <a:bodyPr wrap="square" lIns="0" rIns="0" tIns="0" bIns="0" anchor="t">
            <a:spAutoFit/>
          </a:bodyPr>
          <a:lstStyle/>
          <a:p>
            <a:pPr algn="r">
              <a:lnSpc>
                <a:spcPct val="100000"/>
              </a:lnSpc>
            </a:pPr>
            <a:r>
              <a:rPr sz="9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33856"/>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1133856"/>
          </a:xfrm>
          <a:prstGeom prst="rect">
            <a:avLst/>
          </a:prstGeom>
          <a:solidFill>
            <a:srgbClr val="C99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292608"/>
            <a:ext cx="10515600" cy="274320"/>
          </a:xfrm>
          <a:prstGeom prst="rect">
            <a:avLst/>
          </a:prstGeom>
          <a:noFill/>
        </p:spPr>
        <p:txBody>
          <a:bodyPr wrap="square" lIns="0" rIns="0" tIns="0" bIns="0" anchor="t">
            <a:spAutoFit/>
          </a:bodyPr>
          <a:lstStyle/>
          <a:p>
            <a:pPr algn="l">
              <a:lnSpc>
                <a:spcPct val="100000"/>
              </a:lnSpc>
            </a:pPr>
            <a:r>
              <a:rPr sz="1100" b="1" i="0">
                <a:solidFill>
                  <a:srgbClr val="C99B3B"/>
                </a:solidFill>
                <a:latin typeface="Calibri"/>
              </a:rPr>
              <a:t>CLOSING</a:t>
            </a:r>
          </a:p>
        </p:txBody>
      </p:sp>
      <p:sp>
        <p:nvSpPr>
          <p:cNvPr id="6" name="TextBox 5"/>
          <p:cNvSpPr txBox="1"/>
          <p:nvPr/>
        </p:nvSpPr>
        <p:spPr>
          <a:xfrm>
            <a:off x="566928" y="566928"/>
            <a:ext cx="10515600" cy="402336"/>
          </a:xfrm>
          <a:prstGeom prst="rect">
            <a:avLst/>
          </a:prstGeom>
          <a:noFill/>
        </p:spPr>
        <p:txBody>
          <a:bodyPr wrap="square" lIns="0" rIns="0" tIns="0" bIns="0" anchor="t">
            <a:spAutoFit/>
          </a:bodyPr>
          <a:lstStyle/>
          <a:p>
            <a:pPr algn="l">
              <a:lnSpc>
                <a:spcPct val="100000"/>
              </a:lnSpc>
            </a:pPr>
            <a:r>
              <a:rPr sz="2400" b="1" i="0">
                <a:solidFill>
                  <a:srgbClr val="FFFFFF"/>
                </a:solidFill>
                <a:latin typeface="Calibri"/>
              </a:rPr>
              <a:t>What not to do, and how we will know it worked</a:t>
            </a:r>
          </a:p>
        </p:txBody>
      </p:sp>
      <p:sp>
        <p:nvSpPr>
          <p:cNvPr id="7" name="TextBox 6"/>
          <p:cNvSpPr txBox="1"/>
          <p:nvPr/>
        </p:nvSpPr>
        <p:spPr>
          <a:xfrm>
            <a:off x="566928" y="1389888"/>
            <a:ext cx="5431536" cy="274320"/>
          </a:xfrm>
          <a:prstGeom prst="rect">
            <a:avLst/>
          </a:prstGeom>
          <a:noFill/>
        </p:spPr>
        <p:txBody>
          <a:bodyPr wrap="square" lIns="0" rIns="0" tIns="0" bIns="0" anchor="t">
            <a:spAutoFit/>
          </a:bodyPr>
          <a:lstStyle/>
          <a:p>
            <a:pPr algn="l">
              <a:lnSpc>
                <a:spcPct val="100000"/>
              </a:lnSpc>
            </a:pPr>
            <a:r>
              <a:rPr sz="1300" b="1" i="0">
                <a:solidFill>
                  <a:srgbClr val="B3261E"/>
                </a:solidFill>
                <a:latin typeface="Calibri"/>
              </a:rPr>
              <a:t>Do NOT do these</a:t>
            </a:r>
          </a:p>
        </p:txBody>
      </p:sp>
      <p:sp>
        <p:nvSpPr>
          <p:cNvPr id="8" name="Oval 7"/>
          <p:cNvSpPr/>
          <p:nvPr/>
        </p:nvSpPr>
        <p:spPr>
          <a:xfrm>
            <a:off x="566928" y="1787652"/>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37360"/>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Add more words — the page is already too broad</a:t>
            </a:r>
          </a:p>
        </p:txBody>
      </p:sp>
      <p:sp>
        <p:nvSpPr>
          <p:cNvPr id="10" name="Oval 9"/>
          <p:cNvSpPr/>
          <p:nvPr/>
        </p:nvSpPr>
        <p:spPr>
          <a:xfrm>
            <a:off x="566928" y="2116836"/>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2066544"/>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Chase national 44AB or "tax audit India" terms</a:t>
            </a:r>
          </a:p>
        </p:txBody>
      </p:sp>
      <p:sp>
        <p:nvSpPr>
          <p:cNvPr id="12" name="Oval 11"/>
          <p:cNvSpPr/>
          <p:nvPr/>
        </p:nvSpPr>
        <p:spPr>
          <a:xfrm>
            <a:off x="566928" y="2446020"/>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395728"/>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Add more nav or footer links to the page</a:t>
            </a:r>
          </a:p>
        </p:txBody>
      </p:sp>
      <p:sp>
        <p:nvSpPr>
          <p:cNvPr id="14" name="Oval 13"/>
          <p:cNvSpPr/>
          <p:nvPr/>
        </p:nvSpPr>
        <p:spPr>
          <a:xfrm>
            <a:off x="566928" y="2775204"/>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24912"/>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Buy backlinks or pursue aggregator listings</a:t>
            </a:r>
          </a:p>
        </p:txBody>
      </p:sp>
      <p:sp>
        <p:nvSpPr>
          <p:cNvPr id="16" name="Oval 15"/>
          <p:cNvSpPr/>
          <p:nvPr/>
        </p:nvSpPr>
        <p:spPr>
          <a:xfrm>
            <a:off x="566928" y="3104388"/>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054096"/>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Delete the guide content</a:t>
            </a:r>
          </a:p>
        </p:txBody>
      </p:sp>
      <p:sp>
        <p:nvSpPr>
          <p:cNvPr id="18" name="Oval 17"/>
          <p:cNvSpPr/>
          <p:nvPr/>
        </p:nvSpPr>
        <p:spPr>
          <a:xfrm>
            <a:off x="566928" y="3433572"/>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3383280"/>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Rebuild again if it changed on 10 September</a:t>
            </a:r>
          </a:p>
        </p:txBody>
      </p:sp>
      <p:sp>
        <p:nvSpPr>
          <p:cNvPr id="20" name="Oval 19"/>
          <p:cNvSpPr/>
          <p:nvPr/>
        </p:nvSpPr>
        <p:spPr>
          <a:xfrm>
            <a:off x="566928" y="3762756"/>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712464"/>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Treat Core Web Vitals as the fix</a:t>
            </a:r>
          </a:p>
        </p:txBody>
      </p:sp>
      <p:sp>
        <p:nvSpPr>
          <p:cNvPr id="22" name="Oval 21"/>
          <p:cNvSpPr/>
          <p:nvPr/>
        </p:nvSpPr>
        <p:spPr>
          <a:xfrm>
            <a:off x="566928" y="4091940"/>
            <a:ext cx="63500" cy="63500"/>
          </a:xfrm>
          <a:prstGeom prst="ellipse">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 y="4041648"/>
            <a:ext cx="5230368" cy="256032"/>
          </a:xfrm>
          <a:prstGeom prst="rect">
            <a:avLst/>
          </a:prstGeom>
          <a:noFill/>
        </p:spPr>
        <p:txBody>
          <a:bodyPr wrap="square" lIns="0" rIns="0" tIns="0" bIns="0" anchor="t">
            <a:spAutoFit/>
          </a:bodyPr>
          <a:lstStyle/>
          <a:p>
            <a:pPr algn="l">
              <a:lnSpc>
                <a:spcPct val="100000"/>
              </a:lnSpc>
            </a:pPr>
            <a:r>
              <a:rPr sz="1050" b="0" i="0">
                <a:solidFill>
                  <a:srgbClr val="1A1D23"/>
                </a:solidFill>
                <a:latin typeface="Calibri"/>
              </a:rPr>
              <a:t>Stuff Mumbai locality names into the copy</a:t>
            </a:r>
          </a:p>
        </p:txBody>
      </p:sp>
      <p:sp>
        <p:nvSpPr>
          <p:cNvPr id="24" name="TextBox 23"/>
          <p:cNvSpPr txBox="1"/>
          <p:nvPr/>
        </p:nvSpPr>
        <p:spPr>
          <a:xfrm>
            <a:off x="6199632" y="1389888"/>
            <a:ext cx="5431536" cy="274320"/>
          </a:xfrm>
          <a:prstGeom prst="rect">
            <a:avLst/>
          </a:prstGeom>
          <a:noFill/>
        </p:spPr>
        <p:txBody>
          <a:bodyPr wrap="square" lIns="0" rIns="0" tIns="0" bIns="0" anchor="t">
            <a:spAutoFit/>
          </a:bodyPr>
          <a:lstStyle/>
          <a:p>
            <a:pPr algn="l">
              <a:lnSpc>
                <a:spcPct val="100000"/>
              </a:lnSpc>
            </a:pPr>
            <a:r>
              <a:rPr sz="1300" b="1" i="0">
                <a:solidFill>
                  <a:srgbClr val="1B7A43"/>
                </a:solidFill>
                <a:latin typeface="Calibri"/>
              </a:rPr>
              <a:t>How success is measured</a:t>
            </a:r>
          </a:p>
        </p:txBody>
      </p:sp>
      <p:graphicFrame>
        <p:nvGraphicFramePr>
          <p:cNvPr id="25" name="Table 24"/>
          <p:cNvGraphicFramePr>
            <a:graphicFrameLocks noGrp="1"/>
          </p:cNvGraphicFramePr>
          <p:nvPr/>
        </p:nvGraphicFramePr>
        <p:xfrm>
          <a:off x="6199632" y="1737360"/>
          <a:ext cx="5431536" cy="2048256"/>
        </p:xfrm>
        <a:graphic>
          <a:graphicData uri="http://schemas.openxmlformats.org/drawingml/2006/table">
            <a:tbl>
              <a:tblPr firstRow="1" bandRow="1">
                <a:tableStyleId>{5C22544A-7EE6-4342-B048-85BDC9FD1C3A}</a:tableStyleId>
              </a:tblPr>
              <a:tblGrid>
                <a:gridCol w="2231136"/>
                <a:gridCol w="1645920"/>
                <a:gridCol w="1554480"/>
              </a:tblGrid>
              <a:tr h="310896">
                <a:tc>
                  <a:txBody>
                    <a:bodyPr wrap="square"/>
                    <a:lstStyle/>
                    <a:p>
                      <a:r>
                        <a:rPr sz="1000" b="1">
                          <a:solidFill>
                            <a:srgbClr val="FFFFFF"/>
                          </a:solidFill>
                          <a:latin typeface="Calibri"/>
                        </a:rPr>
                        <a:t>Metric</a:t>
                      </a:r>
                    </a:p>
                  </a:txBody>
                  <a:tcPr marL="82296" marR="64008" marT="27432" marB="27432" anchor="ctr">
                    <a:solidFill>
                      <a:srgbClr val="1B3A5C"/>
                    </a:solidFill>
                  </a:tcPr>
                </a:tc>
                <a:tc>
                  <a:txBody>
                    <a:bodyPr wrap="square"/>
                    <a:lstStyle/>
                    <a:p>
                      <a:r>
                        <a:rPr sz="1000" b="1">
                          <a:solidFill>
                            <a:srgbClr val="FFFFFF"/>
                          </a:solidFill>
                          <a:latin typeface="Calibri"/>
                        </a:rPr>
                        <a:t>Baseline</a:t>
                      </a:r>
                    </a:p>
                  </a:txBody>
                  <a:tcPr marL="82296" marR="64008" marT="27432" marB="27432" anchor="ctr">
                    <a:solidFill>
                      <a:srgbClr val="1B3A5C"/>
                    </a:solidFill>
                  </a:tcPr>
                </a:tc>
                <a:tc>
                  <a:txBody>
                    <a:bodyPr wrap="square"/>
                    <a:lstStyle/>
                    <a:p>
                      <a:r>
                        <a:rPr sz="1000" b="1">
                          <a:solidFill>
                            <a:srgbClr val="FFFFFF"/>
                          </a:solidFill>
                          <a:latin typeface="Calibri"/>
                        </a:rPr>
                        <a:t>Target</a:t>
                      </a:r>
                    </a:p>
                  </a:txBody>
                  <a:tcPr marL="82296" marR="64008" marT="27432" marB="27432" anchor="ctr">
                    <a:solidFill>
                      <a:srgbClr val="1B3A5C"/>
                    </a:solidFill>
                  </a:tcPr>
                </a:tc>
              </a:tr>
              <a:tr h="347472">
                <a:tc>
                  <a:txBody>
                    <a:bodyPr wrap="square"/>
                    <a:lstStyle/>
                    <a:p>
                      <a:r>
                        <a:rPr sz="1000" b="0">
                          <a:solidFill>
                            <a:srgbClr val="1A1D23"/>
                          </a:solidFill>
                          <a:latin typeface="Calibri"/>
                        </a:rPr>
                        <a:t>Impressions</a:t>
                      </a:r>
                    </a:p>
                  </a:txBody>
                  <a:tcPr marL="82296" marR="64008" marT="27432" marB="27432" anchor="ctr">
                    <a:solidFill>
                      <a:srgbClr val="FFFFFF"/>
                    </a:solidFill>
                  </a:tcPr>
                </a:tc>
                <a:tc>
                  <a:txBody>
                    <a:bodyPr wrap="square"/>
                    <a:lstStyle/>
                    <a:p>
                      <a:r>
                        <a:rPr sz="1000" b="0">
                          <a:solidFill>
                            <a:srgbClr val="1A1D23"/>
                          </a:solidFill>
                          <a:latin typeface="Calibri"/>
                        </a:rPr>
                        <a:t>Confirm in Step 0</a:t>
                      </a:r>
                    </a:p>
                  </a:txBody>
                  <a:tcPr marL="82296" marR="64008" marT="27432" marB="27432" anchor="ctr">
                    <a:solidFill>
                      <a:srgbClr val="FFFFFF"/>
                    </a:solidFill>
                  </a:tcPr>
                </a:tc>
                <a:tc>
                  <a:txBody>
                    <a:bodyPr wrap="square"/>
                    <a:lstStyle/>
                    <a:p>
                      <a:r>
                        <a:rPr sz="1000" b="0">
                          <a:solidFill>
                            <a:srgbClr val="1A1D23"/>
                          </a:solidFill>
                          <a:latin typeface="Calibri"/>
                        </a:rPr>
                        <a:t>Consistent non-zero</a:t>
                      </a:r>
                    </a:p>
                  </a:txBody>
                  <a:tcPr marL="82296" marR="64008" marT="27432" marB="27432" anchor="ctr">
                    <a:solidFill>
                      <a:srgbClr val="FFFFFF"/>
                    </a:solidFill>
                  </a:tcPr>
                </a:tc>
              </a:tr>
              <a:tr h="347472">
                <a:tc>
                  <a:txBody>
                    <a:bodyPr wrap="square"/>
                    <a:lstStyle/>
                    <a:p>
                      <a:r>
                        <a:rPr sz="1000" b="0">
                          <a:solidFill>
                            <a:srgbClr val="1A1D23"/>
                          </a:solidFill>
                          <a:latin typeface="Calibri"/>
                        </a:rPr>
                        <a:t>Queries with impressions</a:t>
                      </a:r>
                    </a:p>
                  </a:txBody>
                  <a:tcPr marL="82296" marR="64008" marT="27432" marB="27432" anchor="ctr">
                    <a:solidFill>
                      <a:srgbClr val="ECEFF3"/>
                    </a:solidFill>
                  </a:tcPr>
                </a:tc>
                <a:tc>
                  <a:txBody>
                    <a:bodyPr wrap="square"/>
                    <a:lstStyle/>
                    <a:p>
                      <a:r>
                        <a:rPr sz="1000" b="0">
                          <a:solidFill>
                            <a:srgbClr val="1A1D23"/>
                          </a:solidFill>
                          <a:latin typeface="Calibri"/>
                        </a:rPr>
                        <a:t>Confirm in Step 0</a:t>
                      </a:r>
                    </a:p>
                  </a:txBody>
                  <a:tcPr marL="82296" marR="64008" marT="27432" marB="27432" anchor="ctr">
                    <a:solidFill>
                      <a:srgbClr val="ECEFF3"/>
                    </a:solidFill>
                  </a:tcPr>
                </a:tc>
                <a:tc>
                  <a:txBody>
                    <a:bodyPr wrap="square"/>
                    <a:lstStyle/>
                    <a:p>
                      <a:r>
                        <a:rPr sz="1000" b="0">
                          <a:solidFill>
                            <a:srgbClr val="1A1D23"/>
                          </a:solidFill>
                          <a:latin typeface="Calibri"/>
                        </a:rPr>
                        <a:t>10+ audit/Mumbai</a:t>
                      </a:r>
                    </a:p>
                  </a:txBody>
                  <a:tcPr marL="82296" marR="64008" marT="27432" marB="27432" anchor="ctr">
                    <a:solidFill>
                      <a:srgbClr val="ECEFF3"/>
                    </a:solidFill>
                  </a:tcPr>
                </a:tc>
              </a:tr>
              <a:tr h="347472">
                <a:tc>
                  <a:txBody>
                    <a:bodyPr wrap="square"/>
                    <a:lstStyle/>
                    <a:p>
                      <a:r>
                        <a:rPr sz="1000" b="0">
                          <a:solidFill>
                            <a:srgbClr val="1A1D23"/>
                          </a:solidFill>
                          <a:latin typeface="Calibri"/>
                        </a:rPr>
                        <a:t>Position, audit Mumbai terms</a:t>
                      </a:r>
                    </a:p>
                  </a:txBody>
                  <a:tcPr marL="82296" marR="64008" marT="27432" marB="27432" anchor="ctr">
                    <a:solidFill>
                      <a:srgbClr val="FFFFFF"/>
                    </a:solidFill>
                  </a:tcPr>
                </a:tc>
                <a:tc>
                  <a:txBody>
                    <a:bodyPr wrap="square"/>
                    <a:lstStyle/>
                    <a:p>
                      <a:r>
                        <a:rPr sz="1000" b="0">
                          <a:solidFill>
                            <a:srgbClr val="1A1D23"/>
                          </a:solidFill>
                          <a:latin typeface="Calibri"/>
                        </a:rPr>
                        <a:t>Not ranking</a:t>
                      </a:r>
                    </a:p>
                  </a:txBody>
                  <a:tcPr marL="82296" marR="64008" marT="27432" marB="27432" anchor="ctr">
                    <a:solidFill>
                      <a:srgbClr val="FFFFFF"/>
                    </a:solidFill>
                  </a:tcPr>
                </a:tc>
                <a:tc>
                  <a:txBody>
                    <a:bodyPr wrap="square"/>
                    <a:lstStyle/>
                    <a:p>
                      <a:r>
                        <a:rPr sz="1000" b="0">
                          <a:solidFill>
                            <a:srgbClr val="1A1D23"/>
                          </a:solidFill>
                          <a:latin typeface="Calibri"/>
                        </a:rPr>
                        <a:t>Top 30 → top 10</a:t>
                      </a:r>
                    </a:p>
                  </a:txBody>
                  <a:tcPr marL="82296" marR="64008" marT="27432" marB="27432" anchor="ctr">
                    <a:solidFill>
                      <a:srgbClr val="FFFFFF"/>
                    </a:solidFill>
                  </a:tcPr>
                </a:tc>
              </a:tr>
              <a:tr h="347472">
                <a:tc>
                  <a:txBody>
                    <a:bodyPr wrap="square"/>
                    <a:lstStyle/>
                    <a:p>
                      <a:r>
                        <a:rPr sz="1000" b="0">
                          <a:solidFill>
                            <a:srgbClr val="1A1D23"/>
                          </a:solidFill>
                          <a:latin typeface="Calibri"/>
                        </a:rPr>
                        <a:t>Editorial inlinks</a:t>
                      </a:r>
                    </a:p>
                  </a:txBody>
                  <a:tcPr marL="82296" marR="64008" marT="27432" marB="27432" anchor="ctr">
                    <a:solidFill>
                      <a:srgbClr val="ECEFF3"/>
                    </a:solidFill>
                  </a:tcPr>
                </a:tc>
                <a:tc>
                  <a:txBody>
                    <a:bodyPr wrap="square"/>
                    <a:lstStyle/>
                    <a:p>
                      <a:r>
                        <a:rPr sz="1000" b="0">
                          <a:solidFill>
                            <a:srgbClr val="1A1D23"/>
                          </a:solidFill>
                          <a:latin typeface="Calibri"/>
                        </a:rPr>
                        <a:t>31 (29 generic)</a:t>
                      </a:r>
                    </a:p>
                  </a:txBody>
                  <a:tcPr marL="82296" marR="64008" marT="27432" marB="27432" anchor="ctr">
                    <a:solidFill>
                      <a:srgbClr val="ECEFF3"/>
                    </a:solidFill>
                  </a:tcPr>
                </a:tc>
                <a:tc>
                  <a:txBody>
                    <a:bodyPr wrap="square"/>
                    <a:lstStyle/>
                    <a:p>
                      <a:r>
                        <a:rPr sz="1000" b="0">
                          <a:solidFill>
                            <a:srgbClr val="1A1D23"/>
                          </a:solidFill>
                          <a:latin typeface="Calibri"/>
                        </a:rPr>
                        <a:t>12+ descriptive</a:t>
                      </a:r>
                    </a:p>
                  </a:txBody>
                  <a:tcPr marL="82296" marR="64008" marT="27432" marB="27432" anchor="ctr">
                    <a:solidFill>
                      <a:srgbClr val="ECEFF3"/>
                    </a:solidFill>
                  </a:tcPr>
                </a:tc>
              </a:tr>
              <a:tr h="347472">
                <a:tc>
                  <a:txBody>
                    <a:bodyPr wrap="square"/>
                    <a:lstStyle/>
                    <a:p>
                      <a:r>
                        <a:rPr sz="1000" b="0">
                          <a:solidFill>
                            <a:srgbClr val="1A1D23"/>
                          </a:solidFill>
                          <a:latin typeface="Calibri"/>
                        </a:rPr>
                        <a:t>Audit enquiries</a:t>
                      </a:r>
                    </a:p>
                  </a:txBody>
                  <a:tcPr marL="82296" marR="64008" marT="27432" marB="27432" anchor="ctr">
                    <a:solidFill>
                      <a:srgbClr val="FFFFFF"/>
                    </a:solidFill>
                  </a:tcPr>
                </a:tc>
                <a:tc>
                  <a:txBody>
                    <a:bodyPr wrap="square"/>
                    <a:lstStyle/>
                    <a:p>
                      <a:r>
                        <a:rPr sz="1000" b="0">
                          <a:solidFill>
                            <a:srgbClr val="1A1D23"/>
                          </a:solidFill>
                          <a:latin typeface="Calibri"/>
                        </a:rPr>
                        <a:t>Unmeasurable today</a:t>
                      </a:r>
                    </a:p>
                  </a:txBody>
                  <a:tcPr marL="82296" marR="64008" marT="27432" marB="27432" anchor="ctr">
                    <a:solidFill>
                      <a:srgbClr val="FFFFFF"/>
                    </a:solidFill>
                  </a:tcPr>
                </a:tc>
                <a:tc>
                  <a:txBody>
                    <a:bodyPr wrap="square"/>
                    <a:lstStyle/>
                    <a:p>
                      <a:r>
                        <a:rPr sz="1000" b="0">
                          <a:solidFill>
                            <a:srgbClr val="1A1D23"/>
                          </a:solidFill>
                          <a:latin typeface="Calibri"/>
                        </a:rPr>
                        <a:t>Accurate count</a:t>
                      </a:r>
                    </a:p>
                  </a:txBody>
                  <a:tcPr marL="82296" marR="64008" marT="27432" marB="27432" anchor="ctr">
                    <a:solidFill>
                      <a:srgbClr val="FFFFFF"/>
                    </a:solidFill>
                  </a:tcPr>
                </a:tc>
              </a:tr>
            </a:tbl>
          </a:graphicData>
        </a:graphic>
      </p:graphicFrame>
      <p:sp>
        <p:nvSpPr>
          <p:cNvPr id="26" name="Rectangle 25"/>
          <p:cNvSpPr/>
          <p:nvPr/>
        </p:nvSpPr>
        <p:spPr>
          <a:xfrm>
            <a:off x="6199632" y="4041648"/>
            <a:ext cx="5431536" cy="640080"/>
          </a:xfrm>
          <a:prstGeom prst="rect">
            <a:avLst/>
          </a:prstGeom>
          <a:solidFill>
            <a:srgbClr val="ECEFF3"/>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9632" y="4041648"/>
            <a:ext cx="44450" cy="64008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4133088"/>
            <a:ext cx="5120640" cy="493776"/>
          </a:xfrm>
          <a:prstGeom prst="rect">
            <a:avLst/>
          </a:prstGeom>
          <a:noFill/>
        </p:spPr>
        <p:txBody>
          <a:bodyPr wrap="square" lIns="0" rIns="0" tIns="0" bIns="0" anchor="t">
            <a:spAutoFit/>
          </a:bodyPr>
          <a:lstStyle/>
          <a:p>
            <a:pPr algn="l">
              <a:lnSpc>
                <a:spcPct val="105000"/>
              </a:lnSpc>
            </a:pPr>
            <a:r>
              <a:rPr sz="1000" b="0" i="0">
                <a:solidFill>
                  <a:srgbClr val="1A1D23"/>
                </a:solidFill>
                <a:latin typeface="Calibri"/>
              </a:rPr>
              <a:t>Record the baseline BEFORE Phase 1.</a:t>
            </a:r>
          </a:p>
          <a:p>
            <a:pPr algn="l">
              <a:lnSpc>
                <a:spcPct val="105000"/>
              </a:lnSpc>
            </a:pPr>
            <a:r>
              <a:rPr sz="1000" b="0" i="0">
                <a:solidFill>
                  <a:srgbClr val="1A1D23"/>
                </a:solidFill>
                <a:latin typeface="Calibri"/>
              </a:rPr>
              <a:t>Do not attribute movement to one change if several shipped together.</a:t>
            </a:r>
          </a:p>
        </p:txBody>
      </p:sp>
      <p:sp>
        <p:nvSpPr>
          <p:cNvPr id="29" name="TextBox 28"/>
          <p:cNvSpPr txBox="1"/>
          <p:nvPr/>
        </p:nvSpPr>
        <p:spPr>
          <a:xfrm>
            <a:off x="566928" y="4956048"/>
            <a:ext cx="11064240" cy="274320"/>
          </a:xfrm>
          <a:prstGeom prst="rect">
            <a:avLst/>
          </a:prstGeom>
          <a:noFill/>
        </p:spPr>
        <p:txBody>
          <a:bodyPr wrap="square" lIns="0" rIns="0" tIns="0" bIns="0" anchor="t">
            <a:spAutoFit/>
          </a:bodyPr>
          <a:lstStyle/>
          <a:p>
            <a:pPr algn="l">
              <a:lnSpc>
                <a:spcPct val="100000"/>
              </a:lnSpc>
            </a:pPr>
            <a:r>
              <a:rPr sz="1250" b="1" i="0">
                <a:solidFill>
                  <a:srgbClr val="1B3A5C"/>
                </a:solidFill>
                <a:latin typeface="Calibri"/>
              </a:rPr>
              <a:t>Data limitations</a:t>
            </a:r>
          </a:p>
        </p:txBody>
      </p:sp>
      <p:sp>
        <p:nvSpPr>
          <p:cNvPr id="30" name="Rectangle 29"/>
          <p:cNvSpPr/>
          <p:nvPr/>
        </p:nvSpPr>
        <p:spPr>
          <a:xfrm>
            <a:off x="566928" y="5285232"/>
            <a:ext cx="11064240" cy="859536"/>
          </a:xfrm>
          <a:prstGeom prst="rect">
            <a:avLst/>
          </a:prstGeom>
          <a:solidFill>
            <a:srgbClr val="FFFFFF"/>
          </a:solidFill>
          <a:ln w="12700">
            <a:solidFill>
              <a:srgbClr val="D8DD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394960"/>
            <a:ext cx="10607040" cy="694944"/>
          </a:xfrm>
          <a:prstGeom prst="rect">
            <a:avLst/>
          </a:prstGeom>
          <a:noFill/>
        </p:spPr>
        <p:txBody>
          <a:bodyPr wrap="square" lIns="0" rIns="0" tIns="0" bIns="0" anchor="t">
            <a:spAutoFit/>
          </a:bodyPr>
          <a:lstStyle/>
          <a:p>
            <a:pPr algn="l">
              <a:lnSpc>
                <a:spcPct val="120000"/>
              </a:lnSpc>
            </a:pPr>
            <a:r>
              <a:rPr sz="900" b="0" i="0">
                <a:solidFill>
                  <a:srgbClr val="1A1D23"/>
                </a:solidFill>
                <a:latin typeface="Calibri"/>
              </a:rPr>
              <a:t>•  GSC data for this URL is DATA NOT AVAILABLE — no connector. The "zero impressions" premise is unverified by us; Step 0 exists for this reason.</a:t>
            </a:r>
          </a:p>
          <a:p>
            <a:pPr algn="l">
              <a:lnSpc>
                <a:spcPct val="120000"/>
              </a:lnSpc>
            </a:pPr>
            <a:r>
              <a:rPr sz="900" b="0" i="0">
                <a:solidFill>
                  <a:srgbClr val="1A1D23"/>
                </a:solidFill>
                <a:latin typeface="Calibri"/>
              </a:rPr>
              <a:t>•  No backlink tool: Domain Rating, referring domains and authority gaps are DATA NOT AVAILABLE and were not estimated.  •  No rank tracker: SERP observations are point-in-time samples.</a:t>
            </a:r>
          </a:p>
          <a:p>
            <a:pPr algn="l">
              <a:lnSpc>
                <a:spcPct val="120000"/>
              </a:lnSpc>
            </a:pPr>
            <a:r>
              <a:rPr sz="900" b="0" i="0">
                <a:solidFill>
                  <a:srgbClr val="1A1D23"/>
                </a:solidFill>
                <a:latin typeface="Calibri"/>
              </a:rPr>
              <a:t>•  No browser rendering: image attributes and the exact CLS-shifting element could not be inspected.  •  Speed figures are 28 Aug lab tests, predating the 10 Sep page change.</a:t>
            </a:r>
          </a:p>
        </p:txBody>
      </p:sp>
      <p:sp>
        <p:nvSpPr>
          <p:cNvPr id="32" name="TextBox 31"/>
          <p:cNvSpPr txBox="1"/>
          <p:nvPr/>
        </p:nvSpPr>
        <p:spPr>
          <a:xfrm>
            <a:off x="566928" y="6345936"/>
            <a:ext cx="11064240" cy="237744"/>
          </a:xfrm>
          <a:prstGeom prst="rect">
            <a:avLst/>
          </a:prstGeom>
          <a:noFill/>
        </p:spPr>
        <p:txBody>
          <a:bodyPr wrap="square" lIns="0" rIns="0" tIns="0" bIns="0" anchor="t">
            <a:spAutoFit/>
          </a:bodyPr>
          <a:lstStyle/>
          <a:p>
            <a:pPr algn="l">
              <a:lnSpc>
                <a:spcPct val="100000"/>
              </a:lnSpc>
            </a:pPr>
            <a:r>
              <a:rPr sz="900" b="0" i="0">
                <a:solidFill>
                  <a:srgbClr val="6B7280"/>
                </a:solidFill>
                <a:latin typeface="Calibri"/>
              </a:rPr>
              <a:t>Shahnawaz and Associates  ·  Deep SEO Audit, /audit-services/  ·  Confidential  ·  Page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