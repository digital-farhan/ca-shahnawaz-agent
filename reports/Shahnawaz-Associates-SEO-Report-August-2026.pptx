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B3A5C"/>
                </a:solidFill>
              </a:rPr>
              <a:t>Organic clicks per 30-day period</a:t>
            </a:r>
          </a:p>
        </c:rich>
      </c:tx>
      <c:layout/>
      <c:overlay val="0"/>
    </c:title>
    <c:autoTitleDeleted val="0"/>
    <c:plotArea>
      <c:barChart>
        <c:barDir val="col"/>
        <c:grouping val="clustered"/>
        <c:ser>
          <c:idx val="0"/>
          <c:order val="0"/>
          <c:tx>
            <c:strRef>
              <c:f>Sheet1!$B$1</c:f>
              <c:strCache>
                <c:ptCount val="1"/>
                <c:pt idx="0">
                  <c:v>Organic clicks</c:v>
                </c:pt>
              </c:strCache>
            </c:strRef>
          </c:tx>
          <c:spPr>
            <a:solidFill>
              <a:srgbClr val="1B3A5C"/>
            </a:solidFill>
          </c:spPr>
          <c:dPt>
            <c:idx val="1"/>
            <c:spPr>
              <a:solidFill>
                <a:srgbClr val="2F5233"/>
              </a:solidFill>
            </c:spPr>
          </c:dPt>
          <c:cat>
            <c:strRef>
              <c:f>Sheet1!$A$2:$A$3</c:f>
              <c:strCache>
                <c:ptCount val="2"/>
                <c:pt idx="0">
                  <c:v>First 30 days</c:v>
                </c:pt>
                <c:pt idx="1">
                  <c:v>Last 30 days</c:v>
                </c:pt>
              </c:strCache>
            </c:strRef>
          </c:cat>
          <c:val>
            <c:numRef>
              <c:f>Sheet1!$B$2:$B$3</c:f>
              <c:numCache>
                <c:formatCode>General</c:formatCode>
                <c:ptCount val="2"/>
                <c:pt idx="0">
                  <c:v>826</c:v>
                </c:pt>
                <c:pt idx="1">
                  <c:v>1513</c:v>
                </c:pt>
              </c:numCache>
            </c:numRef>
          </c:val>
        </c:ser>
        <c:dLbls>
          <c:txPr>
            <a:bodyPr/>
            <a:lstStyle/>
            <a:p>
              <a:pPr>
                <a:defRPr sz="1100" b="1">
                  <a:solidFill>
                    <a:srgbClr val="1B3A5C"/>
                  </a:solidFill>
                </a:defRPr>
              </a:pPr>
            </a:p>
          </c:txPr>
          <c:showLegendKey val="0"/>
          <c:showVal val="1"/>
          <c:showCatName val="0"/>
          <c:showSerName val="0"/>
          <c:showPercent val="0"/>
          <c:showBubbleSize val="0"/>
          <c:showLeaderLines val="1"/>
        </c:dLbls>
        <c:gapWidth val="13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000">
          <a:solidFill>
            <a:srgbClr val="1A1D2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100" b="1">
                <a:solidFill>
                  <a:srgbClr val="1B3A5C"/>
                </a:solidFill>
              </a:rPr>
              <a:t>Share of all sessions</a:t>
            </a:r>
          </a:p>
        </c:rich>
      </c:tx>
      <c:layout/>
      <c:overlay val="0"/>
    </c:title>
    <c:autoTitleDeleted val="0"/>
    <c:plotArea>
      <c:layout/>
      <c:doughnutChart>
        <c:varyColors val="1"/>
        <c:ser>
          <c:idx val="0"/>
          <c:order val="0"/>
          <c:tx>
            <c:strRef>
              <c:f>Sheet1!$B$1</c:f>
              <c:strCache>
                <c:ptCount val="1"/>
                <c:pt idx="0">
                  <c:v>Sessions</c:v>
                </c:pt>
              </c:strCache>
            </c:strRef>
          </c:tx>
          <c:dPt>
            <c:idx val="0"/>
            <c:spPr>
              <a:solidFill>
                <a:srgbClr val="1B3A5C"/>
              </a:solidFill>
            </c:spPr>
          </c:dPt>
          <c:dPt>
            <c:idx val="1"/>
            <c:spPr>
              <a:solidFill>
                <a:srgbClr val="9CA3AF"/>
              </a:solidFill>
            </c:spPr>
          </c:dPt>
          <c:cat>
            <c:strRef>
              <c:f>Sheet1!$A$2:$A$3</c:f>
              <c:strCache>
                <c:ptCount val="2"/>
                <c:pt idx="0">
                  <c:v>Organic search</c:v>
                </c:pt>
                <c:pt idx="1">
                  <c:v>All other channels</c:v>
                </c:pt>
              </c:strCache>
            </c:strRef>
          </c:cat>
          <c:val>
            <c:numRef>
              <c:f>Sheet1!$B$2:$B$3</c:f>
              <c:numCache>
                <c:formatCode>General</c:formatCode>
                <c:ptCount val="2"/>
                <c:pt idx="0">
                  <c:v>81.7</c:v>
                </c:pt>
                <c:pt idx="1">
                  <c:v>18.3</c:v>
                </c:pt>
              </c:numCache>
            </c:numRef>
          </c:val>
        </c:ser>
        <c:dLbls>
          <c:numFmt formatCode="0.0&quot;%&quot;" sourceLinked="0"/>
          <c:txPr>
            <a:bodyPr/>
            <a:lstStyle/>
            <a:p>
              <a:pPr>
                <a:defRPr sz="1000" b="1">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950">
          <a:solidFill>
            <a:srgbClr val="1A1D23"/>
          </a:solidFill>
          <a:latin typeface="Calibri"/>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B3A5C"/>
                </a:solidFill>
              </a:rPr>
              <a:t>Findings by severity</a:t>
            </a:r>
          </a:p>
        </c:rich>
      </c:tx>
      <c:layout/>
      <c:overlay val="0"/>
    </c:title>
    <c:autoTitleDeleted val="0"/>
    <c:plotArea>
      <c:barChart>
        <c:barDir val="bar"/>
        <c:grouping val="clustered"/>
        <c:ser>
          <c:idx val="0"/>
          <c:order val="0"/>
          <c:tx>
            <c:strRef>
              <c:f>Sheet1!$B$1</c:f>
              <c:strCache>
                <c:ptCount val="1"/>
                <c:pt idx="0">
                  <c:v>Findings</c:v>
                </c:pt>
              </c:strCache>
            </c:strRef>
          </c:tx>
          <c:dPt>
            <c:idx val="0"/>
            <c:spPr>
              <a:solidFill>
                <a:srgbClr val="B3261E"/>
              </a:solidFill>
            </c:spPr>
          </c:dPt>
          <c:dPt>
            <c:idx val="1"/>
            <c:spPr>
              <a:solidFill>
                <a:srgbClr val="D2691E"/>
              </a:solidFill>
            </c:spPr>
          </c:dPt>
          <c:dPt>
            <c:idx val="2"/>
            <c:spPr>
              <a:solidFill>
                <a:srgbClr val="C99B3B"/>
              </a:solidFill>
            </c:spPr>
          </c:dPt>
          <c:dPt>
            <c:idx val="3"/>
            <c:spPr>
              <a:solidFill>
                <a:srgbClr val="6B7280"/>
              </a:solidFill>
            </c:spPr>
          </c:dPt>
          <c:cat>
            <c:strRef>
              <c:f>Sheet1!$A$2:$A$5</c:f>
              <c:strCache>
                <c:ptCount val="4"/>
                <c:pt idx="0">
                  <c:v>Critical</c:v>
                </c:pt>
                <c:pt idx="1">
                  <c:v>High</c:v>
                </c:pt>
                <c:pt idx="2">
                  <c:v>Medium</c:v>
                </c:pt>
                <c:pt idx="3">
                  <c:v>Low</c:v>
                </c:pt>
              </c:strCache>
            </c:strRef>
          </c:cat>
          <c:val>
            <c:numRef>
              <c:f>Sheet1!$B$2:$B$5</c:f>
              <c:numCache>
                <c:formatCode>General</c:formatCode>
                <c:ptCount val="4"/>
                <c:pt idx="0">
                  <c:v>8</c:v>
                </c:pt>
                <c:pt idx="1">
                  <c:v>12</c:v>
                </c:pt>
                <c:pt idx="2">
                  <c:v>14</c:v>
                </c:pt>
                <c:pt idx="3">
                  <c:v>5</c:v>
                </c:pt>
              </c:numCache>
            </c:numRef>
          </c:val>
        </c:ser>
        <c:dLbls>
          <c:txPr>
            <a:bodyPr/>
            <a:lstStyle/>
            <a:p>
              <a:pPr>
                <a:defRPr sz="1100" b="1">
                  <a:solidFill>
                    <a:srgbClr val="1A1D23"/>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000">
          <a:solidFill>
            <a:srgbClr val="1A1D23"/>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188720"/>
            <a:ext cx="9601200" cy="292608"/>
          </a:xfrm>
          <a:prstGeom prst="rect">
            <a:avLst/>
          </a:prstGeom>
          <a:noFill/>
        </p:spPr>
        <p:txBody>
          <a:bodyPr wrap="square" lIns="0" rIns="0" tIns="0" bIns="0" anchor="t">
            <a:spAutoFit/>
          </a:bodyPr>
          <a:lstStyle/>
          <a:p>
            <a:pPr algn="l">
              <a:lnSpc>
                <a:spcPct val="100000"/>
              </a:lnSpc>
            </a:pPr>
            <a:r>
              <a:rPr sz="1300" b="1" i="0">
                <a:solidFill>
                  <a:srgbClr val="C99B3B"/>
                </a:solidFill>
                <a:latin typeface="Calibri"/>
              </a:rPr>
              <a:t>SEO PERFORMANCE &amp; GROWTH REPORT</a:t>
            </a:r>
          </a:p>
        </p:txBody>
      </p:sp>
      <p:sp>
        <p:nvSpPr>
          <p:cNvPr id="5" name="TextBox 4"/>
          <p:cNvSpPr txBox="1"/>
          <p:nvPr/>
        </p:nvSpPr>
        <p:spPr>
          <a:xfrm>
            <a:off x="960120" y="1664208"/>
            <a:ext cx="10058400" cy="1005840"/>
          </a:xfrm>
          <a:prstGeom prst="rect">
            <a:avLst/>
          </a:prstGeom>
          <a:noFill/>
        </p:spPr>
        <p:txBody>
          <a:bodyPr wrap="square" lIns="0" rIns="0" tIns="0" bIns="0" anchor="t">
            <a:spAutoFit/>
          </a:bodyPr>
          <a:lstStyle/>
          <a:p>
            <a:pPr algn="l">
              <a:lnSpc>
                <a:spcPct val="100000"/>
              </a:lnSpc>
            </a:pPr>
            <a:r>
              <a:rPr sz="4400" b="1" i="0">
                <a:solidFill>
                  <a:srgbClr val="FFFFFF"/>
                </a:solidFill>
                <a:latin typeface="Calibri"/>
              </a:rPr>
              <a:t>Shahnawaz and Associates</a:t>
            </a:r>
          </a:p>
        </p:txBody>
      </p:sp>
      <p:sp>
        <p:nvSpPr>
          <p:cNvPr id="6" name="TextBox 5"/>
          <p:cNvSpPr txBox="1"/>
          <p:nvPr/>
        </p:nvSpPr>
        <p:spPr>
          <a:xfrm>
            <a:off x="960120" y="2542032"/>
            <a:ext cx="10058400" cy="384048"/>
          </a:xfrm>
          <a:prstGeom prst="rect">
            <a:avLst/>
          </a:prstGeom>
          <a:noFill/>
        </p:spPr>
        <p:txBody>
          <a:bodyPr wrap="square" lIns="0" rIns="0" tIns="0" bIns="0" anchor="t">
            <a:spAutoFit/>
          </a:bodyPr>
          <a:lstStyle/>
          <a:p>
            <a:pPr algn="l">
              <a:lnSpc>
                <a:spcPct val="100000"/>
              </a:lnSpc>
            </a:pPr>
            <a:r>
              <a:rPr sz="1600" b="0" i="0">
                <a:solidFill>
                  <a:srgbClr val="C3CEDB"/>
                </a:solidFill>
                <a:latin typeface="Calibri"/>
              </a:rPr>
              <a:t>Chartered Accountants  ·  Jogeshwari West, Mumbai</a:t>
            </a:r>
          </a:p>
        </p:txBody>
      </p:sp>
      <p:sp>
        <p:nvSpPr>
          <p:cNvPr id="7" name="Rectangle 6"/>
          <p:cNvSpPr/>
          <p:nvPr/>
        </p:nvSpPr>
        <p:spPr>
          <a:xfrm>
            <a:off x="960120" y="3163824"/>
            <a:ext cx="182880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529584"/>
            <a:ext cx="10058400" cy="365760"/>
          </a:xfrm>
          <a:prstGeom prst="rect">
            <a:avLst/>
          </a:prstGeom>
          <a:noFill/>
        </p:spPr>
        <p:txBody>
          <a:bodyPr wrap="square" lIns="0" rIns="0" tIns="0" bIns="0" anchor="t">
            <a:spAutoFit/>
          </a:bodyPr>
          <a:lstStyle/>
          <a:p>
            <a:pPr algn="l">
              <a:lnSpc>
                <a:spcPct val="100000"/>
              </a:lnSpc>
            </a:pPr>
            <a:r>
              <a:rPr sz="1400" b="0" i="0">
                <a:solidFill>
                  <a:srgbClr val="FFFFFF"/>
                </a:solidFill>
                <a:latin typeface="Calibri"/>
              </a:rPr>
              <a:t>Reporting period:  August 2026   ·   Data verified through 25 August 2026</a:t>
            </a:r>
          </a:p>
        </p:txBody>
      </p:sp>
      <p:sp>
        <p:nvSpPr>
          <p:cNvPr id="9" name="TextBox 8"/>
          <p:cNvSpPr txBox="1"/>
          <p:nvPr/>
        </p:nvSpPr>
        <p:spPr>
          <a:xfrm>
            <a:off x="960120" y="3931920"/>
            <a:ext cx="10058400" cy="365760"/>
          </a:xfrm>
          <a:prstGeom prst="rect">
            <a:avLst/>
          </a:prstGeom>
          <a:noFill/>
        </p:spPr>
        <p:txBody>
          <a:bodyPr wrap="square" lIns="0" rIns="0" tIns="0" bIns="0" anchor="t">
            <a:spAutoFit/>
          </a:bodyPr>
          <a:lstStyle/>
          <a:p>
            <a:pPr algn="l">
              <a:lnSpc>
                <a:spcPct val="100000"/>
              </a:lnSpc>
            </a:pPr>
            <a:r>
              <a:rPr sz="1200" b="0" i="0">
                <a:solidFill>
                  <a:srgbClr val="C3CEDB"/>
                </a:solidFill>
                <a:latin typeface="Calibri"/>
              </a:rPr>
              <a:t>Off-page &amp; authority workstream extended to 5 September 2026</a:t>
            </a:r>
          </a:p>
        </p:txBody>
      </p:sp>
      <p:sp>
        <p:nvSpPr>
          <p:cNvPr id="10" name="Rectangle 9"/>
          <p:cNvSpPr/>
          <p:nvPr/>
        </p:nvSpPr>
        <p:spPr>
          <a:xfrm>
            <a:off x="960120" y="4617720"/>
            <a:ext cx="2487168" cy="932688"/>
          </a:xfrm>
          <a:prstGeom prst="rect">
            <a:avLst/>
          </a:prstGeom>
          <a:solidFill>
            <a:srgbClr val="244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4617720"/>
            <a:ext cx="38100" cy="932688"/>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745736"/>
            <a:ext cx="2194560" cy="402336"/>
          </a:xfrm>
          <a:prstGeom prst="rect">
            <a:avLst/>
          </a:prstGeom>
          <a:noFill/>
        </p:spPr>
        <p:txBody>
          <a:bodyPr wrap="square" lIns="0" rIns="0" tIns="0" bIns="0" anchor="t">
            <a:spAutoFit/>
          </a:bodyPr>
          <a:lstStyle/>
          <a:p>
            <a:pPr algn="l">
              <a:lnSpc>
                <a:spcPct val="100000"/>
              </a:lnSpc>
            </a:pPr>
            <a:r>
              <a:rPr sz="2100" b="1" i="0">
                <a:solidFill>
                  <a:srgbClr val="FFFFFF"/>
                </a:solidFill>
                <a:latin typeface="Calibri"/>
              </a:rPr>
              <a:t>+83.2%</a:t>
            </a:r>
          </a:p>
        </p:txBody>
      </p:sp>
      <p:sp>
        <p:nvSpPr>
          <p:cNvPr id="13" name="TextBox 12"/>
          <p:cNvSpPr txBox="1"/>
          <p:nvPr/>
        </p:nvSpPr>
        <p:spPr>
          <a:xfrm>
            <a:off x="1143000" y="5184648"/>
            <a:ext cx="2194560" cy="292608"/>
          </a:xfrm>
          <a:prstGeom prst="rect">
            <a:avLst/>
          </a:prstGeom>
          <a:noFill/>
        </p:spPr>
        <p:txBody>
          <a:bodyPr wrap="square" lIns="0" rIns="0" tIns="0" bIns="0" anchor="t">
            <a:spAutoFit/>
          </a:bodyPr>
          <a:lstStyle/>
          <a:p>
            <a:pPr algn="l">
              <a:lnSpc>
                <a:spcPct val="100000"/>
              </a:lnSpc>
            </a:pPr>
            <a:r>
              <a:rPr sz="950" b="0" i="0">
                <a:solidFill>
                  <a:srgbClr val="C3CEDB"/>
                </a:solidFill>
                <a:latin typeface="Calibri"/>
              </a:rPr>
              <a:t>Organic clicks growth</a:t>
            </a:r>
          </a:p>
        </p:txBody>
      </p:sp>
      <p:sp>
        <p:nvSpPr>
          <p:cNvPr id="14" name="Rectangle 13"/>
          <p:cNvSpPr/>
          <p:nvPr/>
        </p:nvSpPr>
        <p:spPr>
          <a:xfrm>
            <a:off x="3630168" y="4617720"/>
            <a:ext cx="2487168" cy="932688"/>
          </a:xfrm>
          <a:prstGeom prst="rect">
            <a:avLst/>
          </a:prstGeom>
          <a:solidFill>
            <a:srgbClr val="244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30168" y="4617720"/>
            <a:ext cx="38100" cy="932688"/>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13048" y="4745736"/>
            <a:ext cx="2194560" cy="402336"/>
          </a:xfrm>
          <a:prstGeom prst="rect">
            <a:avLst/>
          </a:prstGeom>
          <a:noFill/>
        </p:spPr>
        <p:txBody>
          <a:bodyPr wrap="square" lIns="0" rIns="0" tIns="0" bIns="0" anchor="t">
            <a:spAutoFit/>
          </a:bodyPr>
          <a:lstStyle/>
          <a:p>
            <a:pPr algn="l">
              <a:lnSpc>
                <a:spcPct val="100000"/>
              </a:lnSpc>
            </a:pPr>
            <a:r>
              <a:rPr sz="2100" b="1" i="0">
                <a:solidFill>
                  <a:srgbClr val="FFFFFF"/>
                </a:solidFill>
                <a:latin typeface="Calibri"/>
              </a:rPr>
              <a:t>402,561</a:t>
            </a:r>
          </a:p>
        </p:txBody>
      </p:sp>
      <p:sp>
        <p:nvSpPr>
          <p:cNvPr id="17" name="TextBox 16"/>
          <p:cNvSpPr txBox="1"/>
          <p:nvPr/>
        </p:nvSpPr>
        <p:spPr>
          <a:xfrm>
            <a:off x="3813048" y="5184648"/>
            <a:ext cx="2194560" cy="292608"/>
          </a:xfrm>
          <a:prstGeom prst="rect">
            <a:avLst/>
          </a:prstGeom>
          <a:noFill/>
        </p:spPr>
        <p:txBody>
          <a:bodyPr wrap="square" lIns="0" rIns="0" tIns="0" bIns="0" anchor="t">
            <a:spAutoFit/>
          </a:bodyPr>
          <a:lstStyle/>
          <a:p>
            <a:pPr algn="l">
              <a:lnSpc>
                <a:spcPct val="100000"/>
              </a:lnSpc>
            </a:pPr>
            <a:r>
              <a:rPr sz="950" b="0" i="0">
                <a:solidFill>
                  <a:srgbClr val="C3CEDB"/>
                </a:solidFill>
                <a:latin typeface="Calibri"/>
              </a:rPr>
              <a:t>Search impressions (90d)</a:t>
            </a:r>
          </a:p>
        </p:txBody>
      </p:sp>
      <p:sp>
        <p:nvSpPr>
          <p:cNvPr id="18" name="Rectangle 17"/>
          <p:cNvSpPr/>
          <p:nvPr/>
        </p:nvSpPr>
        <p:spPr>
          <a:xfrm>
            <a:off x="6300216" y="4617720"/>
            <a:ext cx="2487168" cy="932688"/>
          </a:xfrm>
          <a:prstGeom prst="rect">
            <a:avLst/>
          </a:prstGeom>
          <a:solidFill>
            <a:srgbClr val="244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0216" y="4617720"/>
            <a:ext cx="38100" cy="932688"/>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3096" y="4745736"/>
            <a:ext cx="2194560" cy="402336"/>
          </a:xfrm>
          <a:prstGeom prst="rect">
            <a:avLst/>
          </a:prstGeom>
          <a:noFill/>
        </p:spPr>
        <p:txBody>
          <a:bodyPr wrap="square" lIns="0" rIns="0" tIns="0" bIns="0" anchor="t">
            <a:spAutoFit/>
          </a:bodyPr>
          <a:lstStyle/>
          <a:p>
            <a:pPr algn="l">
              <a:lnSpc>
                <a:spcPct val="100000"/>
              </a:lnSpc>
            </a:pPr>
            <a:r>
              <a:rPr sz="2100" b="1" i="0">
                <a:solidFill>
                  <a:srgbClr val="FFFFFF"/>
                </a:solidFill>
                <a:latin typeface="Calibri"/>
              </a:rPr>
              <a:t>81.7%</a:t>
            </a:r>
          </a:p>
        </p:txBody>
      </p:sp>
      <p:sp>
        <p:nvSpPr>
          <p:cNvPr id="21" name="TextBox 20"/>
          <p:cNvSpPr txBox="1"/>
          <p:nvPr/>
        </p:nvSpPr>
        <p:spPr>
          <a:xfrm>
            <a:off x="6483096" y="5184648"/>
            <a:ext cx="2194560" cy="292608"/>
          </a:xfrm>
          <a:prstGeom prst="rect">
            <a:avLst/>
          </a:prstGeom>
          <a:noFill/>
        </p:spPr>
        <p:txBody>
          <a:bodyPr wrap="square" lIns="0" rIns="0" tIns="0" bIns="0" anchor="t">
            <a:spAutoFit/>
          </a:bodyPr>
          <a:lstStyle/>
          <a:p>
            <a:pPr algn="l">
              <a:lnSpc>
                <a:spcPct val="100000"/>
              </a:lnSpc>
            </a:pPr>
            <a:r>
              <a:rPr sz="950" b="0" i="0">
                <a:solidFill>
                  <a:srgbClr val="C3CEDB"/>
                </a:solidFill>
                <a:latin typeface="Calibri"/>
              </a:rPr>
              <a:t>Traffic from organic search</a:t>
            </a:r>
          </a:p>
        </p:txBody>
      </p:sp>
      <p:sp>
        <p:nvSpPr>
          <p:cNvPr id="22" name="Rectangle 21"/>
          <p:cNvSpPr/>
          <p:nvPr/>
        </p:nvSpPr>
        <p:spPr>
          <a:xfrm>
            <a:off x="8970264" y="4617720"/>
            <a:ext cx="2487168" cy="932688"/>
          </a:xfrm>
          <a:prstGeom prst="rect">
            <a:avLst/>
          </a:prstGeom>
          <a:solidFill>
            <a:srgbClr val="244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70264" y="4617720"/>
            <a:ext cx="38100" cy="932688"/>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53144" y="4745736"/>
            <a:ext cx="2194560" cy="402336"/>
          </a:xfrm>
          <a:prstGeom prst="rect">
            <a:avLst/>
          </a:prstGeom>
          <a:noFill/>
        </p:spPr>
        <p:txBody>
          <a:bodyPr wrap="square" lIns="0" rIns="0" tIns="0" bIns="0" anchor="t">
            <a:spAutoFit/>
          </a:bodyPr>
          <a:lstStyle/>
          <a:p>
            <a:pPr algn="l">
              <a:lnSpc>
                <a:spcPct val="100000"/>
              </a:lnSpc>
            </a:pPr>
            <a:r>
              <a:rPr sz="2100" b="1" i="0">
                <a:solidFill>
                  <a:srgbClr val="FFFFFF"/>
                </a:solidFill>
                <a:latin typeface="Calibri"/>
              </a:rPr>
              <a:t>39</a:t>
            </a:r>
          </a:p>
        </p:txBody>
      </p:sp>
      <p:sp>
        <p:nvSpPr>
          <p:cNvPr id="25" name="TextBox 24"/>
          <p:cNvSpPr txBox="1"/>
          <p:nvPr/>
        </p:nvSpPr>
        <p:spPr>
          <a:xfrm>
            <a:off x="9153144" y="5184648"/>
            <a:ext cx="2194560" cy="292608"/>
          </a:xfrm>
          <a:prstGeom prst="rect">
            <a:avLst/>
          </a:prstGeom>
          <a:noFill/>
        </p:spPr>
        <p:txBody>
          <a:bodyPr wrap="square" lIns="0" rIns="0" tIns="0" bIns="0" anchor="t">
            <a:spAutoFit/>
          </a:bodyPr>
          <a:lstStyle/>
          <a:p>
            <a:pPr algn="l">
              <a:lnSpc>
                <a:spcPct val="100000"/>
              </a:lnSpc>
            </a:pPr>
            <a:r>
              <a:rPr sz="950" b="0" i="0">
                <a:solidFill>
                  <a:srgbClr val="C3CEDB"/>
                </a:solidFill>
                <a:latin typeface="Calibri"/>
              </a:rPr>
              <a:t>Findings documented</a:t>
            </a:r>
          </a:p>
        </p:txBody>
      </p:sp>
      <p:sp>
        <p:nvSpPr>
          <p:cNvPr id="26" name="TextBox 25"/>
          <p:cNvSpPr txBox="1"/>
          <p:nvPr/>
        </p:nvSpPr>
        <p:spPr>
          <a:xfrm>
            <a:off x="960120" y="6035040"/>
            <a:ext cx="10058400" cy="274320"/>
          </a:xfrm>
          <a:prstGeom prst="rect">
            <a:avLst/>
          </a:prstGeom>
          <a:noFill/>
        </p:spPr>
        <p:txBody>
          <a:bodyPr wrap="square" lIns="0" rIns="0" tIns="0" bIns="0" anchor="t">
            <a:spAutoFit/>
          </a:bodyPr>
          <a:lstStyle/>
          <a:p>
            <a:pPr algn="l">
              <a:lnSpc>
                <a:spcPct val="100000"/>
              </a:lnSpc>
            </a:pPr>
            <a:r>
              <a:rPr sz="1000" b="0" i="1">
                <a:solidFill>
                  <a:srgbClr val="9FB0C2"/>
                </a:solidFill>
                <a:latin typeface="Calibri"/>
              </a:rPr>
              <a:t>Prepared by the SEO team  ·  Confidential — for client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WHERE THE ACCOUNT STANDS</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700" b="1" i="0">
                <a:solidFill>
                  <a:srgbClr val="1B3A5C"/>
                </a:solidFill>
                <a:latin typeface="Calibri"/>
              </a:rPr>
              <a:t>Executive Summary</a:t>
            </a:r>
          </a:p>
        </p:txBody>
      </p:sp>
      <p:sp>
        <p:nvSpPr>
          <p:cNvPr id="5" name="Rectangle 4"/>
          <p:cNvSpPr/>
          <p:nvPr/>
        </p:nvSpPr>
        <p:spPr>
          <a:xfrm>
            <a:off x="566928" y="1225296"/>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11064240" cy="566928"/>
          </a:xfrm>
          <a:prstGeom prst="rect">
            <a:avLst/>
          </a:prstGeom>
          <a:noFill/>
        </p:spPr>
        <p:txBody>
          <a:bodyPr wrap="square" lIns="0" rIns="0" tIns="0" bIns="0" anchor="t">
            <a:spAutoFit/>
          </a:bodyPr>
          <a:lstStyle/>
          <a:p>
            <a:pPr algn="l">
              <a:lnSpc>
                <a:spcPct val="108000"/>
              </a:lnSpc>
            </a:pPr>
            <a:r>
              <a:rPr sz="1500" b="1" i="0">
                <a:solidFill>
                  <a:srgbClr val="1B3A5C"/>
                </a:solidFill>
                <a:latin typeface="Calibri"/>
              </a:rPr>
              <a:t>Search visibility is growing quickly. The constraint is no longer traffic — it is converting that traffic into qualified enquiries.</a:t>
            </a:r>
          </a:p>
        </p:txBody>
      </p:sp>
      <p:sp>
        <p:nvSpPr>
          <p:cNvPr id="7" name="Rectangle 6"/>
          <p:cNvSpPr/>
          <p:nvPr/>
        </p:nvSpPr>
        <p:spPr>
          <a:xfrm>
            <a:off x="566928" y="2029968"/>
            <a:ext cx="2615184"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029968"/>
            <a:ext cx="44450" cy="1335024"/>
          </a:xfrm>
          <a:prstGeom prst="rect">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176272"/>
            <a:ext cx="2304288" cy="475488"/>
          </a:xfrm>
          <a:prstGeom prst="rect">
            <a:avLst/>
          </a:prstGeom>
          <a:noFill/>
        </p:spPr>
        <p:txBody>
          <a:bodyPr wrap="square" lIns="0" rIns="0" tIns="0" bIns="0" anchor="t">
            <a:spAutoFit/>
          </a:bodyPr>
          <a:lstStyle/>
          <a:p>
            <a:pPr algn="l">
              <a:lnSpc>
                <a:spcPct val="100000"/>
              </a:lnSpc>
            </a:pPr>
            <a:r>
              <a:rPr sz="2500" b="1" i="0">
                <a:solidFill>
                  <a:srgbClr val="2F5233"/>
                </a:solidFill>
                <a:latin typeface="Calibri"/>
              </a:rPr>
              <a:t>+83.2%</a:t>
            </a:r>
          </a:p>
        </p:txBody>
      </p:sp>
      <p:sp>
        <p:nvSpPr>
          <p:cNvPr id="10" name="TextBox 9"/>
          <p:cNvSpPr txBox="1"/>
          <p:nvPr/>
        </p:nvSpPr>
        <p:spPr>
          <a:xfrm>
            <a:off x="749808" y="2670048"/>
            <a:ext cx="2304288" cy="274320"/>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Organic clicks</a:t>
            </a:r>
          </a:p>
        </p:txBody>
      </p:sp>
      <p:sp>
        <p:nvSpPr>
          <p:cNvPr id="11" name="TextBox 10"/>
          <p:cNvSpPr txBox="1"/>
          <p:nvPr/>
        </p:nvSpPr>
        <p:spPr>
          <a:xfrm>
            <a:off x="749808" y="2926080"/>
            <a:ext cx="2304288" cy="384048"/>
          </a:xfrm>
          <a:prstGeom prst="rect">
            <a:avLst/>
          </a:prstGeom>
          <a:noFill/>
        </p:spPr>
        <p:txBody>
          <a:bodyPr wrap="square" lIns="0" rIns="0" tIns="0" bIns="0" anchor="t">
            <a:spAutoFit/>
          </a:bodyPr>
          <a:lstStyle/>
          <a:p>
            <a:pPr algn="l">
              <a:lnSpc>
                <a:spcPct val="92000"/>
              </a:lnSpc>
            </a:pPr>
            <a:r>
              <a:rPr sz="850" b="0" i="0">
                <a:solidFill>
                  <a:srgbClr val="6B7280"/>
                </a:solidFill>
                <a:latin typeface="Calibri"/>
              </a:rPr>
              <a:t>Last 30 days vs first 30</a:t>
            </a:r>
          </a:p>
          <a:p>
            <a:pPr algn="l">
              <a:lnSpc>
                <a:spcPct val="92000"/>
              </a:lnSpc>
            </a:pPr>
            <a:r>
              <a:rPr sz="850" b="0" i="0">
                <a:solidFill>
                  <a:srgbClr val="6B7280"/>
                </a:solidFill>
                <a:latin typeface="Calibri"/>
              </a:rPr>
              <a:t>826 → 1,513 clicks</a:t>
            </a:r>
          </a:p>
        </p:txBody>
      </p:sp>
      <p:sp>
        <p:nvSpPr>
          <p:cNvPr id="12" name="Rectangle 11"/>
          <p:cNvSpPr/>
          <p:nvPr/>
        </p:nvSpPr>
        <p:spPr>
          <a:xfrm>
            <a:off x="3383280" y="2029968"/>
            <a:ext cx="2615184"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83280" y="2029968"/>
            <a:ext cx="44450" cy="1335024"/>
          </a:xfrm>
          <a:prstGeom prst="rect">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2176272"/>
            <a:ext cx="2304288" cy="475488"/>
          </a:xfrm>
          <a:prstGeom prst="rect">
            <a:avLst/>
          </a:prstGeom>
          <a:noFill/>
        </p:spPr>
        <p:txBody>
          <a:bodyPr wrap="square" lIns="0" rIns="0" tIns="0" bIns="0" anchor="t">
            <a:spAutoFit/>
          </a:bodyPr>
          <a:lstStyle/>
          <a:p>
            <a:pPr algn="l">
              <a:lnSpc>
                <a:spcPct val="100000"/>
              </a:lnSpc>
            </a:pPr>
            <a:r>
              <a:rPr sz="2500" b="1" i="0">
                <a:solidFill>
                  <a:srgbClr val="2F5233"/>
                </a:solidFill>
                <a:latin typeface="Calibri"/>
              </a:rPr>
              <a:t>+49.7%</a:t>
            </a:r>
          </a:p>
        </p:txBody>
      </p:sp>
      <p:sp>
        <p:nvSpPr>
          <p:cNvPr id="15" name="TextBox 14"/>
          <p:cNvSpPr txBox="1"/>
          <p:nvPr/>
        </p:nvSpPr>
        <p:spPr>
          <a:xfrm>
            <a:off x="3566160" y="2670048"/>
            <a:ext cx="2304288" cy="274320"/>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Impressions</a:t>
            </a:r>
          </a:p>
        </p:txBody>
      </p:sp>
      <p:sp>
        <p:nvSpPr>
          <p:cNvPr id="16" name="TextBox 15"/>
          <p:cNvSpPr txBox="1"/>
          <p:nvPr/>
        </p:nvSpPr>
        <p:spPr>
          <a:xfrm>
            <a:off x="3566160" y="2926080"/>
            <a:ext cx="2304288" cy="384048"/>
          </a:xfrm>
          <a:prstGeom prst="rect">
            <a:avLst/>
          </a:prstGeom>
          <a:noFill/>
        </p:spPr>
        <p:txBody>
          <a:bodyPr wrap="square" lIns="0" rIns="0" tIns="0" bIns="0" anchor="t">
            <a:spAutoFit/>
          </a:bodyPr>
          <a:lstStyle/>
          <a:p>
            <a:pPr algn="l">
              <a:lnSpc>
                <a:spcPct val="92000"/>
              </a:lnSpc>
            </a:pPr>
            <a:r>
              <a:rPr sz="850" b="0" i="0">
                <a:solidFill>
                  <a:srgbClr val="6B7280"/>
                </a:solidFill>
                <a:latin typeface="Calibri"/>
              </a:rPr>
              <a:t>98,800 → 147,877</a:t>
            </a:r>
          </a:p>
          <a:p>
            <a:pPr algn="l">
              <a:lnSpc>
                <a:spcPct val="92000"/>
              </a:lnSpc>
            </a:pPr>
            <a:r>
              <a:rPr sz="850" b="0" i="0">
                <a:solidFill>
                  <a:srgbClr val="6B7280"/>
                </a:solidFill>
                <a:latin typeface="Calibri"/>
              </a:rPr>
              <a:t>Visibility expanding fast</a:t>
            </a:r>
          </a:p>
        </p:txBody>
      </p:sp>
      <p:sp>
        <p:nvSpPr>
          <p:cNvPr id="17" name="Rectangle 16"/>
          <p:cNvSpPr/>
          <p:nvPr/>
        </p:nvSpPr>
        <p:spPr>
          <a:xfrm>
            <a:off x="6199632" y="2029968"/>
            <a:ext cx="2615184"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2" y="2029968"/>
            <a:ext cx="44450" cy="1335024"/>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2176272"/>
            <a:ext cx="2304288" cy="475488"/>
          </a:xfrm>
          <a:prstGeom prst="rect">
            <a:avLst/>
          </a:prstGeom>
          <a:noFill/>
        </p:spPr>
        <p:txBody>
          <a:bodyPr wrap="square" lIns="0" rIns="0" tIns="0" bIns="0" anchor="t">
            <a:spAutoFit/>
          </a:bodyPr>
          <a:lstStyle/>
          <a:p>
            <a:pPr algn="l">
              <a:lnSpc>
                <a:spcPct val="100000"/>
              </a:lnSpc>
            </a:pPr>
            <a:r>
              <a:rPr sz="2500" b="1" i="0">
                <a:solidFill>
                  <a:srgbClr val="1B3A5C"/>
                </a:solidFill>
                <a:latin typeface="Calibri"/>
              </a:rPr>
              <a:t>7.84</a:t>
            </a:r>
          </a:p>
        </p:txBody>
      </p:sp>
      <p:sp>
        <p:nvSpPr>
          <p:cNvPr id="20" name="TextBox 19"/>
          <p:cNvSpPr txBox="1"/>
          <p:nvPr/>
        </p:nvSpPr>
        <p:spPr>
          <a:xfrm>
            <a:off x="6382512" y="2670048"/>
            <a:ext cx="2304288" cy="274320"/>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Avg. position</a:t>
            </a:r>
          </a:p>
        </p:txBody>
      </p:sp>
      <p:sp>
        <p:nvSpPr>
          <p:cNvPr id="21" name="TextBox 20"/>
          <p:cNvSpPr txBox="1"/>
          <p:nvPr/>
        </p:nvSpPr>
        <p:spPr>
          <a:xfrm>
            <a:off x="6382512" y="2926080"/>
            <a:ext cx="2304288" cy="384048"/>
          </a:xfrm>
          <a:prstGeom prst="rect">
            <a:avLst/>
          </a:prstGeom>
          <a:noFill/>
        </p:spPr>
        <p:txBody>
          <a:bodyPr wrap="square" lIns="0" rIns="0" tIns="0" bIns="0" anchor="t">
            <a:spAutoFit/>
          </a:bodyPr>
          <a:lstStyle/>
          <a:p>
            <a:pPr algn="l">
              <a:lnSpc>
                <a:spcPct val="92000"/>
              </a:lnSpc>
            </a:pPr>
            <a:r>
              <a:rPr sz="850" b="0" i="0">
                <a:solidFill>
                  <a:srgbClr val="6B7280"/>
                </a:solidFill>
                <a:latin typeface="Calibri"/>
              </a:rPr>
              <a:t>Improved 0.78 positions</a:t>
            </a:r>
          </a:p>
          <a:p>
            <a:pPr algn="l">
              <a:lnSpc>
                <a:spcPct val="92000"/>
              </a:lnSpc>
            </a:pPr>
            <a:r>
              <a:rPr sz="850" b="0" i="0">
                <a:solidFill>
                  <a:srgbClr val="6B7280"/>
                </a:solidFill>
                <a:latin typeface="Calibri"/>
              </a:rPr>
              <a:t>Many results on page one</a:t>
            </a:r>
          </a:p>
        </p:txBody>
      </p:sp>
      <p:sp>
        <p:nvSpPr>
          <p:cNvPr id="22" name="Rectangle 21"/>
          <p:cNvSpPr/>
          <p:nvPr/>
        </p:nvSpPr>
        <p:spPr>
          <a:xfrm>
            <a:off x="9015984" y="2029968"/>
            <a:ext cx="2615184"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15984" y="2029968"/>
            <a:ext cx="44450" cy="1335024"/>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98864" y="2176272"/>
            <a:ext cx="2304288" cy="475488"/>
          </a:xfrm>
          <a:prstGeom prst="rect">
            <a:avLst/>
          </a:prstGeom>
          <a:noFill/>
        </p:spPr>
        <p:txBody>
          <a:bodyPr wrap="square" lIns="0" rIns="0" tIns="0" bIns="0" anchor="t">
            <a:spAutoFit/>
          </a:bodyPr>
          <a:lstStyle/>
          <a:p>
            <a:pPr algn="l">
              <a:lnSpc>
                <a:spcPct val="100000"/>
              </a:lnSpc>
            </a:pPr>
            <a:r>
              <a:rPr sz="2500" b="1" i="0">
                <a:solidFill>
                  <a:srgbClr val="C99B3B"/>
                </a:solidFill>
                <a:latin typeface="Calibri"/>
              </a:rPr>
              <a:t>0.93%</a:t>
            </a:r>
          </a:p>
        </p:txBody>
      </p:sp>
      <p:sp>
        <p:nvSpPr>
          <p:cNvPr id="25" name="TextBox 24"/>
          <p:cNvSpPr txBox="1"/>
          <p:nvPr/>
        </p:nvSpPr>
        <p:spPr>
          <a:xfrm>
            <a:off x="9198864" y="2670048"/>
            <a:ext cx="2304288" cy="274320"/>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Click-through rate</a:t>
            </a:r>
          </a:p>
        </p:txBody>
      </p:sp>
      <p:sp>
        <p:nvSpPr>
          <p:cNvPr id="26" name="TextBox 25"/>
          <p:cNvSpPr txBox="1"/>
          <p:nvPr/>
        </p:nvSpPr>
        <p:spPr>
          <a:xfrm>
            <a:off x="9198864" y="2926080"/>
            <a:ext cx="2304288" cy="384048"/>
          </a:xfrm>
          <a:prstGeom prst="rect">
            <a:avLst/>
          </a:prstGeom>
          <a:noFill/>
        </p:spPr>
        <p:txBody>
          <a:bodyPr wrap="square" lIns="0" rIns="0" tIns="0" bIns="0" anchor="t">
            <a:spAutoFit/>
          </a:bodyPr>
          <a:lstStyle/>
          <a:p>
            <a:pPr algn="l">
              <a:lnSpc>
                <a:spcPct val="92000"/>
              </a:lnSpc>
            </a:pPr>
            <a:r>
              <a:rPr sz="850" b="0" i="0">
                <a:solidFill>
                  <a:srgbClr val="6B7280"/>
                </a:solidFill>
                <a:latin typeface="Calibri"/>
              </a:rPr>
              <a:t>The single biggest</a:t>
            </a:r>
          </a:p>
          <a:p>
            <a:pPr algn="l">
              <a:lnSpc>
                <a:spcPct val="92000"/>
              </a:lnSpc>
            </a:pPr>
            <a:r>
              <a:rPr sz="850" b="0" i="0">
                <a:solidFill>
                  <a:srgbClr val="6B7280"/>
                </a:solidFill>
                <a:latin typeface="Calibri"/>
              </a:rPr>
              <a:t>untapped opportunity</a:t>
            </a:r>
          </a:p>
        </p:txBody>
      </p:sp>
      <p:sp>
        <p:nvSpPr>
          <p:cNvPr id="27" name="TextBox 26"/>
          <p:cNvSpPr txBox="1"/>
          <p:nvPr/>
        </p:nvSpPr>
        <p:spPr>
          <a:xfrm>
            <a:off x="566928" y="3602736"/>
            <a:ext cx="11064240" cy="274320"/>
          </a:xfrm>
          <a:prstGeom prst="rect">
            <a:avLst/>
          </a:prstGeom>
          <a:noFill/>
        </p:spPr>
        <p:txBody>
          <a:bodyPr wrap="square" lIns="0" rIns="0" tIns="0" bIns="0" anchor="t">
            <a:spAutoFit/>
          </a:bodyPr>
          <a:lstStyle/>
          <a:p>
            <a:pPr algn="l">
              <a:lnSpc>
                <a:spcPct val="100000"/>
              </a:lnSpc>
            </a:pPr>
            <a:r>
              <a:rPr sz="1400" b="1" i="0">
                <a:solidFill>
                  <a:srgbClr val="1B3A5C"/>
                </a:solidFill>
                <a:latin typeface="Calibri"/>
              </a:rPr>
              <a:t>Three constraints are holding enquiries back</a:t>
            </a:r>
          </a:p>
        </p:txBody>
      </p:sp>
      <p:graphicFrame>
        <p:nvGraphicFramePr>
          <p:cNvPr id="28" name="Table 27"/>
          <p:cNvGraphicFramePr>
            <a:graphicFrameLocks noGrp="1"/>
          </p:cNvGraphicFramePr>
          <p:nvPr/>
        </p:nvGraphicFramePr>
        <p:xfrm>
          <a:off x="566928" y="3950208"/>
          <a:ext cx="11064240" cy="1261872"/>
        </p:xfrm>
        <a:graphic>
          <a:graphicData uri="http://schemas.openxmlformats.org/drawingml/2006/table">
            <a:tbl>
              <a:tblPr firstRow="1" bandRow="1">
                <a:tableStyleId>{5C22544A-7EE6-4342-B048-85BDC9FD1C3A}</a:tableStyleId>
              </a:tblPr>
              <a:tblGrid>
                <a:gridCol w="402336"/>
                <a:gridCol w="4041648"/>
                <a:gridCol w="4974336"/>
                <a:gridCol w="1645920"/>
              </a:tblGrid>
              <a:tr h="329184">
                <a:tc>
                  <a:txBody>
                    <a:bodyPr wrap="square"/>
                    <a:lstStyle/>
                    <a:p>
                      <a:pPr algn="ctr"/>
                      <a:r>
                        <a:rPr sz="1050" b="1">
                          <a:solidFill>
                            <a:srgbClr val="FFFFFF"/>
                          </a:solidFill>
                          <a:latin typeface="Calibri"/>
                        </a:rPr>
                        <a:t>#</a:t>
                      </a:r>
                    </a:p>
                  </a:txBody>
                  <a:tcPr marL="82296" marR="64008" marT="27432" marB="27432" anchor="ctr">
                    <a:solidFill>
                      <a:srgbClr val="1B3A5C"/>
                    </a:solidFill>
                  </a:tcPr>
                </a:tc>
                <a:tc>
                  <a:txBody>
                    <a:bodyPr wrap="square"/>
                    <a:lstStyle/>
                    <a:p>
                      <a:r>
                        <a:rPr sz="1050" b="1">
                          <a:solidFill>
                            <a:srgbClr val="FFFFFF"/>
                          </a:solidFill>
                          <a:latin typeface="Calibri"/>
                        </a:rPr>
                        <a:t>Constraint identified</a:t>
                      </a:r>
                    </a:p>
                  </a:txBody>
                  <a:tcPr marL="82296" marR="64008" marT="27432" marB="27432" anchor="ctr">
                    <a:solidFill>
                      <a:srgbClr val="1B3A5C"/>
                    </a:solidFill>
                  </a:tcPr>
                </a:tc>
                <a:tc>
                  <a:txBody>
                    <a:bodyPr wrap="square"/>
                    <a:lstStyle/>
                    <a:p>
                      <a:r>
                        <a:rPr sz="1050" b="1">
                          <a:solidFill>
                            <a:srgbClr val="FFFFFF"/>
                          </a:solidFill>
                          <a:latin typeface="Calibri"/>
                        </a:rPr>
                        <a:t>Business impact</a:t>
                      </a:r>
                    </a:p>
                  </a:txBody>
                  <a:tcPr marL="82296" marR="64008" marT="27432" marB="27432" anchor="ctr">
                    <a:solidFill>
                      <a:srgbClr val="1B3A5C"/>
                    </a:solidFill>
                  </a:tcPr>
                </a:tc>
                <a:tc>
                  <a:txBody>
                    <a:bodyPr wrap="square"/>
                    <a:lstStyle/>
                    <a:p>
                      <a:pPr algn="ctr"/>
                      <a:r>
                        <a:rPr sz="1050" b="1">
                          <a:solidFill>
                            <a:srgbClr val="FFFFFF"/>
                          </a:solidFill>
                          <a:latin typeface="Calibri"/>
                        </a:rPr>
                        <a:t>Severity</a:t>
                      </a:r>
                    </a:p>
                  </a:txBody>
                  <a:tcPr marL="82296" marR="64008" marT="27432" marB="27432" anchor="ctr">
                    <a:solidFill>
                      <a:srgbClr val="1B3A5C"/>
                    </a:solidFill>
                  </a:tcPr>
                </a:tc>
              </a:tr>
              <a:tr h="310896">
                <a:tc>
                  <a:txBody>
                    <a:bodyPr wrap="square"/>
                    <a:lstStyle/>
                    <a:p>
                      <a:pPr algn="ctr"/>
                      <a:r>
                        <a:rPr sz="1050" b="0">
                          <a:solidFill>
                            <a:srgbClr val="1A1D23"/>
                          </a:solidFill>
                          <a:latin typeface="Calibri"/>
                        </a:rPr>
                        <a:t>1</a:t>
                      </a:r>
                    </a:p>
                  </a:txBody>
                  <a:tcPr marL="82296" marR="64008" marT="27432" marB="27432" anchor="ctr">
                    <a:solidFill>
                      <a:srgbClr val="FFFFFF"/>
                    </a:solidFill>
                  </a:tcPr>
                </a:tc>
                <a:tc>
                  <a:txBody>
                    <a:bodyPr wrap="square"/>
                    <a:lstStyle/>
                    <a:p>
                      <a:r>
                        <a:rPr sz="1050" b="0">
                          <a:solidFill>
                            <a:srgbClr val="1A1D23"/>
                          </a:solidFill>
                          <a:latin typeface="Calibri"/>
                        </a:rPr>
                        <a:t>A priority registration URL redirects prospects to a different CA firm</a:t>
                      </a:r>
                    </a:p>
                  </a:txBody>
                  <a:tcPr marL="82296" marR="64008" marT="27432" marB="27432" anchor="ctr">
                    <a:solidFill>
                      <a:srgbClr val="FFFFFF"/>
                    </a:solidFill>
                  </a:tcPr>
                </a:tc>
                <a:tc>
                  <a:txBody>
                    <a:bodyPr wrap="square"/>
                    <a:lstStyle/>
                    <a:p>
                      <a:r>
                        <a:rPr sz="1050" b="0">
                          <a:solidFill>
                            <a:srgbClr val="1A1D23"/>
                          </a:solidFill>
                          <a:latin typeface="Calibri"/>
                        </a:rPr>
                        <a:t>Company-registration leads and SEO value are leaving the business</a:t>
                      </a:r>
                    </a:p>
                  </a:txBody>
                  <a:tcPr marL="82296" marR="64008" marT="27432" marB="27432" anchor="ctr">
                    <a:solidFill>
                      <a:srgbClr val="FFFFFF"/>
                    </a:solidFill>
                  </a:tcPr>
                </a:tc>
                <a:tc>
                  <a:txBody>
                    <a:bodyPr wrap="square"/>
                    <a:lstStyle/>
                    <a:p>
                      <a:pPr algn="ctr"/>
                      <a:r>
                        <a:rPr sz="1050" b="1">
                          <a:solidFill>
                            <a:srgbClr val="B3261E"/>
                          </a:solidFill>
                          <a:latin typeface="Calibri"/>
                        </a:rPr>
                        <a:t>CRITICAL</a:t>
                      </a:r>
                    </a:p>
                  </a:txBody>
                  <a:tcPr marL="82296" marR="64008" marT="27432" marB="27432" anchor="ctr">
                    <a:solidFill>
                      <a:srgbClr val="FFFFFF"/>
                    </a:solidFill>
                  </a:tcPr>
                </a:tc>
              </a:tr>
              <a:tr h="310896">
                <a:tc>
                  <a:txBody>
                    <a:bodyPr wrap="square"/>
                    <a:lstStyle/>
                    <a:p>
                      <a:pPr algn="ctr"/>
                      <a:r>
                        <a:rPr sz="1050" b="0">
                          <a:solidFill>
                            <a:srgbClr val="1A1D23"/>
                          </a:solidFill>
                          <a:latin typeface="Calibri"/>
                        </a:rPr>
                        <a:t>2</a:t>
                      </a:r>
                    </a:p>
                  </a:txBody>
                  <a:tcPr marL="82296" marR="64008" marT="27432" marB="27432" anchor="ctr">
                    <a:solidFill>
                      <a:srgbClr val="ECEFF3"/>
                    </a:solidFill>
                  </a:tcPr>
                </a:tc>
                <a:tc>
                  <a:txBody>
                    <a:bodyPr wrap="square"/>
                    <a:lstStyle/>
                    <a:p>
                      <a:r>
                        <a:rPr sz="1050" b="0">
                          <a:solidFill>
                            <a:srgbClr val="1A1D23"/>
                          </a:solidFill>
                          <a:latin typeface="Calibri"/>
                        </a:rPr>
                        <a:t>Conversion tracking is not trustworthy</a:t>
                      </a:r>
                    </a:p>
                  </a:txBody>
                  <a:tcPr marL="82296" marR="64008" marT="27432" marB="27432" anchor="ctr">
                    <a:solidFill>
                      <a:srgbClr val="ECEFF3"/>
                    </a:solidFill>
                  </a:tcPr>
                </a:tc>
                <a:tc>
                  <a:txBody>
                    <a:bodyPr wrap="square"/>
                    <a:lstStyle/>
                    <a:p>
                      <a:r>
                        <a:rPr sz="1050" b="0">
                          <a:solidFill>
                            <a:srgbClr val="1A1D23"/>
                          </a:solidFill>
                          <a:latin typeface="Calibri"/>
                        </a:rPr>
                        <a:t>WhatsApp enquiries are overcounted; form success is not measured at all</a:t>
                      </a:r>
                    </a:p>
                  </a:txBody>
                  <a:tcPr marL="82296" marR="64008" marT="27432" marB="27432" anchor="ctr">
                    <a:solidFill>
                      <a:srgbClr val="ECEFF3"/>
                    </a:solidFill>
                  </a:tcPr>
                </a:tc>
                <a:tc>
                  <a:txBody>
                    <a:bodyPr wrap="square"/>
                    <a:lstStyle/>
                    <a:p>
                      <a:pPr algn="ctr"/>
                      <a:r>
                        <a:rPr sz="1050" b="1">
                          <a:solidFill>
                            <a:srgbClr val="B3261E"/>
                          </a:solidFill>
                          <a:latin typeface="Calibri"/>
                        </a:rPr>
                        <a:t>CRITICAL</a:t>
                      </a:r>
                    </a:p>
                  </a:txBody>
                  <a:tcPr marL="82296" marR="64008" marT="27432" marB="27432" anchor="ctr">
                    <a:solidFill>
                      <a:srgbClr val="ECEFF3"/>
                    </a:solidFill>
                  </a:tcPr>
                </a:tc>
              </a:tr>
              <a:tr h="310896">
                <a:tc>
                  <a:txBody>
                    <a:bodyPr wrap="square"/>
                    <a:lstStyle/>
                    <a:p>
                      <a:pPr algn="ctr"/>
                      <a:r>
                        <a:rPr sz="1050" b="0">
                          <a:solidFill>
                            <a:srgbClr val="1A1D23"/>
                          </a:solidFill>
                          <a:latin typeface="Calibri"/>
                        </a:rPr>
                        <a:t>3</a:t>
                      </a:r>
                    </a:p>
                  </a:txBody>
                  <a:tcPr marL="82296" marR="64008" marT="27432" marB="27432" anchor="ctr">
                    <a:solidFill>
                      <a:srgbClr val="FFFFFF"/>
                    </a:solidFill>
                  </a:tcPr>
                </a:tc>
                <a:tc>
                  <a:txBody>
                    <a:bodyPr wrap="square"/>
                    <a:lstStyle/>
                    <a:p>
                      <a:r>
                        <a:rPr sz="1050" b="0">
                          <a:solidFill>
                            <a:srgbClr val="1A1D23"/>
                          </a:solidFill>
                          <a:latin typeface="Calibri"/>
                        </a:rPr>
                        <a:t>High-visibility pages under-convert the attention they already earn</a:t>
                      </a:r>
                    </a:p>
                  </a:txBody>
                  <a:tcPr marL="82296" marR="64008" marT="27432" marB="27432" anchor="ctr">
                    <a:solidFill>
                      <a:srgbClr val="FFFFFF"/>
                    </a:solidFill>
                  </a:tcPr>
                </a:tc>
                <a:tc>
                  <a:txBody>
                    <a:bodyPr wrap="square"/>
                    <a:lstStyle/>
                    <a:p>
                      <a:r>
                        <a:rPr sz="1050" b="0">
                          <a:solidFill>
                            <a:srgbClr val="1A1D23"/>
                          </a:solidFill>
                          <a:latin typeface="Calibri"/>
                        </a:rPr>
                        <a:t>Pages rank and get seen, but win few clicks and weak journeys</a:t>
                      </a:r>
                    </a:p>
                  </a:txBody>
                  <a:tcPr marL="82296" marR="64008" marT="27432" marB="27432" anchor="ctr">
                    <a:solidFill>
                      <a:srgbClr val="FFFFFF"/>
                    </a:solidFill>
                  </a:tcPr>
                </a:tc>
                <a:tc>
                  <a:txBody>
                    <a:bodyPr wrap="square"/>
                    <a:lstStyle/>
                    <a:p>
                      <a:pPr algn="ctr"/>
                      <a:r>
                        <a:rPr sz="1050" b="1">
                          <a:solidFill>
                            <a:srgbClr val="D2691E"/>
                          </a:solidFill>
                          <a:latin typeface="Calibri"/>
                        </a:rPr>
                        <a:t>HIGH</a:t>
                      </a:r>
                    </a:p>
                  </a:txBody>
                  <a:tcPr marL="82296" marR="64008" marT="27432" marB="27432" anchor="ctr">
                    <a:solidFill>
                      <a:srgbClr val="FFFFFF"/>
                    </a:solidFill>
                  </a:tcPr>
                </a:tc>
              </a:tr>
            </a:tbl>
          </a:graphicData>
        </a:graphic>
      </p:graphicFrame>
      <p:sp>
        <p:nvSpPr>
          <p:cNvPr id="29" name="Rectangle 28"/>
          <p:cNvSpPr/>
          <p:nvPr/>
        </p:nvSpPr>
        <p:spPr>
          <a:xfrm>
            <a:off x="566928" y="5596128"/>
            <a:ext cx="11064240" cy="56692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596128"/>
            <a:ext cx="44450" cy="566928"/>
          </a:xfrm>
          <a:prstGeom prst="rect">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687568"/>
            <a:ext cx="10753344" cy="420624"/>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The good news: this is not an indexing or penalty problem. The site is indexed, the sitemap is valid, HTTPS is enforced, and organic search already supplies 81.7% of all sessions. Fixing lead leakage and measurement first will convert existing growth into enquiries.</a:t>
            </a:r>
          </a:p>
        </p:txBody>
      </p:sp>
      <p:sp>
        <p:nvSpPr>
          <p:cNvPr id="32" name="Rectangle 31"/>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6437376"/>
            <a:ext cx="731520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a:t>
            </a:r>
          </a:p>
        </p:txBody>
      </p:sp>
      <p:sp>
        <p:nvSpPr>
          <p:cNvPr id="34" name="TextBox 33"/>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VERIFIED BASELINE · GOOGLE SEARCH CONSOLE &amp; GA4</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700" b="1" i="0">
                <a:solidFill>
                  <a:srgbClr val="1B3A5C"/>
                </a:solidFill>
                <a:latin typeface="Calibri"/>
              </a:rPr>
              <a:t>Performance Dashboard</a:t>
            </a:r>
          </a:p>
        </p:txBody>
      </p:sp>
      <p:sp>
        <p:nvSpPr>
          <p:cNvPr id="5" name="Rectangle 4"/>
          <p:cNvSpPr/>
          <p:nvPr/>
        </p:nvSpPr>
        <p:spPr>
          <a:xfrm>
            <a:off x="566928" y="1225296"/>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71600"/>
            <a:ext cx="1737360" cy="128016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71600"/>
            <a:ext cx="44450" cy="12801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17904"/>
            <a:ext cx="1426464" cy="475488"/>
          </a:xfrm>
          <a:prstGeom prst="rect">
            <a:avLst/>
          </a:prstGeom>
          <a:noFill/>
        </p:spPr>
        <p:txBody>
          <a:bodyPr wrap="square" lIns="0" rIns="0" tIns="0" bIns="0" anchor="t">
            <a:spAutoFit/>
          </a:bodyPr>
          <a:lstStyle/>
          <a:p>
            <a:pPr algn="l">
              <a:lnSpc>
                <a:spcPct val="100000"/>
              </a:lnSpc>
            </a:pPr>
            <a:r>
              <a:rPr sz="2500" b="1" i="0">
                <a:solidFill>
                  <a:srgbClr val="1B3A5C"/>
                </a:solidFill>
                <a:latin typeface="Calibri"/>
              </a:rPr>
              <a:t>3,744</a:t>
            </a:r>
          </a:p>
        </p:txBody>
      </p:sp>
      <p:sp>
        <p:nvSpPr>
          <p:cNvPr id="9" name="TextBox 8"/>
          <p:cNvSpPr txBox="1"/>
          <p:nvPr/>
        </p:nvSpPr>
        <p:spPr>
          <a:xfrm>
            <a:off x="749808" y="2011680"/>
            <a:ext cx="1426464" cy="274320"/>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Organic clicks</a:t>
            </a:r>
          </a:p>
        </p:txBody>
      </p:sp>
      <p:sp>
        <p:nvSpPr>
          <p:cNvPr id="10" name="TextBox 9"/>
          <p:cNvSpPr txBox="1"/>
          <p:nvPr/>
        </p:nvSpPr>
        <p:spPr>
          <a:xfrm>
            <a:off x="749808" y="2267712"/>
            <a:ext cx="1426464" cy="384048"/>
          </a:xfrm>
          <a:prstGeom prst="rect">
            <a:avLst/>
          </a:prstGeom>
          <a:noFill/>
        </p:spPr>
        <p:txBody>
          <a:bodyPr wrap="square" lIns="0" rIns="0" tIns="0" bIns="0" anchor="t">
            <a:spAutoFit/>
          </a:bodyPr>
          <a:lstStyle/>
          <a:p>
            <a:pPr algn="l">
              <a:lnSpc>
                <a:spcPct val="92000"/>
              </a:lnSpc>
            </a:pPr>
            <a:r>
              <a:rPr sz="850" b="0" i="0">
                <a:solidFill>
                  <a:srgbClr val="6B7280"/>
                </a:solidFill>
                <a:latin typeface="Calibri"/>
              </a:rPr>
              <a:t>Last 90 days</a:t>
            </a:r>
          </a:p>
        </p:txBody>
      </p:sp>
      <p:sp>
        <p:nvSpPr>
          <p:cNvPr id="11" name="Rectangle 10"/>
          <p:cNvSpPr/>
          <p:nvPr/>
        </p:nvSpPr>
        <p:spPr>
          <a:xfrm>
            <a:off x="2414016" y="1371600"/>
            <a:ext cx="1737360" cy="128016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4016" y="1371600"/>
            <a:ext cx="44450" cy="12801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96896" y="1517904"/>
            <a:ext cx="1426464" cy="475488"/>
          </a:xfrm>
          <a:prstGeom prst="rect">
            <a:avLst/>
          </a:prstGeom>
          <a:noFill/>
        </p:spPr>
        <p:txBody>
          <a:bodyPr wrap="square" lIns="0" rIns="0" tIns="0" bIns="0" anchor="t">
            <a:spAutoFit/>
          </a:bodyPr>
          <a:lstStyle/>
          <a:p>
            <a:pPr algn="l">
              <a:lnSpc>
                <a:spcPct val="100000"/>
              </a:lnSpc>
            </a:pPr>
            <a:r>
              <a:rPr sz="2500" b="1" i="0">
                <a:solidFill>
                  <a:srgbClr val="1B3A5C"/>
                </a:solidFill>
                <a:latin typeface="Calibri"/>
              </a:rPr>
              <a:t>402,561</a:t>
            </a:r>
          </a:p>
        </p:txBody>
      </p:sp>
      <p:sp>
        <p:nvSpPr>
          <p:cNvPr id="14" name="TextBox 13"/>
          <p:cNvSpPr txBox="1"/>
          <p:nvPr/>
        </p:nvSpPr>
        <p:spPr>
          <a:xfrm>
            <a:off x="2596896" y="2011680"/>
            <a:ext cx="1426464" cy="274320"/>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Impressions</a:t>
            </a:r>
          </a:p>
        </p:txBody>
      </p:sp>
      <p:sp>
        <p:nvSpPr>
          <p:cNvPr id="15" name="TextBox 14"/>
          <p:cNvSpPr txBox="1"/>
          <p:nvPr/>
        </p:nvSpPr>
        <p:spPr>
          <a:xfrm>
            <a:off x="2596896" y="2267712"/>
            <a:ext cx="1426464" cy="384048"/>
          </a:xfrm>
          <a:prstGeom prst="rect">
            <a:avLst/>
          </a:prstGeom>
          <a:noFill/>
        </p:spPr>
        <p:txBody>
          <a:bodyPr wrap="square" lIns="0" rIns="0" tIns="0" bIns="0" anchor="t">
            <a:spAutoFit/>
          </a:bodyPr>
          <a:lstStyle/>
          <a:p>
            <a:pPr algn="l">
              <a:lnSpc>
                <a:spcPct val="92000"/>
              </a:lnSpc>
            </a:pPr>
            <a:r>
              <a:rPr sz="850" b="0" i="0">
                <a:solidFill>
                  <a:srgbClr val="6B7280"/>
                </a:solidFill>
                <a:latin typeface="Calibri"/>
              </a:rPr>
              <a:t>Last 90 days</a:t>
            </a:r>
          </a:p>
        </p:txBody>
      </p:sp>
      <p:sp>
        <p:nvSpPr>
          <p:cNvPr id="16" name="Rectangle 15"/>
          <p:cNvSpPr/>
          <p:nvPr/>
        </p:nvSpPr>
        <p:spPr>
          <a:xfrm>
            <a:off x="4261104" y="1371600"/>
            <a:ext cx="1737360" cy="128016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61104" y="1371600"/>
            <a:ext cx="44450" cy="128016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3984" y="1517904"/>
            <a:ext cx="1426464" cy="475488"/>
          </a:xfrm>
          <a:prstGeom prst="rect">
            <a:avLst/>
          </a:prstGeom>
          <a:noFill/>
        </p:spPr>
        <p:txBody>
          <a:bodyPr wrap="square" lIns="0" rIns="0" tIns="0" bIns="0" anchor="t">
            <a:spAutoFit/>
          </a:bodyPr>
          <a:lstStyle/>
          <a:p>
            <a:pPr algn="l">
              <a:lnSpc>
                <a:spcPct val="100000"/>
              </a:lnSpc>
            </a:pPr>
            <a:r>
              <a:rPr sz="2500" b="1" i="0">
                <a:solidFill>
                  <a:srgbClr val="C99B3B"/>
                </a:solidFill>
                <a:latin typeface="Calibri"/>
              </a:rPr>
              <a:t>0.93%</a:t>
            </a:r>
          </a:p>
        </p:txBody>
      </p:sp>
      <p:sp>
        <p:nvSpPr>
          <p:cNvPr id="19" name="TextBox 18"/>
          <p:cNvSpPr txBox="1"/>
          <p:nvPr/>
        </p:nvSpPr>
        <p:spPr>
          <a:xfrm>
            <a:off x="4443984" y="2011680"/>
            <a:ext cx="1426464" cy="274320"/>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Average CTR</a:t>
            </a:r>
          </a:p>
        </p:txBody>
      </p:sp>
      <p:sp>
        <p:nvSpPr>
          <p:cNvPr id="20" name="TextBox 19"/>
          <p:cNvSpPr txBox="1"/>
          <p:nvPr/>
        </p:nvSpPr>
        <p:spPr>
          <a:xfrm>
            <a:off x="4443984" y="2267712"/>
            <a:ext cx="1426464" cy="384048"/>
          </a:xfrm>
          <a:prstGeom prst="rect">
            <a:avLst/>
          </a:prstGeom>
          <a:noFill/>
        </p:spPr>
        <p:txBody>
          <a:bodyPr wrap="square" lIns="0" rIns="0" tIns="0" bIns="0" anchor="t">
            <a:spAutoFit/>
          </a:bodyPr>
          <a:lstStyle/>
          <a:p>
            <a:pPr algn="l">
              <a:lnSpc>
                <a:spcPct val="92000"/>
              </a:lnSpc>
            </a:pPr>
            <a:r>
              <a:rPr sz="850" b="0" i="0">
                <a:solidFill>
                  <a:srgbClr val="6B7280"/>
                </a:solidFill>
                <a:latin typeface="Calibri"/>
              </a:rPr>
              <a:t>Opportunity area</a:t>
            </a:r>
          </a:p>
        </p:txBody>
      </p:sp>
      <p:sp>
        <p:nvSpPr>
          <p:cNvPr id="21" name="Rectangle 20"/>
          <p:cNvSpPr/>
          <p:nvPr/>
        </p:nvSpPr>
        <p:spPr>
          <a:xfrm>
            <a:off x="6108192" y="1371600"/>
            <a:ext cx="1737360" cy="128016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08192" y="1371600"/>
            <a:ext cx="44450" cy="12801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1072" y="1517904"/>
            <a:ext cx="1426464" cy="475488"/>
          </a:xfrm>
          <a:prstGeom prst="rect">
            <a:avLst/>
          </a:prstGeom>
          <a:noFill/>
        </p:spPr>
        <p:txBody>
          <a:bodyPr wrap="square" lIns="0" rIns="0" tIns="0" bIns="0" anchor="t">
            <a:spAutoFit/>
          </a:bodyPr>
          <a:lstStyle/>
          <a:p>
            <a:pPr algn="l">
              <a:lnSpc>
                <a:spcPct val="100000"/>
              </a:lnSpc>
            </a:pPr>
            <a:r>
              <a:rPr sz="2500" b="1" i="0">
                <a:solidFill>
                  <a:srgbClr val="1B3A5C"/>
                </a:solidFill>
                <a:latin typeface="Calibri"/>
              </a:rPr>
              <a:t>7.84</a:t>
            </a:r>
          </a:p>
        </p:txBody>
      </p:sp>
      <p:sp>
        <p:nvSpPr>
          <p:cNvPr id="24" name="TextBox 23"/>
          <p:cNvSpPr txBox="1"/>
          <p:nvPr/>
        </p:nvSpPr>
        <p:spPr>
          <a:xfrm>
            <a:off x="6291072" y="2011680"/>
            <a:ext cx="1426464" cy="274320"/>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Avg. position</a:t>
            </a:r>
          </a:p>
        </p:txBody>
      </p:sp>
      <p:sp>
        <p:nvSpPr>
          <p:cNvPr id="25" name="TextBox 24"/>
          <p:cNvSpPr txBox="1"/>
          <p:nvPr/>
        </p:nvSpPr>
        <p:spPr>
          <a:xfrm>
            <a:off x="6291072" y="2267712"/>
            <a:ext cx="1426464" cy="384048"/>
          </a:xfrm>
          <a:prstGeom prst="rect">
            <a:avLst/>
          </a:prstGeom>
          <a:noFill/>
        </p:spPr>
        <p:txBody>
          <a:bodyPr wrap="square" lIns="0" rIns="0" tIns="0" bIns="0" anchor="t">
            <a:spAutoFit/>
          </a:bodyPr>
          <a:lstStyle/>
          <a:p>
            <a:pPr algn="l">
              <a:lnSpc>
                <a:spcPct val="92000"/>
              </a:lnSpc>
            </a:pPr>
            <a:r>
              <a:rPr sz="850" b="0" i="0">
                <a:solidFill>
                  <a:srgbClr val="6B7280"/>
                </a:solidFill>
                <a:latin typeface="Calibri"/>
              </a:rPr>
              <a:t>Weighted</a:t>
            </a:r>
          </a:p>
        </p:txBody>
      </p:sp>
      <p:sp>
        <p:nvSpPr>
          <p:cNvPr id="26" name="Rectangle 25"/>
          <p:cNvSpPr/>
          <p:nvPr/>
        </p:nvSpPr>
        <p:spPr>
          <a:xfrm>
            <a:off x="7955280" y="1371600"/>
            <a:ext cx="1737360" cy="128016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55280" y="1371600"/>
            <a:ext cx="44450" cy="12801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60" y="1517904"/>
            <a:ext cx="1426464" cy="475488"/>
          </a:xfrm>
          <a:prstGeom prst="rect">
            <a:avLst/>
          </a:prstGeom>
          <a:noFill/>
        </p:spPr>
        <p:txBody>
          <a:bodyPr wrap="square" lIns="0" rIns="0" tIns="0" bIns="0" anchor="t">
            <a:spAutoFit/>
          </a:bodyPr>
          <a:lstStyle/>
          <a:p>
            <a:pPr algn="l">
              <a:lnSpc>
                <a:spcPct val="100000"/>
              </a:lnSpc>
            </a:pPr>
            <a:r>
              <a:rPr sz="2500" b="1" i="0">
                <a:solidFill>
                  <a:srgbClr val="1B3A5C"/>
                </a:solidFill>
                <a:latin typeface="Calibri"/>
              </a:rPr>
              <a:t>2,533</a:t>
            </a:r>
          </a:p>
        </p:txBody>
      </p:sp>
      <p:sp>
        <p:nvSpPr>
          <p:cNvPr id="29" name="TextBox 28"/>
          <p:cNvSpPr txBox="1"/>
          <p:nvPr/>
        </p:nvSpPr>
        <p:spPr>
          <a:xfrm>
            <a:off x="8138160" y="2011680"/>
            <a:ext cx="1426464" cy="274320"/>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Organic sessions</a:t>
            </a:r>
          </a:p>
        </p:txBody>
      </p:sp>
      <p:sp>
        <p:nvSpPr>
          <p:cNvPr id="30" name="TextBox 29"/>
          <p:cNvSpPr txBox="1"/>
          <p:nvPr/>
        </p:nvSpPr>
        <p:spPr>
          <a:xfrm>
            <a:off x="8138160" y="2267712"/>
            <a:ext cx="1426464" cy="384048"/>
          </a:xfrm>
          <a:prstGeom prst="rect">
            <a:avLst/>
          </a:prstGeom>
          <a:noFill/>
        </p:spPr>
        <p:txBody>
          <a:bodyPr wrap="square" lIns="0" rIns="0" tIns="0" bIns="0" anchor="t">
            <a:spAutoFit/>
          </a:bodyPr>
          <a:lstStyle/>
          <a:p>
            <a:pPr algn="l">
              <a:lnSpc>
                <a:spcPct val="92000"/>
              </a:lnSpc>
            </a:pPr>
            <a:r>
              <a:rPr sz="850" b="0" i="0">
                <a:solidFill>
                  <a:srgbClr val="6B7280"/>
                </a:solidFill>
                <a:latin typeface="Calibri"/>
              </a:rPr>
              <a:t>19 Jul – 25 Aug</a:t>
            </a:r>
          </a:p>
        </p:txBody>
      </p:sp>
      <p:sp>
        <p:nvSpPr>
          <p:cNvPr id="31" name="Rectangle 30"/>
          <p:cNvSpPr/>
          <p:nvPr/>
        </p:nvSpPr>
        <p:spPr>
          <a:xfrm>
            <a:off x="9802368" y="1371600"/>
            <a:ext cx="1737360" cy="128016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02368" y="1371600"/>
            <a:ext cx="44450" cy="1280160"/>
          </a:xfrm>
          <a:prstGeom prst="rect">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85248" y="1517904"/>
            <a:ext cx="1426464" cy="475488"/>
          </a:xfrm>
          <a:prstGeom prst="rect">
            <a:avLst/>
          </a:prstGeom>
          <a:noFill/>
        </p:spPr>
        <p:txBody>
          <a:bodyPr wrap="square" lIns="0" rIns="0" tIns="0" bIns="0" anchor="t">
            <a:spAutoFit/>
          </a:bodyPr>
          <a:lstStyle/>
          <a:p>
            <a:pPr algn="l">
              <a:lnSpc>
                <a:spcPct val="100000"/>
              </a:lnSpc>
            </a:pPr>
            <a:r>
              <a:rPr sz="2500" b="1" i="0">
                <a:solidFill>
                  <a:srgbClr val="2F5233"/>
                </a:solidFill>
                <a:latin typeface="Calibri"/>
              </a:rPr>
              <a:t>56.8%</a:t>
            </a:r>
          </a:p>
        </p:txBody>
      </p:sp>
      <p:sp>
        <p:nvSpPr>
          <p:cNvPr id="34" name="TextBox 33"/>
          <p:cNvSpPr txBox="1"/>
          <p:nvPr/>
        </p:nvSpPr>
        <p:spPr>
          <a:xfrm>
            <a:off x="9985248" y="2011680"/>
            <a:ext cx="1426464" cy="274320"/>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Engagement rate</a:t>
            </a:r>
          </a:p>
        </p:txBody>
      </p:sp>
      <p:sp>
        <p:nvSpPr>
          <p:cNvPr id="35" name="TextBox 34"/>
          <p:cNvSpPr txBox="1"/>
          <p:nvPr/>
        </p:nvSpPr>
        <p:spPr>
          <a:xfrm>
            <a:off x="9985248" y="2267712"/>
            <a:ext cx="1426464" cy="384048"/>
          </a:xfrm>
          <a:prstGeom prst="rect">
            <a:avLst/>
          </a:prstGeom>
          <a:noFill/>
        </p:spPr>
        <p:txBody>
          <a:bodyPr wrap="square" lIns="0" rIns="0" tIns="0" bIns="0" anchor="t">
            <a:spAutoFit/>
          </a:bodyPr>
          <a:lstStyle/>
          <a:p>
            <a:pPr algn="l">
              <a:lnSpc>
                <a:spcPct val="92000"/>
              </a:lnSpc>
            </a:pPr>
            <a:r>
              <a:rPr sz="850" b="0" i="0">
                <a:solidFill>
                  <a:srgbClr val="6B7280"/>
                </a:solidFill>
                <a:latin typeface="Calibri"/>
              </a:rPr>
              <a:t>Organic traffic</a:t>
            </a:r>
          </a:p>
        </p:txBody>
      </p:sp>
      <p:sp>
        <p:nvSpPr>
          <p:cNvPr id="36" name="TextBox 35"/>
          <p:cNvSpPr txBox="1"/>
          <p:nvPr/>
        </p:nvSpPr>
        <p:spPr>
          <a:xfrm>
            <a:off x="566928" y="2889504"/>
            <a:ext cx="5486400"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Momentum — first 30 days vs last 30 days</a:t>
            </a:r>
          </a:p>
        </p:txBody>
      </p:sp>
      <p:graphicFrame>
        <p:nvGraphicFramePr>
          <p:cNvPr id="37" name="Table 36"/>
          <p:cNvGraphicFramePr>
            <a:graphicFrameLocks noGrp="1"/>
          </p:cNvGraphicFramePr>
          <p:nvPr/>
        </p:nvGraphicFramePr>
        <p:xfrm>
          <a:off x="566928" y="3236976"/>
          <a:ext cx="5532119" cy="1572768"/>
        </p:xfrm>
        <a:graphic>
          <a:graphicData uri="http://schemas.openxmlformats.org/drawingml/2006/table">
            <a:tbl>
              <a:tblPr firstRow="1" bandRow="1">
                <a:tableStyleId>{5C22544A-7EE6-4342-B048-85BDC9FD1C3A}</a:tableStyleId>
              </a:tblPr>
              <a:tblGrid>
                <a:gridCol w="1874519"/>
                <a:gridCol w="1188720"/>
                <a:gridCol w="1188720"/>
                <a:gridCol w="1280160"/>
              </a:tblGrid>
              <a:tr h="329184">
                <a:tc>
                  <a:txBody>
                    <a:bodyPr wrap="square"/>
                    <a:lstStyle/>
                    <a:p>
                      <a:r>
                        <a:rPr sz="1050" b="1">
                          <a:solidFill>
                            <a:srgbClr val="FFFFFF"/>
                          </a:solidFill>
                          <a:latin typeface="Calibri"/>
                        </a:rPr>
                        <a:t>Metric</a:t>
                      </a:r>
                    </a:p>
                  </a:txBody>
                  <a:tcPr marL="82296" marR="64008" marT="27432" marB="27432" anchor="ctr">
                    <a:solidFill>
                      <a:srgbClr val="1B3A5C"/>
                    </a:solidFill>
                  </a:tcPr>
                </a:tc>
                <a:tc>
                  <a:txBody>
                    <a:bodyPr wrap="square"/>
                    <a:lstStyle/>
                    <a:p>
                      <a:pPr algn="r"/>
                      <a:r>
                        <a:rPr sz="1050" b="1">
                          <a:solidFill>
                            <a:srgbClr val="FFFFFF"/>
                          </a:solidFill>
                          <a:latin typeface="Calibri"/>
                        </a:rPr>
                        <a:t>First 30 days</a:t>
                      </a:r>
                    </a:p>
                  </a:txBody>
                  <a:tcPr marL="82296" marR="64008" marT="27432" marB="27432" anchor="ctr">
                    <a:solidFill>
                      <a:srgbClr val="1B3A5C"/>
                    </a:solidFill>
                  </a:tcPr>
                </a:tc>
                <a:tc>
                  <a:txBody>
                    <a:bodyPr wrap="square"/>
                    <a:lstStyle/>
                    <a:p>
                      <a:pPr algn="r"/>
                      <a:r>
                        <a:rPr sz="1050" b="1">
                          <a:solidFill>
                            <a:srgbClr val="FFFFFF"/>
                          </a:solidFill>
                          <a:latin typeface="Calibri"/>
                        </a:rPr>
                        <a:t>Last 30 days</a:t>
                      </a:r>
                    </a:p>
                  </a:txBody>
                  <a:tcPr marL="82296" marR="64008" marT="27432" marB="27432" anchor="ctr">
                    <a:solidFill>
                      <a:srgbClr val="1B3A5C"/>
                    </a:solidFill>
                  </a:tcPr>
                </a:tc>
                <a:tc>
                  <a:txBody>
                    <a:bodyPr wrap="square"/>
                    <a:lstStyle/>
                    <a:p>
                      <a:pPr algn="r"/>
                      <a:r>
                        <a:rPr sz="1050" b="1">
                          <a:solidFill>
                            <a:srgbClr val="FFFFFF"/>
                          </a:solidFill>
                          <a:latin typeface="Calibri"/>
                        </a:rPr>
                        <a:t>Change</a:t>
                      </a:r>
                    </a:p>
                  </a:txBody>
                  <a:tcPr marL="82296" marR="64008" marT="27432" marB="27432" anchor="ctr">
                    <a:solidFill>
                      <a:srgbClr val="1B3A5C"/>
                    </a:solidFill>
                  </a:tcPr>
                </a:tc>
              </a:tr>
              <a:tr h="310896">
                <a:tc>
                  <a:txBody>
                    <a:bodyPr wrap="square"/>
                    <a:lstStyle/>
                    <a:p>
                      <a:r>
                        <a:rPr sz="1050" b="0">
                          <a:solidFill>
                            <a:srgbClr val="1A1D23"/>
                          </a:solidFill>
                          <a:latin typeface="Calibri"/>
                        </a:rPr>
                        <a:t>Clicks</a:t>
                      </a:r>
                    </a:p>
                  </a:txBody>
                  <a:tcPr marL="82296" marR="64008" marT="27432" marB="27432" anchor="ctr">
                    <a:solidFill>
                      <a:srgbClr val="FFFFFF"/>
                    </a:solidFill>
                  </a:tcPr>
                </a:tc>
                <a:tc>
                  <a:txBody>
                    <a:bodyPr wrap="square"/>
                    <a:lstStyle/>
                    <a:p>
                      <a:pPr algn="r"/>
                      <a:r>
                        <a:rPr sz="1050" b="0">
                          <a:solidFill>
                            <a:srgbClr val="1A1D23"/>
                          </a:solidFill>
                          <a:latin typeface="Calibri"/>
                        </a:rPr>
                        <a:t>826</a:t>
                      </a:r>
                    </a:p>
                  </a:txBody>
                  <a:tcPr marL="82296" marR="64008" marT="27432" marB="27432" anchor="ctr">
                    <a:solidFill>
                      <a:srgbClr val="FFFFFF"/>
                    </a:solidFill>
                  </a:tcPr>
                </a:tc>
                <a:tc>
                  <a:txBody>
                    <a:bodyPr wrap="square"/>
                    <a:lstStyle/>
                    <a:p>
                      <a:pPr algn="r"/>
                      <a:r>
                        <a:rPr sz="1050" b="0">
                          <a:solidFill>
                            <a:srgbClr val="1A1D23"/>
                          </a:solidFill>
                          <a:latin typeface="Calibri"/>
                        </a:rPr>
                        <a:t>1,513</a:t>
                      </a:r>
                    </a:p>
                  </a:txBody>
                  <a:tcPr marL="82296" marR="64008" marT="27432" marB="27432" anchor="ctr">
                    <a:solidFill>
                      <a:srgbClr val="FFFFFF"/>
                    </a:solidFill>
                  </a:tcPr>
                </a:tc>
                <a:tc>
                  <a:txBody>
                    <a:bodyPr wrap="square"/>
                    <a:lstStyle/>
                    <a:p>
                      <a:pPr algn="r"/>
                      <a:r>
                        <a:rPr sz="1050" b="1">
                          <a:solidFill>
                            <a:srgbClr val="1B7A43"/>
                          </a:solidFill>
                          <a:latin typeface="Calibri"/>
                        </a:rPr>
                        <a:t>+83.2%</a:t>
                      </a:r>
                    </a:p>
                  </a:txBody>
                  <a:tcPr marL="82296" marR="64008" marT="27432" marB="27432" anchor="ctr">
                    <a:solidFill>
                      <a:srgbClr val="FFFFFF"/>
                    </a:solidFill>
                  </a:tcPr>
                </a:tc>
              </a:tr>
              <a:tr h="310896">
                <a:tc>
                  <a:txBody>
                    <a:bodyPr wrap="square"/>
                    <a:lstStyle/>
                    <a:p>
                      <a:r>
                        <a:rPr sz="1050" b="0">
                          <a:solidFill>
                            <a:srgbClr val="1A1D23"/>
                          </a:solidFill>
                          <a:latin typeface="Calibri"/>
                        </a:rPr>
                        <a:t>Impressions</a:t>
                      </a:r>
                    </a:p>
                  </a:txBody>
                  <a:tcPr marL="82296" marR="64008" marT="27432" marB="27432" anchor="ctr">
                    <a:solidFill>
                      <a:srgbClr val="ECEFF3"/>
                    </a:solidFill>
                  </a:tcPr>
                </a:tc>
                <a:tc>
                  <a:txBody>
                    <a:bodyPr wrap="square"/>
                    <a:lstStyle/>
                    <a:p>
                      <a:pPr algn="r"/>
                      <a:r>
                        <a:rPr sz="1050" b="0">
                          <a:solidFill>
                            <a:srgbClr val="1A1D23"/>
                          </a:solidFill>
                          <a:latin typeface="Calibri"/>
                        </a:rPr>
                        <a:t>98,800</a:t>
                      </a:r>
                    </a:p>
                  </a:txBody>
                  <a:tcPr marL="82296" marR="64008" marT="27432" marB="27432" anchor="ctr">
                    <a:solidFill>
                      <a:srgbClr val="ECEFF3"/>
                    </a:solidFill>
                  </a:tcPr>
                </a:tc>
                <a:tc>
                  <a:txBody>
                    <a:bodyPr wrap="square"/>
                    <a:lstStyle/>
                    <a:p>
                      <a:pPr algn="r"/>
                      <a:r>
                        <a:rPr sz="1050" b="0">
                          <a:solidFill>
                            <a:srgbClr val="1A1D23"/>
                          </a:solidFill>
                          <a:latin typeface="Calibri"/>
                        </a:rPr>
                        <a:t>147,877</a:t>
                      </a:r>
                    </a:p>
                  </a:txBody>
                  <a:tcPr marL="82296" marR="64008" marT="27432" marB="27432" anchor="ctr">
                    <a:solidFill>
                      <a:srgbClr val="ECEFF3"/>
                    </a:solidFill>
                  </a:tcPr>
                </a:tc>
                <a:tc>
                  <a:txBody>
                    <a:bodyPr wrap="square"/>
                    <a:lstStyle/>
                    <a:p>
                      <a:pPr algn="r"/>
                      <a:r>
                        <a:rPr sz="1050" b="1">
                          <a:solidFill>
                            <a:srgbClr val="1B7A43"/>
                          </a:solidFill>
                          <a:latin typeface="Calibri"/>
                        </a:rPr>
                        <a:t>+49.7%</a:t>
                      </a:r>
                    </a:p>
                  </a:txBody>
                  <a:tcPr marL="82296" marR="64008" marT="27432" marB="27432" anchor="ctr">
                    <a:solidFill>
                      <a:srgbClr val="ECEFF3"/>
                    </a:solidFill>
                  </a:tcPr>
                </a:tc>
              </a:tr>
              <a:tr h="310896">
                <a:tc>
                  <a:txBody>
                    <a:bodyPr wrap="square"/>
                    <a:lstStyle/>
                    <a:p>
                      <a:r>
                        <a:rPr sz="1050" b="0">
                          <a:solidFill>
                            <a:srgbClr val="1A1D23"/>
                          </a:solidFill>
                          <a:latin typeface="Calibri"/>
                        </a:rPr>
                        <a:t>Click-through rate</a:t>
                      </a:r>
                    </a:p>
                  </a:txBody>
                  <a:tcPr marL="82296" marR="64008" marT="27432" marB="27432" anchor="ctr">
                    <a:solidFill>
                      <a:srgbClr val="FFFFFF"/>
                    </a:solidFill>
                  </a:tcPr>
                </a:tc>
                <a:tc>
                  <a:txBody>
                    <a:bodyPr wrap="square"/>
                    <a:lstStyle/>
                    <a:p>
                      <a:pPr algn="r"/>
                      <a:r>
                        <a:rPr sz="1050" b="0">
                          <a:solidFill>
                            <a:srgbClr val="1A1D23"/>
                          </a:solidFill>
                          <a:latin typeface="Calibri"/>
                        </a:rPr>
                        <a:t>0.84%</a:t>
                      </a:r>
                    </a:p>
                  </a:txBody>
                  <a:tcPr marL="82296" marR="64008" marT="27432" marB="27432" anchor="ctr">
                    <a:solidFill>
                      <a:srgbClr val="FFFFFF"/>
                    </a:solidFill>
                  </a:tcPr>
                </a:tc>
                <a:tc>
                  <a:txBody>
                    <a:bodyPr wrap="square"/>
                    <a:lstStyle/>
                    <a:p>
                      <a:pPr algn="r"/>
                      <a:r>
                        <a:rPr sz="1050" b="0">
                          <a:solidFill>
                            <a:srgbClr val="1A1D23"/>
                          </a:solidFill>
                          <a:latin typeface="Calibri"/>
                        </a:rPr>
                        <a:t>1.02%</a:t>
                      </a:r>
                    </a:p>
                  </a:txBody>
                  <a:tcPr marL="82296" marR="64008" marT="27432" marB="27432" anchor="ctr">
                    <a:solidFill>
                      <a:srgbClr val="FFFFFF"/>
                    </a:solidFill>
                  </a:tcPr>
                </a:tc>
                <a:tc>
                  <a:txBody>
                    <a:bodyPr wrap="square"/>
                    <a:lstStyle/>
                    <a:p>
                      <a:pPr algn="r"/>
                      <a:r>
                        <a:rPr sz="1050" b="1">
                          <a:solidFill>
                            <a:srgbClr val="1B7A43"/>
                          </a:solidFill>
                          <a:latin typeface="Calibri"/>
                        </a:rPr>
                        <a:t>+22.4% rel.</a:t>
                      </a:r>
                    </a:p>
                  </a:txBody>
                  <a:tcPr marL="82296" marR="64008" marT="27432" marB="27432" anchor="ctr">
                    <a:solidFill>
                      <a:srgbClr val="FFFFFF"/>
                    </a:solidFill>
                  </a:tcPr>
                </a:tc>
              </a:tr>
              <a:tr h="310896">
                <a:tc>
                  <a:txBody>
                    <a:bodyPr wrap="square"/>
                    <a:lstStyle/>
                    <a:p>
                      <a:r>
                        <a:rPr sz="1050" b="0">
                          <a:solidFill>
                            <a:srgbClr val="1A1D23"/>
                          </a:solidFill>
                          <a:latin typeface="Calibri"/>
                        </a:rPr>
                        <a:t>Average position</a:t>
                      </a:r>
                    </a:p>
                  </a:txBody>
                  <a:tcPr marL="82296" marR="64008" marT="27432" marB="27432" anchor="ctr">
                    <a:solidFill>
                      <a:srgbClr val="ECEFF3"/>
                    </a:solidFill>
                  </a:tcPr>
                </a:tc>
                <a:tc>
                  <a:txBody>
                    <a:bodyPr wrap="square"/>
                    <a:lstStyle/>
                    <a:p>
                      <a:pPr algn="r"/>
                      <a:r>
                        <a:rPr sz="1050" b="0">
                          <a:solidFill>
                            <a:srgbClr val="1A1D23"/>
                          </a:solidFill>
                          <a:latin typeface="Calibri"/>
                        </a:rPr>
                        <a:t>8.2</a:t>
                      </a:r>
                    </a:p>
                  </a:txBody>
                  <a:tcPr marL="82296" marR="64008" marT="27432" marB="27432" anchor="ctr">
                    <a:solidFill>
                      <a:srgbClr val="ECEFF3"/>
                    </a:solidFill>
                  </a:tcPr>
                </a:tc>
                <a:tc>
                  <a:txBody>
                    <a:bodyPr wrap="square"/>
                    <a:lstStyle/>
                    <a:p>
                      <a:pPr algn="r"/>
                      <a:r>
                        <a:rPr sz="1050" b="0">
                          <a:solidFill>
                            <a:srgbClr val="1A1D23"/>
                          </a:solidFill>
                          <a:latin typeface="Calibri"/>
                        </a:rPr>
                        <a:t>7.4</a:t>
                      </a:r>
                    </a:p>
                  </a:txBody>
                  <a:tcPr marL="82296" marR="64008" marT="27432" marB="27432" anchor="ctr">
                    <a:solidFill>
                      <a:srgbClr val="ECEFF3"/>
                    </a:solidFill>
                  </a:tcPr>
                </a:tc>
                <a:tc>
                  <a:txBody>
                    <a:bodyPr wrap="square"/>
                    <a:lstStyle/>
                    <a:p>
                      <a:pPr algn="r"/>
                      <a:r>
                        <a:rPr sz="1050" b="1">
                          <a:solidFill>
                            <a:srgbClr val="1B7A43"/>
                          </a:solidFill>
                          <a:latin typeface="Calibri"/>
                        </a:rPr>
                        <a:t>+0.78 pos.</a:t>
                      </a:r>
                    </a:p>
                  </a:txBody>
                  <a:tcPr marL="82296" marR="64008" marT="27432" marB="27432" anchor="ctr">
                    <a:solidFill>
                      <a:srgbClr val="ECEFF3"/>
                    </a:solidFill>
                  </a:tcPr>
                </a:tc>
              </a:tr>
            </a:tbl>
          </a:graphicData>
        </a:graphic>
      </p:graphicFrame>
      <p:graphicFrame>
        <p:nvGraphicFramePr>
          <p:cNvPr id="38" name="Chart 37"/>
          <p:cNvGraphicFramePr>
            <a:graphicFrameLocks noGrp="1"/>
          </p:cNvGraphicFramePr>
          <p:nvPr/>
        </p:nvGraphicFramePr>
        <p:xfrm>
          <a:off x="6492240" y="3054096"/>
          <a:ext cx="5138928" cy="2340864"/>
        </p:xfrm>
        <a:graphic>
          <a:graphicData uri="http://schemas.openxmlformats.org/drawingml/2006/chart">
            <c:chart xmlns:c="http://schemas.openxmlformats.org/drawingml/2006/chart" r:id="rId2"/>
          </a:graphicData>
        </a:graphic>
      </p:graphicFrame>
      <p:sp>
        <p:nvSpPr>
          <p:cNvPr id="39" name="Rectangle 38"/>
          <p:cNvSpPr/>
          <p:nvPr/>
        </p:nvSpPr>
        <p:spPr>
          <a:xfrm>
            <a:off x="566928" y="5577840"/>
            <a:ext cx="11064240" cy="56692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5577840"/>
            <a:ext cx="44450" cy="566928"/>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669280"/>
            <a:ext cx="10753344" cy="420624"/>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Reading this correctly: impressions grew 49.7% while clicks grew 83.2% — the site is not just being shown more, it is being chosen more often. At 0.93% CTR, however, roughly 99 in every 100 people who see the firm in search still do not click. That gap is next month's core focus.</a:t>
            </a:r>
          </a:p>
        </p:txBody>
      </p:sp>
      <p:sp>
        <p:nvSpPr>
          <p:cNvPr id="42" name="Rectangle 41"/>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6437376"/>
            <a:ext cx="731520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a:t>
            </a:r>
          </a:p>
        </p:txBody>
      </p:sp>
      <p:sp>
        <p:nvSpPr>
          <p:cNvPr id="44" name="TextBox 43"/>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WHO IS ACTUALLY ARRIVING — GA4, 19 JULY – 25 AUGUST 2026</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700" b="1" i="0">
                <a:solidFill>
                  <a:srgbClr val="1B3A5C"/>
                </a:solidFill>
                <a:latin typeface="Calibri"/>
              </a:rPr>
              <a:t>Audience &amp; Channel Mix</a:t>
            </a:r>
          </a:p>
        </p:txBody>
      </p:sp>
      <p:sp>
        <p:nvSpPr>
          <p:cNvPr id="5" name="Rectangle 4"/>
          <p:cNvSpPr/>
          <p:nvPr/>
        </p:nvSpPr>
        <p:spPr>
          <a:xfrm>
            <a:off x="566928" y="1225296"/>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566928" y="1389888"/>
          <a:ext cx="3840480" cy="3017520"/>
        </p:xfrm>
        <a:graphic>
          <a:graphicData uri="http://schemas.openxmlformats.org/drawingml/2006/chart">
            <c:chart xmlns:c="http://schemas.openxmlformats.org/drawingml/2006/chart" r:id="rId2"/>
          </a:graphicData>
        </a:graphic>
      </p:graphicFrame>
      <p:sp>
        <p:nvSpPr>
          <p:cNvPr id="7" name="TextBox 6"/>
          <p:cNvSpPr txBox="1"/>
          <p:nvPr/>
        </p:nvSpPr>
        <p:spPr>
          <a:xfrm>
            <a:off x="1755648" y="2487168"/>
            <a:ext cx="1463040" cy="402336"/>
          </a:xfrm>
          <a:prstGeom prst="rect">
            <a:avLst/>
          </a:prstGeom>
          <a:noFill/>
        </p:spPr>
        <p:txBody>
          <a:bodyPr wrap="square" lIns="0" rIns="0" tIns="0" bIns="0" anchor="t">
            <a:spAutoFit/>
          </a:bodyPr>
          <a:lstStyle/>
          <a:p>
            <a:pPr algn="ctr">
              <a:lnSpc>
                <a:spcPct val="100000"/>
              </a:lnSpc>
            </a:pPr>
            <a:r>
              <a:rPr sz="2100" b="1" i="0">
                <a:solidFill>
                  <a:srgbClr val="1B3A5C"/>
                </a:solidFill>
                <a:latin typeface="Calibri"/>
              </a:rPr>
              <a:t>81.7%</a:t>
            </a:r>
          </a:p>
        </p:txBody>
      </p:sp>
      <p:sp>
        <p:nvSpPr>
          <p:cNvPr id="8" name="TextBox 7"/>
          <p:cNvSpPr txBox="1"/>
          <p:nvPr/>
        </p:nvSpPr>
        <p:spPr>
          <a:xfrm>
            <a:off x="1755648" y="2871216"/>
            <a:ext cx="1463040" cy="237744"/>
          </a:xfrm>
          <a:prstGeom prst="rect">
            <a:avLst/>
          </a:prstGeom>
          <a:noFill/>
        </p:spPr>
        <p:txBody>
          <a:bodyPr wrap="square" lIns="0" rIns="0" tIns="0" bIns="0" anchor="t">
            <a:spAutoFit/>
          </a:bodyPr>
          <a:lstStyle/>
          <a:p>
            <a:pPr algn="ctr">
              <a:lnSpc>
                <a:spcPct val="100000"/>
              </a:lnSpc>
            </a:pPr>
            <a:r>
              <a:rPr sz="1000" b="0" i="0">
                <a:solidFill>
                  <a:srgbClr val="6B7280"/>
                </a:solidFill>
                <a:latin typeface="Calibri"/>
              </a:rPr>
              <a:t>organic</a:t>
            </a:r>
          </a:p>
        </p:txBody>
      </p:sp>
      <p:sp>
        <p:nvSpPr>
          <p:cNvPr id="9" name="TextBox 8"/>
          <p:cNvSpPr txBox="1"/>
          <p:nvPr/>
        </p:nvSpPr>
        <p:spPr>
          <a:xfrm>
            <a:off x="4754880" y="1389888"/>
            <a:ext cx="6876288"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Geography and device</a:t>
            </a:r>
          </a:p>
        </p:txBody>
      </p:sp>
      <p:graphicFrame>
        <p:nvGraphicFramePr>
          <p:cNvPr id="10" name="Table 9"/>
          <p:cNvGraphicFramePr>
            <a:graphicFrameLocks noGrp="1"/>
          </p:cNvGraphicFramePr>
          <p:nvPr/>
        </p:nvGraphicFramePr>
        <p:xfrm>
          <a:off x="4754880" y="1737360"/>
          <a:ext cx="6876287" cy="1572768"/>
        </p:xfrm>
        <a:graphic>
          <a:graphicData uri="http://schemas.openxmlformats.org/drawingml/2006/table">
            <a:tbl>
              <a:tblPr firstRow="1" bandRow="1">
                <a:tableStyleId>{5C22544A-7EE6-4342-B048-85BDC9FD1C3A}</a:tableStyleId>
              </a:tblPr>
              <a:tblGrid>
                <a:gridCol w="1298448"/>
                <a:gridCol w="1042415"/>
                <a:gridCol w="914400"/>
                <a:gridCol w="3621024"/>
              </a:tblGrid>
              <a:tr h="329184">
                <a:tc>
                  <a:txBody>
                    <a:bodyPr wrap="square"/>
                    <a:lstStyle/>
                    <a:p>
                      <a:r>
                        <a:rPr sz="1050" b="1">
                          <a:solidFill>
                            <a:srgbClr val="FFFFFF"/>
                          </a:solidFill>
                          <a:latin typeface="Calibri"/>
                        </a:rPr>
                        <a:t>Segment</a:t>
                      </a:r>
                    </a:p>
                  </a:txBody>
                  <a:tcPr marL="82296" marR="64008" marT="27432" marB="27432" anchor="ctr">
                    <a:solidFill>
                      <a:srgbClr val="1B3A5C"/>
                    </a:solidFill>
                  </a:tcPr>
                </a:tc>
                <a:tc>
                  <a:txBody>
                    <a:bodyPr wrap="square"/>
                    <a:lstStyle/>
                    <a:p>
                      <a:pPr algn="r"/>
                      <a:r>
                        <a:rPr sz="1050" b="1">
                          <a:solidFill>
                            <a:srgbClr val="FFFFFF"/>
                          </a:solidFill>
                          <a:latin typeface="Calibri"/>
                        </a:rPr>
                        <a:t>Sessions</a:t>
                      </a:r>
                    </a:p>
                  </a:txBody>
                  <a:tcPr marL="82296" marR="64008" marT="27432" marB="27432" anchor="ctr">
                    <a:solidFill>
                      <a:srgbClr val="1B3A5C"/>
                    </a:solidFill>
                  </a:tcPr>
                </a:tc>
                <a:tc>
                  <a:txBody>
                    <a:bodyPr wrap="square"/>
                    <a:lstStyle/>
                    <a:p>
                      <a:pPr algn="r"/>
                      <a:r>
                        <a:rPr sz="1050" b="1">
                          <a:solidFill>
                            <a:srgbClr val="FFFFFF"/>
                          </a:solidFill>
                          <a:latin typeface="Calibri"/>
                        </a:rPr>
                        <a:t>Share</a:t>
                      </a:r>
                    </a:p>
                  </a:txBody>
                  <a:tcPr marL="82296" marR="64008" marT="27432" marB="27432" anchor="ctr">
                    <a:solidFill>
                      <a:srgbClr val="1B3A5C"/>
                    </a:solidFill>
                  </a:tcPr>
                </a:tc>
                <a:tc>
                  <a:txBody>
                    <a:bodyPr wrap="square"/>
                    <a:lstStyle/>
                    <a:p>
                      <a:r>
                        <a:rPr sz="1050" b="1">
                          <a:solidFill>
                            <a:srgbClr val="FFFFFF"/>
                          </a:solidFill>
                          <a:latin typeface="Calibri"/>
                        </a:rPr>
                        <a:t>Read</a:t>
                      </a:r>
                    </a:p>
                  </a:txBody>
                  <a:tcPr marL="82296" marR="64008" marT="27432" marB="27432" anchor="ctr">
                    <a:solidFill>
                      <a:srgbClr val="1B3A5C"/>
                    </a:solidFill>
                  </a:tcPr>
                </a:tc>
              </a:tr>
              <a:tr h="310896">
                <a:tc>
                  <a:txBody>
                    <a:bodyPr wrap="square"/>
                    <a:lstStyle/>
                    <a:p>
                      <a:r>
                        <a:rPr sz="1050" b="0">
                          <a:solidFill>
                            <a:srgbClr val="1A1D23"/>
                          </a:solidFill>
                          <a:latin typeface="Calibri"/>
                        </a:rPr>
                        <a:t>India</a:t>
                      </a:r>
                    </a:p>
                  </a:txBody>
                  <a:tcPr marL="82296" marR="64008" marT="27432" marB="27432" anchor="ctr">
                    <a:solidFill>
                      <a:srgbClr val="FFFFFF"/>
                    </a:solidFill>
                  </a:tcPr>
                </a:tc>
                <a:tc>
                  <a:txBody>
                    <a:bodyPr wrap="square"/>
                    <a:lstStyle/>
                    <a:p>
                      <a:pPr algn="r"/>
                      <a:r>
                        <a:rPr sz="1050" b="0">
                          <a:solidFill>
                            <a:srgbClr val="1A1D23"/>
                          </a:solidFill>
                          <a:latin typeface="Calibri"/>
                        </a:rPr>
                        <a:t>2,463</a:t>
                      </a:r>
                    </a:p>
                  </a:txBody>
                  <a:tcPr marL="82296" marR="64008" marT="27432" marB="27432" anchor="ctr">
                    <a:solidFill>
                      <a:srgbClr val="FFFFFF"/>
                    </a:solidFill>
                  </a:tcPr>
                </a:tc>
                <a:tc>
                  <a:txBody>
                    <a:bodyPr wrap="square"/>
                    <a:lstStyle/>
                    <a:p>
                      <a:pPr algn="r"/>
                      <a:r>
                        <a:rPr sz="1050" b="0">
                          <a:solidFill>
                            <a:srgbClr val="1A1D23"/>
                          </a:solidFill>
                          <a:latin typeface="Calibri"/>
                        </a:rPr>
                        <a:t>97.2%</a:t>
                      </a:r>
                    </a:p>
                  </a:txBody>
                  <a:tcPr marL="82296" marR="64008" marT="27432" marB="27432" anchor="ctr">
                    <a:solidFill>
                      <a:srgbClr val="FFFFFF"/>
                    </a:solidFill>
                  </a:tcPr>
                </a:tc>
                <a:tc>
                  <a:txBody>
                    <a:bodyPr wrap="square"/>
                    <a:lstStyle/>
                    <a:p>
                      <a:r>
                        <a:rPr sz="1050" b="0">
                          <a:solidFill>
                            <a:srgbClr val="1A1D23"/>
                          </a:solidFill>
                          <a:latin typeface="Calibri"/>
                        </a:rPr>
                        <a:t>Audience is geographically right</a:t>
                      </a:r>
                    </a:p>
                  </a:txBody>
                  <a:tcPr marL="82296" marR="64008" marT="27432" marB="27432" anchor="ctr">
                    <a:solidFill>
                      <a:srgbClr val="FFFFFF"/>
                    </a:solidFill>
                  </a:tcPr>
                </a:tc>
              </a:tr>
              <a:tr h="310896">
                <a:tc>
                  <a:txBody>
                    <a:bodyPr wrap="square"/>
                    <a:lstStyle/>
                    <a:p>
                      <a:r>
                        <a:rPr sz="1050" b="0">
                          <a:solidFill>
                            <a:srgbClr val="1A1D23"/>
                          </a:solidFill>
                          <a:latin typeface="Calibri"/>
                        </a:rPr>
                        <a:t>Mumbai</a:t>
                      </a:r>
                    </a:p>
                  </a:txBody>
                  <a:tcPr marL="82296" marR="64008" marT="27432" marB="27432" anchor="ctr">
                    <a:solidFill>
                      <a:srgbClr val="ECEFF3"/>
                    </a:solidFill>
                  </a:tcPr>
                </a:tc>
                <a:tc>
                  <a:txBody>
                    <a:bodyPr wrap="square"/>
                    <a:lstStyle/>
                    <a:p>
                      <a:pPr algn="r"/>
                      <a:r>
                        <a:rPr sz="1050" b="0">
                          <a:solidFill>
                            <a:srgbClr val="1A1D23"/>
                          </a:solidFill>
                          <a:latin typeface="Calibri"/>
                        </a:rPr>
                        <a:t>420</a:t>
                      </a:r>
                    </a:p>
                  </a:txBody>
                  <a:tcPr marL="82296" marR="64008" marT="27432" marB="27432" anchor="ctr">
                    <a:solidFill>
                      <a:srgbClr val="ECEFF3"/>
                    </a:solidFill>
                  </a:tcPr>
                </a:tc>
                <a:tc>
                  <a:txBody>
                    <a:bodyPr wrap="square"/>
                    <a:lstStyle/>
                    <a:p>
                      <a:pPr algn="r"/>
                      <a:r>
                        <a:rPr sz="1050" b="0">
                          <a:solidFill>
                            <a:srgbClr val="1A1D23"/>
                          </a:solidFill>
                          <a:latin typeface="Calibri"/>
                        </a:rPr>
                        <a:t>16.6%</a:t>
                      </a:r>
                    </a:p>
                  </a:txBody>
                  <a:tcPr marL="82296" marR="64008" marT="27432" marB="27432" anchor="ctr">
                    <a:solidFill>
                      <a:srgbClr val="ECEFF3"/>
                    </a:solidFill>
                  </a:tcPr>
                </a:tc>
                <a:tc>
                  <a:txBody>
                    <a:bodyPr wrap="square"/>
                    <a:lstStyle/>
                    <a:p>
                      <a:r>
                        <a:rPr sz="1050" b="0">
                          <a:solidFill>
                            <a:srgbClr val="1A1D23"/>
                          </a:solidFill>
                          <a:latin typeface="Calibri"/>
                        </a:rPr>
                        <a:t>Local share is the growth gap</a:t>
                      </a:r>
                    </a:p>
                  </a:txBody>
                  <a:tcPr marL="82296" marR="64008" marT="27432" marB="27432" anchor="ctr">
                    <a:solidFill>
                      <a:srgbClr val="ECEFF3"/>
                    </a:solidFill>
                  </a:tcPr>
                </a:tc>
              </a:tr>
              <a:tr h="310896">
                <a:tc>
                  <a:txBody>
                    <a:bodyPr wrap="square"/>
                    <a:lstStyle/>
                    <a:p>
                      <a:r>
                        <a:rPr sz="1050" b="0">
                          <a:solidFill>
                            <a:srgbClr val="1A1D23"/>
                          </a:solidFill>
                          <a:latin typeface="Calibri"/>
                        </a:rPr>
                        <a:t>Desktop</a:t>
                      </a:r>
                    </a:p>
                  </a:txBody>
                  <a:tcPr marL="82296" marR="64008" marT="27432" marB="27432" anchor="ctr">
                    <a:solidFill>
                      <a:srgbClr val="FFFFFF"/>
                    </a:solidFill>
                  </a:tcPr>
                </a:tc>
                <a:tc>
                  <a:txBody>
                    <a:bodyPr wrap="square"/>
                    <a:lstStyle/>
                    <a:p>
                      <a:pPr algn="r"/>
                      <a:r>
                        <a:rPr sz="1050" b="0">
                          <a:solidFill>
                            <a:srgbClr val="1A1D23"/>
                          </a:solidFill>
                          <a:latin typeface="Calibri"/>
                        </a:rPr>
                        <a:t>—</a:t>
                      </a:r>
                    </a:p>
                  </a:txBody>
                  <a:tcPr marL="82296" marR="64008" marT="27432" marB="27432" anchor="ctr">
                    <a:solidFill>
                      <a:srgbClr val="FFFFFF"/>
                    </a:solidFill>
                  </a:tcPr>
                </a:tc>
                <a:tc>
                  <a:txBody>
                    <a:bodyPr wrap="square"/>
                    <a:lstStyle/>
                    <a:p>
                      <a:pPr algn="r"/>
                      <a:r>
                        <a:rPr sz="1050" b="0">
                          <a:solidFill>
                            <a:srgbClr val="1A1D23"/>
                          </a:solidFill>
                          <a:latin typeface="Calibri"/>
                        </a:rPr>
                        <a:t>69.4%</a:t>
                      </a:r>
                    </a:p>
                  </a:txBody>
                  <a:tcPr marL="82296" marR="64008" marT="27432" marB="27432" anchor="ctr">
                    <a:solidFill>
                      <a:srgbClr val="FFFFFF"/>
                    </a:solidFill>
                  </a:tcPr>
                </a:tc>
                <a:tc>
                  <a:txBody>
                    <a:bodyPr wrap="square"/>
                    <a:lstStyle/>
                    <a:p>
                      <a:r>
                        <a:rPr sz="1050" b="0">
                          <a:solidFill>
                            <a:srgbClr val="1A1D23"/>
                          </a:solidFill>
                          <a:latin typeface="Calibri"/>
                        </a:rPr>
                        <a:t>Engagement 61.1%</a:t>
                      </a:r>
                    </a:p>
                  </a:txBody>
                  <a:tcPr marL="82296" marR="64008" marT="27432" marB="27432" anchor="ctr">
                    <a:solidFill>
                      <a:srgbClr val="FFFFFF"/>
                    </a:solidFill>
                  </a:tcPr>
                </a:tc>
              </a:tr>
              <a:tr h="310896">
                <a:tc>
                  <a:txBody>
                    <a:bodyPr wrap="square"/>
                    <a:lstStyle/>
                    <a:p>
                      <a:r>
                        <a:rPr sz="1050" b="0">
                          <a:solidFill>
                            <a:srgbClr val="1A1D23"/>
                          </a:solidFill>
                          <a:latin typeface="Calibri"/>
                        </a:rPr>
                        <a:t>Mobile</a:t>
                      </a:r>
                    </a:p>
                  </a:txBody>
                  <a:tcPr marL="82296" marR="64008" marT="27432" marB="27432" anchor="ctr">
                    <a:solidFill>
                      <a:srgbClr val="ECEFF3"/>
                    </a:solidFill>
                  </a:tcPr>
                </a:tc>
                <a:tc>
                  <a:txBody>
                    <a:bodyPr wrap="square"/>
                    <a:lstStyle/>
                    <a:p>
                      <a:pPr algn="r"/>
                      <a:r>
                        <a:rPr sz="1050" b="0">
                          <a:solidFill>
                            <a:srgbClr val="1A1D23"/>
                          </a:solidFill>
                          <a:latin typeface="Calibri"/>
                        </a:rPr>
                        <a:t>—</a:t>
                      </a:r>
                    </a:p>
                  </a:txBody>
                  <a:tcPr marL="82296" marR="64008" marT="27432" marB="27432" anchor="ctr">
                    <a:solidFill>
                      <a:srgbClr val="ECEFF3"/>
                    </a:solidFill>
                  </a:tcPr>
                </a:tc>
                <a:tc>
                  <a:txBody>
                    <a:bodyPr wrap="square"/>
                    <a:lstStyle/>
                    <a:p>
                      <a:pPr algn="r"/>
                      <a:r>
                        <a:rPr sz="1050" b="0">
                          <a:solidFill>
                            <a:srgbClr val="1A1D23"/>
                          </a:solidFill>
                          <a:latin typeface="Calibri"/>
                        </a:rPr>
                        <a:t>30.7%</a:t>
                      </a:r>
                    </a:p>
                  </a:txBody>
                  <a:tcPr marL="82296" marR="64008" marT="27432" marB="27432" anchor="ctr">
                    <a:solidFill>
                      <a:srgbClr val="ECEFF3"/>
                    </a:solidFill>
                  </a:tcPr>
                </a:tc>
                <a:tc>
                  <a:txBody>
                    <a:bodyPr wrap="square"/>
                    <a:lstStyle/>
                    <a:p>
                      <a:r>
                        <a:rPr sz="1050" b="1">
                          <a:solidFill>
                            <a:srgbClr val="D2691E"/>
                          </a:solidFill>
                          <a:latin typeface="Calibri"/>
                        </a:rPr>
                        <a:t>Engagement only 47.4%</a:t>
                      </a:r>
                    </a:p>
                  </a:txBody>
                  <a:tcPr marL="82296" marR="64008" marT="27432" marB="27432" anchor="ctr">
                    <a:solidFill>
                      <a:srgbClr val="ECEFF3"/>
                    </a:solidFill>
                  </a:tcPr>
                </a:tc>
              </a:tr>
            </a:tbl>
          </a:graphicData>
        </a:graphic>
      </p:graphicFrame>
      <p:sp>
        <p:nvSpPr>
          <p:cNvPr id="11" name="TextBox 10"/>
          <p:cNvSpPr txBox="1"/>
          <p:nvPr/>
        </p:nvSpPr>
        <p:spPr>
          <a:xfrm>
            <a:off x="4754880" y="3566160"/>
            <a:ext cx="6876288"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What this tells us</a:t>
            </a:r>
          </a:p>
        </p:txBody>
      </p:sp>
      <p:sp>
        <p:nvSpPr>
          <p:cNvPr id="12" name="Oval 11"/>
          <p:cNvSpPr/>
          <p:nvPr/>
        </p:nvSpPr>
        <p:spPr>
          <a:xfrm>
            <a:off x="4754880" y="3963924"/>
            <a:ext cx="63500" cy="635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56048" y="3895344"/>
            <a:ext cx="6675120" cy="566928"/>
          </a:xfrm>
          <a:prstGeom prst="rect">
            <a:avLst/>
          </a:prstGeom>
          <a:noFill/>
        </p:spPr>
        <p:txBody>
          <a:bodyPr wrap="square" lIns="0" rIns="0" tIns="0" bIns="0" anchor="t">
            <a:spAutoFit/>
          </a:bodyPr>
          <a:lstStyle/>
          <a:p>
            <a:pPr algn="l">
              <a:lnSpc>
                <a:spcPct val="106000"/>
              </a:lnSpc>
            </a:pPr>
            <a:r>
              <a:rPr sz="1150" b="0" i="0">
                <a:solidFill>
                  <a:srgbClr val="1A1D23"/>
                </a:solidFill>
                <a:latin typeface="Calibri"/>
              </a:rPr>
              <a:t>Organic search is the dominant channel — SEO is doing the heavy lifting for the firm.</a:t>
            </a:r>
          </a:p>
        </p:txBody>
      </p:sp>
      <p:sp>
        <p:nvSpPr>
          <p:cNvPr id="14" name="Oval 13"/>
          <p:cNvSpPr/>
          <p:nvPr/>
        </p:nvSpPr>
        <p:spPr>
          <a:xfrm>
            <a:off x="4754880" y="4530852"/>
            <a:ext cx="63500" cy="635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56048" y="4462272"/>
            <a:ext cx="6675120" cy="566928"/>
          </a:xfrm>
          <a:prstGeom prst="rect">
            <a:avLst/>
          </a:prstGeom>
          <a:noFill/>
        </p:spPr>
        <p:txBody>
          <a:bodyPr wrap="square" lIns="0" rIns="0" tIns="0" bIns="0" anchor="t">
            <a:spAutoFit/>
          </a:bodyPr>
          <a:lstStyle/>
          <a:p>
            <a:pPr algn="l">
              <a:lnSpc>
                <a:spcPct val="106000"/>
              </a:lnSpc>
            </a:pPr>
            <a:r>
              <a:rPr sz="1150" b="0" i="0">
                <a:solidFill>
                  <a:srgbClr val="1A1D23"/>
                </a:solidFill>
                <a:latin typeface="Calibri"/>
              </a:rPr>
              <a:t>Only 16.6% of organic sessions are Mumbai. Much of the traffic is national informational readership from ITR guides, due-date posts and case-law content.</a:t>
            </a:r>
          </a:p>
        </p:txBody>
      </p:sp>
      <p:sp>
        <p:nvSpPr>
          <p:cNvPr id="16" name="Oval 15"/>
          <p:cNvSpPr/>
          <p:nvPr/>
        </p:nvSpPr>
        <p:spPr>
          <a:xfrm>
            <a:off x="4754880" y="5097780"/>
            <a:ext cx="63500" cy="635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56048" y="5029200"/>
            <a:ext cx="6675120" cy="566928"/>
          </a:xfrm>
          <a:prstGeom prst="rect">
            <a:avLst/>
          </a:prstGeom>
          <a:noFill/>
        </p:spPr>
        <p:txBody>
          <a:bodyPr wrap="square" lIns="0" rIns="0" tIns="0" bIns="0" anchor="t">
            <a:spAutoFit/>
          </a:bodyPr>
          <a:lstStyle/>
          <a:p>
            <a:pPr algn="l">
              <a:lnSpc>
                <a:spcPct val="106000"/>
              </a:lnSpc>
            </a:pPr>
            <a:r>
              <a:rPr sz="1150" b="0" i="0">
                <a:solidFill>
                  <a:srgbClr val="1A1D23"/>
                </a:solidFill>
                <a:latin typeface="Calibri"/>
              </a:rPr>
              <a:t>Mobile engagement (47.4%) sits well below desktop (61.1%) — a speed and layout issue, addressed on slide 8.</a:t>
            </a:r>
          </a:p>
        </p:txBody>
      </p:sp>
      <p:sp>
        <p:nvSpPr>
          <p:cNvPr id="18" name="Rectangle 17"/>
          <p:cNvSpPr/>
          <p:nvPr/>
        </p:nvSpPr>
        <p:spPr>
          <a:xfrm>
            <a:off x="566928" y="4736592"/>
            <a:ext cx="3840480" cy="1005840"/>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736592"/>
            <a:ext cx="44450" cy="100584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828032"/>
            <a:ext cx="3529584" cy="859536"/>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Valuable reach — but national readers</a:t>
            </a:r>
          </a:p>
          <a:p>
            <a:pPr algn="l">
              <a:lnSpc>
                <a:spcPct val="105000"/>
              </a:lnSpc>
            </a:pPr>
            <a:r>
              <a:rPr sz="1000" b="0" i="0">
                <a:solidFill>
                  <a:srgbClr val="1A1D23"/>
                </a:solidFill>
                <a:latin typeface="Calibri"/>
              </a:rPr>
              <a:t>need clear pathways into Mumbai</a:t>
            </a:r>
          </a:p>
          <a:p>
            <a:pPr algn="l">
              <a:lnSpc>
                <a:spcPct val="105000"/>
              </a:lnSpc>
            </a:pPr>
            <a:r>
              <a:rPr sz="1000" b="0" i="0">
                <a:solidFill>
                  <a:srgbClr val="1A1D23"/>
                </a:solidFill>
                <a:latin typeface="Calibri"/>
              </a:rPr>
              <a:t>service pages to become enquiries.</a:t>
            </a:r>
          </a:p>
        </p:txBody>
      </p:sp>
      <p:sp>
        <p:nvSpPr>
          <p:cNvPr id="21" name="Rectangle 20"/>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437376"/>
            <a:ext cx="731520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a:t>
            </a:r>
          </a:p>
        </p:txBody>
      </p:sp>
      <p:sp>
        <p:nvSpPr>
          <p:cNvPr id="23" name="TextBox 22"/>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SCOPE, METHOD AND EVIDENCE STANDARD</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700" b="1" i="0">
                <a:solidFill>
                  <a:srgbClr val="1B3A5C"/>
                </a:solidFill>
                <a:latin typeface="Calibri"/>
              </a:rPr>
              <a:t>What We Did This Month</a:t>
            </a:r>
          </a:p>
        </p:txBody>
      </p:sp>
      <p:sp>
        <p:nvSpPr>
          <p:cNvPr id="5" name="Rectangle 4"/>
          <p:cNvSpPr/>
          <p:nvPr/>
        </p:nvSpPr>
        <p:spPr>
          <a:xfrm>
            <a:off x="566928" y="1225296"/>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35024"/>
            <a:ext cx="11064240" cy="402336"/>
          </a:xfrm>
          <a:prstGeom prst="rect">
            <a:avLst/>
          </a:prstGeom>
          <a:noFill/>
        </p:spPr>
        <p:txBody>
          <a:bodyPr wrap="square" lIns="0" rIns="0" tIns="0" bIns="0" anchor="t">
            <a:spAutoFit/>
          </a:bodyPr>
          <a:lstStyle/>
          <a:p>
            <a:pPr algn="l">
              <a:lnSpc>
                <a:spcPct val="106000"/>
              </a:lnSpc>
            </a:pPr>
            <a:r>
              <a:rPr sz="1250" b="0" i="0">
                <a:solidFill>
                  <a:srgbClr val="1A1D23"/>
                </a:solidFill>
                <a:latin typeface="Calibri"/>
              </a:rPr>
              <a:t>August was the diagnostic foundation month: a full evidence-based audit across every discipline, so that every recommendation is traceable to real data rather than assumption.</a:t>
            </a:r>
          </a:p>
        </p:txBody>
      </p:sp>
      <p:sp>
        <p:nvSpPr>
          <p:cNvPr id="7" name="Rectangle 6"/>
          <p:cNvSpPr/>
          <p:nvPr/>
        </p:nvSpPr>
        <p:spPr>
          <a:xfrm>
            <a:off x="566928" y="1956816"/>
            <a:ext cx="5431536" cy="73152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56816"/>
            <a:ext cx="38100" cy="7315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57400"/>
            <a:ext cx="5120640"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Technical SEO &amp; crawl</a:t>
            </a:r>
          </a:p>
        </p:txBody>
      </p:sp>
      <p:sp>
        <p:nvSpPr>
          <p:cNvPr id="10" name="TextBox 9"/>
          <p:cNvSpPr txBox="1"/>
          <p:nvPr/>
        </p:nvSpPr>
        <p:spPr>
          <a:xfrm>
            <a:off x="731520" y="2322576"/>
            <a:ext cx="5120640" cy="310896"/>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Full sitemap and URL crawl, indexation, redirects, canonical and HTTPS checks</a:t>
            </a:r>
          </a:p>
        </p:txBody>
      </p:sp>
      <p:sp>
        <p:nvSpPr>
          <p:cNvPr id="11" name="Rectangle 10"/>
          <p:cNvSpPr/>
          <p:nvPr/>
        </p:nvSpPr>
        <p:spPr>
          <a:xfrm>
            <a:off x="6199632" y="1956816"/>
            <a:ext cx="5431536" cy="73152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956816"/>
            <a:ext cx="38100" cy="7315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2057400"/>
            <a:ext cx="5120640"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On-page SEO</a:t>
            </a:r>
          </a:p>
        </p:txBody>
      </p:sp>
      <p:sp>
        <p:nvSpPr>
          <p:cNvPr id="14" name="TextBox 13"/>
          <p:cNvSpPr txBox="1"/>
          <p:nvPr/>
        </p:nvSpPr>
        <p:spPr>
          <a:xfrm>
            <a:off x="6364224" y="2322576"/>
            <a:ext cx="5120640" cy="310896"/>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All 13 Tier-1 commercial pages reviewed line by line</a:t>
            </a:r>
          </a:p>
        </p:txBody>
      </p:sp>
      <p:sp>
        <p:nvSpPr>
          <p:cNvPr id="15" name="Rectangle 14"/>
          <p:cNvSpPr/>
          <p:nvPr/>
        </p:nvSpPr>
        <p:spPr>
          <a:xfrm>
            <a:off x="566928" y="2798064"/>
            <a:ext cx="5431536" cy="73152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2798064"/>
            <a:ext cx="38100" cy="7315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98648"/>
            <a:ext cx="5120640"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Content &amp; accuracy</a:t>
            </a:r>
          </a:p>
        </p:txBody>
      </p:sp>
      <p:sp>
        <p:nvSpPr>
          <p:cNvPr id="18" name="TextBox 17"/>
          <p:cNvSpPr txBox="1"/>
          <p:nvPr/>
        </p:nvSpPr>
        <p:spPr>
          <a:xfrm>
            <a:off x="731520" y="3163824"/>
            <a:ext cx="5120640" cy="310896"/>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Tax currency review — dated schemes, deadlines and thresholds</a:t>
            </a:r>
          </a:p>
        </p:txBody>
      </p:sp>
      <p:sp>
        <p:nvSpPr>
          <p:cNvPr id="19" name="Rectangle 18"/>
          <p:cNvSpPr/>
          <p:nvPr/>
        </p:nvSpPr>
        <p:spPr>
          <a:xfrm>
            <a:off x="6199632" y="2798064"/>
            <a:ext cx="5431536" cy="73152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2798064"/>
            <a:ext cx="38100" cy="7315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2898648"/>
            <a:ext cx="5120640"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Search Console analysis</a:t>
            </a:r>
          </a:p>
        </p:txBody>
      </p:sp>
      <p:sp>
        <p:nvSpPr>
          <p:cNvPr id="22" name="TextBox 21"/>
          <p:cNvSpPr txBox="1"/>
          <p:nvPr/>
        </p:nvSpPr>
        <p:spPr>
          <a:xfrm>
            <a:off x="6364224" y="3163824"/>
            <a:ext cx="5120640" cy="310896"/>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90-day query, page and CTR opportunity mining</a:t>
            </a:r>
          </a:p>
        </p:txBody>
      </p:sp>
      <p:sp>
        <p:nvSpPr>
          <p:cNvPr id="23" name="Rectangle 22"/>
          <p:cNvSpPr/>
          <p:nvPr/>
        </p:nvSpPr>
        <p:spPr>
          <a:xfrm>
            <a:off x="566928" y="3639312"/>
            <a:ext cx="5431536" cy="73152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639312"/>
            <a:ext cx="38100" cy="7315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739896"/>
            <a:ext cx="5120640"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GA4 &amp; GTM audit</a:t>
            </a:r>
          </a:p>
        </p:txBody>
      </p:sp>
      <p:sp>
        <p:nvSpPr>
          <p:cNvPr id="26" name="TextBox 25"/>
          <p:cNvSpPr txBox="1"/>
          <p:nvPr/>
        </p:nvSpPr>
        <p:spPr>
          <a:xfrm>
            <a:off x="731520" y="4005072"/>
            <a:ext cx="5120640" cy="310896"/>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Channel, audience, device and conversion-tracking integrity</a:t>
            </a:r>
          </a:p>
        </p:txBody>
      </p:sp>
      <p:sp>
        <p:nvSpPr>
          <p:cNvPr id="27" name="Rectangle 26"/>
          <p:cNvSpPr/>
          <p:nvPr/>
        </p:nvSpPr>
        <p:spPr>
          <a:xfrm>
            <a:off x="6199632" y="3639312"/>
            <a:ext cx="5431536" cy="73152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99632" y="3639312"/>
            <a:ext cx="38100" cy="7315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3739896"/>
            <a:ext cx="5120640"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Performance testing</a:t>
            </a:r>
          </a:p>
        </p:txBody>
      </p:sp>
      <p:sp>
        <p:nvSpPr>
          <p:cNvPr id="30" name="TextBox 29"/>
          <p:cNvSpPr txBox="1"/>
          <p:nvPr/>
        </p:nvSpPr>
        <p:spPr>
          <a:xfrm>
            <a:off x="6364224" y="4005072"/>
            <a:ext cx="5120640" cy="310896"/>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Two mobile lab runs per page across nine key pages</a:t>
            </a:r>
          </a:p>
        </p:txBody>
      </p:sp>
      <p:sp>
        <p:nvSpPr>
          <p:cNvPr id="31" name="Rectangle 30"/>
          <p:cNvSpPr/>
          <p:nvPr/>
        </p:nvSpPr>
        <p:spPr>
          <a:xfrm>
            <a:off x="566928" y="4480560"/>
            <a:ext cx="5431536" cy="73152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480560"/>
            <a:ext cx="38100" cy="7315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81144"/>
            <a:ext cx="5120640"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Schema &amp; local SEO</a:t>
            </a:r>
          </a:p>
        </p:txBody>
      </p:sp>
      <p:sp>
        <p:nvSpPr>
          <p:cNvPr id="34" name="TextBox 33"/>
          <p:cNvSpPr txBox="1"/>
          <p:nvPr/>
        </p:nvSpPr>
        <p:spPr>
          <a:xfrm>
            <a:off x="731520" y="4846320"/>
            <a:ext cx="5120640" cy="310896"/>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Structured data validation and NAP/citation consistency</a:t>
            </a:r>
          </a:p>
        </p:txBody>
      </p:sp>
      <p:sp>
        <p:nvSpPr>
          <p:cNvPr id="35" name="Rectangle 34"/>
          <p:cNvSpPr/>
          <p:nvPr/>
        </p:nvSpPr>
        <p:spPr>
          <a:xfrm>
            <a:off x="6199632" y="4480560"/>
            <a:ext cx="5431536" cy="73152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99632" y="4480560"/>
            <a:ext cx="38100" cy="7315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64224" y="4581144"/>
            <a:ext cx="5120640"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Off-page &amp; authority</a:t>
            </a:r>
          </a:p>
        </p:txBody>
      </p:sp>
      <p:sp>
        <p:nvSpPr>
          <p:cNvPr id="38" name="TextBox 37"/>
          <p:cNvSpPr txBox="1"/>
          <p:nvPr/>
        </p:nvSpPr>
        <p:spPr>
          <a:xfrm>
            <a:off x="6364224" y="4846320"/>
            <a:ext cx="5120640" cy="310896"/>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Backlink opportunity hunt, competitor gap, compliance review</a:t>
            </a:r>
          </a:p>
        </p:txBody>
      </p:sp>
      <p:sp>
        <p:nvSpPr>
          <p:cNvPr id="39" name="Rectangle 38"/>
          <p:cNvSpPr/>
          <p:nvPr/>
        </p:nvSpPr>
        <p:spPr>
          <a:xfrm>
            <a:off x="566928" y="5504688"/>
            <a:ext cx="11064240" cy="65836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5504688"/>
            <a:ext cx="44450" cy="658368"/>
          </a:xfrm>
          <a:prstGeom prst="rect">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596128"/>
            <a:ext cx="10753344" cy="512064"/>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Evidence standard applied throughout: every figure in this report comes from a tool actually run against the live site. Nothing is estimated, inferred or benchmarked from industry averages. Where data was unavailable, it is stated plainly rather than filled with a plausible number.</a:t>
            </a:r>
          </a:p>
        </p:txBody>
      </p:sp>
      <p:sp>
        <p:nvSpPr>
          <p:cNvPr id="42" name="Rectangle 41"/>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6437376"/>
            <a:ext cx="731520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a:t>
            </a:r>
          </a:p>
        </p:txBody>
      </p:sp>
      <p:sp>
        <p:nvSpPr>
          <p:cNvPr id="44" name="TextBox 43"/>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39 DOCUMENTED FINDINGS, EACH WITH EVIDENCE AND A FIX</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700" b="1" i="0">
                <a:solidFill>
                  <a:srgbClr val="1B3A5C"/>
                </a:solidFill>
                <a:latin typeface="Calibri"/>
              </a:rPr>
              <a:t>What We Found</a:t>
            </a:r>
          </a:p>
        </p:txBody>
      </p:sp>
      <p:sp>
        <p:nvSpPr>
          <p:cNvPr id="5" name="Rectangle 4"/>
          <p:cNvSpPr/>
          <p:nvPr/>
        </p:nvSpPr>
        <p:spPr>
          <a:xfrm>
            <a:off x="566928" y="1225296"/>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566928" y="1389888"/>
          <a:ext cx="5257800" cy="2926080"/>
        </p:xfrm>
        <a:graphic>
          <a:graphicData uri="http://schemas.openxmlformats.org/drawingml/2006/chart">
            <c:chart xmlns:c="http://schemas.openxmlformats.org/drawingml/2006/chart" r:id="rId2"/>
          </a:graphicData>
        </a:graphic>
      </p:graphicFrame>
      <p:sp>
        <p:nvSpPr>
          <p:cNvPr id="7" name="TextBox 6"/>
          <p:cNvSpPr txBox="1"/>
          <p:nvPr/>
        </p:nvSpPr>
        <p:spPr>
          <a:xfrm>
            <a:off x="6199632" y="1389888"/>
            <a:ext cx="5431536"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The eight critical items</a:t>
            </a:r>
          </a:p>
        </p:txBody>
      </p:sp>
      <p:graphicFrame>
        <p:nvGraphicFramePr>
          <p:cNvPr id="8" name="Table 7"/>
          <p:cNvGraphicFramePr>
            <a:graphicFrameLocks noGrp="1"/>
          </p:cNvGraphicFramePr>
          <p:nvPr/>
        </p:nvGraphicFramePr>
        <p:xfrm>
          <a:off x="6199632" y="1737360"/>
          <a:ext cx="5431535" cy="2596896"/>
        </p:xfrm>
        <a:graphic>
          <a:graphicData uri="http://schemas.openxmlformats.org/drawingml/2006/table">
            <a:tbl>
              <a:tblPr firstRow="1" bandRow="1">
                <a:tableStyleId>{5C22544A-7EE6-4342-B048-85BDC9FD1C3A}</a:tableStyleId>
              </a:tblPr>
              <a:tblGrid>
                <a:gridCol w="3712463"/>
                <a:gridCol w="1719072"/>
              </a:tblGrid>
              <a:tr h="329184">
                <a:tc>
                  <a:txBody>
                    <a:bodyPr wrap="square"/>
                    <a:lstStyle/>
                    <a:p>
                      <a:r>
                        <a:rPr sz="1000" b="1">
                          <a:solidFill>
                            <a:srgbClr val="FFFFFF"/>
                          </a:solidFill>
                          <a:latin typeface="Calibri"/>
                        </a:rPr>
                        <a:t>Issue</a:t>
                      </a:r>
                    </a:p>
                  </a:txBody>
                  <a:tcPr marL="82296" marR="64008" marT="27432" marB="27432" anchor="ctr">
                    <a:solidFill>
                      <a:srgbClr val="B3261E"/>
                    </a:solidFill>
                  </a:tcPr>
                </a:tc>
                <a:tc>
                  <a:txBody>
                    <a:bodyPr wrap="square"/>
                    <a:lstStyle/>
                    <a:p>
                      <a:r>
                        <a:rPr sz="1000" b="1">
                          <a:solidFill>
                            <a:srgbClr val="FFFFFF"/>
                          </a:solidFill>
                          <a:latin typeface="Calibri"/>
                        </a:rPr>
                        <a:t>Where</a:t>
                      </a:r>
                    </a:p>
                  </a:txBody>
                  <a:tcPr marL="82296" marR="64008" marT="27432" marB="27432" anchor="ctr">
                    <a:solidFill>
                      <a:srgbClr val="B3261E"/>
                    </a:solidFill>
                  </a:tcPr>
                </a:tc>
              </a:tr>
              <a:tr h="283464">
                <a:tc>
                  <a:txBody>
                    <a:bodyPr wrap="square"/>
                    <a:lstStyle/>
                    <a:p>
                      <a:r>
                        <a:rPr sz="1000" b="0">
                          <a:solidFill>
                            <a:srgbClr val="1A1D23"/>
                          </a:solidFill>
                          <a:latin typeface="Calibri"/>
                        </a:rPr>
                        <a:t>Registration URL redirects to another CA firm</a:t>
                      </a:r>
                    </a:p>
                  </a:txBody>
                  <a:tcPr marL="82296" marR="64008" marT="27432" marB="27432" anchor="ctr">
                    <a:solidFill>
                      <a:srgbClr val="FFFFFF"/>
                    </a:solidFill>
                  </a:tcPr>
                </a:tc>
                <a:tc>
                  <a:txBody>
                    <a:bodyPr wrap="square"/>
                    <a:lstStyle/>
                    <a:p>
                      <a:r>
                        <a:rPr sz="1000" b="0">
                          <a:solidFill>
                            <a:srgbClr val="1A1D23"/>
                          </a:solidFill>
                          <a:latin typeface="Calibri"/>
                        </a:rPr>
                        <a:t>Pvt Ltd registration</a:t>
                      </a:r>
                    </a:p>
                  </a:txBody>
                  <a:tcPr marL="82296" marR="64008" marT="27432" marB="27432" anchor="ctr">
                    <a:solidFill>
                      <a:srgbClr val="FFFFFF"/>
                    </a:solidFill>
                  </a:tcPr>
                </a:tc>
              </a:tr>
              <a:tr h="283464">
                <a:tc>
                  <a:txBody>
                    <a:bodyPr wrap="square"/>
                    <a:lstStyle/>
                    <a:p>
                      <a:r>
                        <a:rPr sz="1000" b="0">
                          <a:solidFill>
                            <a:srgbClr val="1A1D23"/>
                          </a:solidFill>
                          <a:latin typeface="Calibri"/>
                        </a:rPr>
                        <a:t>Page FAQ names a different company entirely</a:t>
                      </a:r>
                    </a:p>
                  </a:txBody>
                  <a:tcPr marL="82296" marR="64008" marT="27432" marB="27432" anchor="ctr">
                    <a:solidFill>
                      <a:srgbClr val="ECEFF3"/>
                    </a:solidFill>
                  </a:tcPr>
                </a:tc>
                <a:tc>
                  <a:txBody>
                    <a:bodyPr wrap="square"/>
                    <a:lstStyle/>
                    <a:p>
                      <a:r>
                        <a:rPr sz="1000" b="0">
                          <a:solidFill>
                            <a:srgbClr val="1A1D23"/>
                          </a:solidFill>
                          <a:latin typeface="Calibri"/>
                        </a:rPr>
                        <a:t>Accounting Services</a:t>
                      </a:r>
                    </a:p>
                  </a:txBody>
                  <a:tcPr marL="82296" marR="64008" marT="27432" marB="27432" anchor="ctr">
                    <a:solidFill>
                      <a:srgbClr val="ECEFF3"/>
                    </a:solidFill>
                  </a:tcPr>
                </a:tc>
              </a:tr>
              <a:tr h="283464">
                <a:tc>
                  <a:txBody>
                    <a:bodyPr wrap="square"/>
                    <a:lstStyle/>
                    <a:p>
                      <a:r>
                        <a:rPr sz="1000" b="0">
                          <a:solidFill>
                            <a:srgbClr val="1A1D23"/>
                          </a:solidFill>
                          <a:latin typeface="Calibri"/>
                        </a:rPr>
                        <a:t>Assessment Year 2020-21 cited as current</a:t>
                      </a:r>
                    </a:p>
                  </a:txBody>
                  <a:tcPr marL="82296" marR="64008" marT="27432" marB="27432" anchor="ctr">
                    <a:solidFill>
                      <a:srgbClr val="FFFFFF"/>
                    </a:solidFill>
                  </a:tcPr>
                </a:tc>
                <a:tc>
                  <a:txBody>
                    <a:bodyPr wrap="square"/>
                    <a:lstStyle/>
                    <a:p>
                      <a:r>
                        <a:rPr sz="1000" b="0">
                          <a:solidFill>
                            <a:srgbClr val="1A1D23"/>
                          </a:solidFill>
                          <a:latin typeface="Calibri"/>
                        </a:rPr>
                        <a:t>ITR Mumbai</a:t>
                      </a:r>
                    </a:p>
                  </a:txBody>
                  <a:tcPr marL="82296" marR="64008" marT="27432" marB="27432" anchor="ctr">
                    <a:solidFill>
                      <a:srgbClr val="FFFFFF"/>
                    </a:solidFill>
                  </a:tcPr>
                </a:tc>
              </a:tr>
              <a:tr h="283464">
                <a:tc>
                  <a:txBody>
                    <a:bodyPr wrap="square"/>
                    <a:lstStyle/>
                    <a:p>
                      <a:r>
                        <a:rPr sz="1000" b="0">
                          <a:solidFill>
                            <a:srgbClr val="1A1D23"/>
                          </a:solidFill>
                          <a:latin typeface="Calibri"/>
                        </a:rPr>
                        <a:t>FY 2021-22 compliance table shown as current</a:t>
                      </a:r>
                    </a:p>
                  </a:txBody>
                  <a:tcPr marL="82296" marR="64008" marT="27432" marB="27432" anchor="ctr">
                    <a:solidFill>
                      <a:srgbClr val="ECEFF3"/>
                    </a:solidFill>
                  </a:tcPr>
                </a:tc>
                <a:tc>
                  <a:txBody>
                    <a:bodyPr wrap="square"/>
                    <a:lstStyle/>
                    <a:p>
                      <a:r>
                        <a:rPr sz="1000" b="0">
                          <a:solidFill>
                            <a:srgbClr val="1A1D23"/>
                          </a:solidFill>
                          <a:latin typeface="Calibri"/>
                        </a:rPr>
                        <a:t>LLP Annual Filing</a:t>
                      </a:r>
                    </a:p>
                  </a:txBody>
                  <a:tcPr marL="82296" marR="64008" marT="27432" marB="27432" anchor="ctr">
                    <a:solidFill>
                      <a:srgbClr val="ECEFF3"/>
                    </a:solidFill>
                  </a:tcPr>
                </a:tc>
              </a:tr>
              <a:tr h="283464">
                <a:tc>
                  <a:txBody>
                    <a:bodyPr wrap="square"/>
                    <a:lstStyle/>
                    <a:p>
                      <a:r>
                        <a:rPr sz="1000" b="0">
                          <a:solidFill>
                            <a:srgbClr val="1A1D23"/>
                          </a:solidFill>
                          <a:latin typeface="Calibri"/>
                        </a:rPr>
                        <a:t>Passed 2021-22 deadlines shown without context</a:t>
                      </a:r>
                    </a:p>
                  </a:txBody>
                  <a:tcPr marL="82296" marR="64008" marT="27432" marB="27432" anchor="ctr">
                    <a:solidFill>
                      <a:srgbClr val="FFFFFF"/>
                    </a:solidFill>
                  </a:tcPr>
                </a:tc>
                <a:tc>
                  <a:txBody>
                    <a:bodyPr wrap="square"/>
                    <a:lstStyle/>
                    <a:p>
                      <a:r>
                        <a:rPr sz="1000" b="0">
                          <a:solidFill>
                            <a:srgbClr val="1A1D23"/>
                          </a:solidFill>
                          <a:latin typeface="Calibri"/>
                        </a:rPr>
                        <a:t>12A / 80G</a:t>
                      </a:r>
                    </a:p>
                  </a:txBody>
                  <a:tcPr marL="82296" marR="64008" marT="27432" marB="27432" anchor="ctr">
                    <a:solidFill>
                      <a:srgbClr val="FFFFFF"/>
                    </a:solidFill>
                  </a:tcPr>
                </a:tc>
              </a:tr>
              <a:tr h="283464">
                <a:tc>
                  <a:txBody>
                    <a:bodyPr wrap="square"/>
                    <a:lstStyle/>
                    <a:p>
                      <a:r>
                        <a:rPr sz="1000" b="0">
                          <a:solidFill>
                            <a:srgbClr val="1A1D23"/>
                          </a:solidFill>
                          <a:latin typeface="Calibri"/>
                        </a:rPr>
                        <a:t>Oct 2021 GST due dates, no disclaimer</a:t>
                      </a:r>
                    </a:p>
                  </a:txBody>
                  <a:tcPr marL="82296" marR="64008" marT="27432" marB="27432" anchor="ctr">
                    <a:solidFill>
                      <a:srgbClr val="ECEFF3"/>
                    </a:solidFill>
                  </a:tcPr>
                </a:tc>
                <a:tc>
                  <a:txBody>
                    <a:bodyPr wrap="square"/>
                    <a:lstStyle/>
                    <a:p>
                      <a:r>
                        <a:rPr sz="1000" b="0">
                          <a:solidFill>
                            <a:srgbClr val="1A1D23"/>
                          </a:solidFill>
                          <a:latin typeface="Calibri"/>
                        </a:rPr>
                        <a:t>GST update post</a:t>
                      </a:r>
                    </a:p>
                  </a:txBody>
                  <a:tcPr marL="82296" marR="64008" marT="27432" marB="27432" anchor="ctr">
                    <a:solidFill>
                      <a:srgbClr val="ECEFF3"/>
                    </a:solidFill>
                  </a:tcPr>
                </a:tc>
              </a:tr>
              <a:tr h="283464">
                <a:tc>
                  <a:txBody>
                    <a:bodyPr wrap="square"/>
                    <a:lstStyle/>
                    <a:p>
                      <a:r>
                        <a:rPr sz="1000" b="0">
                          <a:solidFill>
                            <a:srgbClr val="1A1D23"/>
                          </a:solidFill>
                          <a:latin typeface="Calibri"/>
                        </a:rPr>
                        <a:t>Nov 2022 due-date calendar, no disclaimer</a:t>
                      </a:r>
                    </a:p>
                  </a:txBody>
                  <a:tcPr marL="82296" marR="64008" marT="27432" marB="27432" anchor="ctr">
                    <a:solidFill>
                      <a:srgbClr val="FFFFFF"/>
                    </a:solidFill>
                  </a:tcPr>
                </a:tc>
                <a:tc>
                  <a:txBody>
                    <a:bodyPr wrap="square"/>
                    <a:lstStyle/>
                    <a:p>
                      <a:r>
                        <a:rPr sz="1000" b="0">
                          <a:solidFill>
                            <a:srgbClr val="1A1D23"/>
                          </a:solidFill>
                          <a:latin typeface="Calibri"/>
                        </a:rPr>
                        <a:t>Due-date post</a:t>
                      </a:r>
                    </a:p>
                  </a:txBody>
                  <a:tcPr marL="82296" marR="64008" marT="27432" marB="27432" anchor="ctr">
                    <a:solidFill>
                      <a:srgbClr val="FFFFFF"/>
                    </a:solidFill>
                  </a:tcPr>
                </a:tc>
              </a:tr>
              <a:tr h="283464">
                <a:tc>
                  <a:txBody>
                    <a:bodyPr wrap="square"/>
                    <a:lstStyle/>
                    <a:p>
                      <a:r>
                        <a:rPr sz="1000" b="0">
                          <a:solidFill>
                            <a:srgbClr val="1A1D23"/>
                          </a:solidFill>
                          <a:latin typeface="Calibri"/>
                        </a:rPr>
                        <a:t>Closed late-fee waiver shown as live</a:t>
                      </a:r>
                    </a:p>
                  </a:txBody>
                  <a:tcPr marL="82296" marR="64008" marT="27432" marB="27432" anchor="ctr">
                    <a:solidFill>
                      <a:srgbClr val="ECEFF3"/>
                    </a:solidFill>
                  </a:tcPr>
                </a:tc>
                <a:tc>
                  <a:txBody>
                    <a:bodyPr wrap="square"/>
                    <a:lstStyle/>
                    <a:p>
                      <a:r>
                        <a:rPr sz="1000" b="0">
                          <a:solidFill>
                            <a:srgbClr val="1A1D23"/>
                          </a:solidFill>
                          <a:latin typeface="Calibri"/>
                        </a:rPr>
                        <a:t>GST annual return</a:t>
                      </a:r>
                    </a:p>
                  </a:txBody>
                  <a:tcPr marL="82296" marR="64008" marT="27432" marB="27432" anchor="ctr">
                    <a:solidFill>
                      <a:srgbClr val="ECEFF3"/>
                    </a:solidFill>
                  </a:tcPr>
                </a:tc>
              </a:tr>
            </a:tbl>
          </a:graphicData>
        </a:graphic>
      </p:graphicFrame>
      <p:sp>
        <p:nvSpPr>
          <p:cNvPr id="9" name="Rectangle 8"/>
          <p:cNvSpPr/>
          <p:nvPr/>
        </p:nvSpPr>
        <p:spPr>
          <a:xfrm>
            <a:off x="566928" y="4590288"/>
            <a:ext cx="5257800" cy="129844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4590288"/>
            <a:ext cx="44450" cy="129844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681728"/>
            <a:ext cx="4946904" cy="1152144"/>
          </a:xfrm>
          <a:prstGeom prst="rect">
            <a:avLst/>
          </a:prstGeom>
          <a:noFill/>
        </p:spPr>
        <p:txBody>
          <a:bodyPr wrap="square" lIns="0" rIns="0" tIns="0" bIns="0" anchor="t">
            <a:spAutoFit/>
          </a:bodyPr>
          <a:lstStyle/>
          <a:p>
            <a:pPr algn="l">
              <a:lnSpc>
                <a:spcPct val="105000"/>
              </a:lnSpc>
            </a:pPr>
            <a:r>
              <a:rPr sz="1050" b="0" i="0">
                <a:solidFill>
                  <a:srgbClr val="1A1D23"/>
                </a:solidFill>
                <a:latin typeface="Calibri"/>
              </a:rPr>
              <a:t>Six of the eight critical findings are outdated tax content presented as current.</a:t>
            </a:r>
          </a:p>
          <a:p>
            <a:pPr algn="l">
              <a:lnSpc>
                <a:spcPct val="105000"/>
              </a:lnSpc>
            </a:pPr>
            <a:r>
              <a:rPr sz="1050" b="0" i="0">
                <a:solidFill>
                  <a:srgbClr val="1A1D23"/>
                </a:solidFill>
                <a:latin typeface="Calibri"/>
              </a:rPr>
              <a:t/>
            </a:r>
          </a:p>
          <a:p>
            <a:pPr algn="l">
              <a:lnSpc>
                <a:spcPct val="105000"/>
              </a:lnSpc>
            </a:pPr>
            <a:r>
              <a:rPr sz="1050" b="0" i="0">
                <a:solidFill>
                  <a:srgbClr val="1A1D23"/>
                </a:solidFill>
                <a:latin typeface="Calibri"/>
              </a:rPr>
              <a:t>For a CA firm this is a client-trust and professional-risk issue before it is an SEO issue — and it is also among the fastest to fix.</a:t>
            </a:r>
          </a:p>
        </p:txBody>
      </p:sp>
      <p:sp>
        <p:nvSpPr>
          <p:cNvPr id="12" name="Rectangle 11"/>
          <p:cNvSpPr/>
          <p:nvPr/>
        </p:nvSpPr>
        <p:spPr>
          <a:xfrm>
            <a:off x="566928" y="5980176"/>
            <a:ext cx="11064240" cy="38404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5980176"/>
            <a:ext cx="44450" cy="384048"/>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071616"/>
            <a:ext cx="10753344" cy="237744"/>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Every finding is documented with evidence, affected URLs, root cause, a step-by-step fix and a validation method. No fixes have been applied to the live site — implementation remains with the firm.</a:t>
            </a:r>
          </a:p>
        </p:txBody>
      </p:sp>
      <p:sp>
        <p:nvSpPr>
          <p:cNvPr id="15" name="Rectangle 14"/>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37376"/>
            <a:ext cx="731520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a:t>
            </a:r>
          </a:p>
        </p:txBody>
      </p:sp>
      <p:sp>
        <p:nvSpPr>
          <p:cNvPr id="17" name="TextBox 16"/>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THE SINGLE HIGHEST-VALUE FIX AVAILABLE</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700" b="1" i="0">
                <a:solidFill>
                  <a:srgbClr val="1B3A5C"/>
                </a:solidFill>
                <a:latin typeface="Calibri"/>
              </a:rPr>
              <a:t>Priority Issue: Company Registration Leads Are Leaving</a:t>
            </a:r>
          </a:p>
        </p:txBody>
      </p:sp>
      <p:sp>
        <p:nvSpPr>
          <p:cNvPr id="5" name="Rectangle 4"/>
          <p:cNvSpPr/>
          <p:nvPr/>
        </p:nvSpPr>
        <p:spPr>
          <a:xfrm>
            <a:off x="566928" y="1225296"/>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35024"/>
            <a:ext cx="11064240" cy="1042415"/>
          </a:xfrm>
          <a:prstGeom prst="rect">
            <a:avLst/>
          </a:prstGeom>
          <a:solidFill>
            <a:srgbClr val="FFFFFF"/>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35024"/>
            <a:ext cx="63500" cy="1042415"/>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463040"/>
            <a:ext cx="10515600" cy="274320"/>
          </a:xfrm>
          <a:prstGeom prst="rect">
            <a:avLst/>
          </a:prstGeom>
          <a:noFill/>
        </p:spPr>
        <p:txBody>
          <a:bodyPr wrap="square" lIns="0" rIns="0" tIns="0" bIns="0" anchor="t">
            <a:spAutoFit/>
          </a:bodyPr>
          <a:lstStyle/>
          <a:p>
            <a:pPr algn="l">
              <a:lnSpc>
                <a:spcPct val="100000"/>
              </a:lnSpc>
            </a:pPr>
            <a:r>
              <a:rPr sz="1050" b="1" i="0">
                <a:solidFill>
                  <a:srgbClr val="B3261E"/>
                </a:solidFill>
                <a:latin typeface="Calibri"/>
              </a:rPr>
              <a:t>CRITICAL  ·  Confirmed by live crawl and Google Search Console</a:t>
            </a:r>
          </a:p>
        </p:txBody>
      </p:sp>
      <p:sp>
        <p:nvSpPr>
          <p:cNvPr id="9" name="TextBox 8"/>
          <p:cNvSpPr txBox="1"/>
          <p:nvPr/>
        </p:nvSpPr>
        <p:spPr>
          <a:xfrm>
            <a:off x="841248" y="1755648"/>
            <a:ext cx="10515600" cy="530352"/>
          </a:xfrm>
          <a:prstGeom prst="rect">
            <a:avLst/>
          </a:prstGeom>
          <a:noFill/>
        </p:spPr>
        <p:txBody>
          <a:bodyPr wrap="square" lIns="0" rIns="0" tIns="0" bIns="0" anchor="t">
            <a:spAutoFit/>
          </a:bodyPr>
          <a:lstStyle/>
          <a:p>
            <a:pPr algn="l">
              <a:lnSpc>
                <a:spcPct val="106000"/>
              </a:lnSpc>
            </a:pPr>
            <a:r>
              <a:rPr sz="1250" b="0" i="0">
                <a:solidFill>
                  <a:srgbClr val="1A1D23"/>
                </a:solidFill>
                <a:latin typeface="Calibri"/>
              </a:rPr>
              <a:t>cashahnawaz.com/private-limited-company-registration/  permanently redirects to  anamca.com — a different CA firm. Google confirms the external URL as canonical. Four further internal URLs redirect to the same destination.</a:t>
            </a:r>
          </a:p>
        </p:txBody>
      </p:sp>
      <p:sp>
        <p:nvSpPr>
          <p:cNvPr id="10" name="TextBox 9"/>
          <p:cNvSpPr txBox="1"/>
          <p:nvPr/>
        </p:nvSpPr>
        <p:spPr>
          <a:xfrm>
            <a:off x="566928" y="2578608"/>
            <a:ext cx="5431536"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Why this matters commercially</a:t>
            </a:r>
          </a:p>
        </p:txBody>
      </p:sp>
      <p:sp>
        <p:nvSpPr>
          <p:cNvPr id="11" name="Oval 10"/>
          <p:cNvSpPr/>
          <p:nvPr/>
        </p:nvSpPr>
        <p:spPr>
          <a:xfrm>
            <a:off x="566928" y="2976372"/>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907792"/>
            <a:ext cx="5230368" cy="658368"/>
          </a:xfrm>
          <a:prstGeom prst="rect">
            <a:avLst/>
          </a:prstGeom>
          <a:noFill/>
        </p:spPr>
        <p:txBody>
          <a:bodyPr wrap="square" lIns="0" rIns="0" tIns="0" bIns="0" anchor="t">
            <a:spAutoFit/>
          </a:bodyPr>
          <a:lstStyle/>
          <a:p>
            <a:pPr algn="l">
              <a:lnSpc>
                <a:spcPct val="106000"/>
              </a:lnSpc>
            </a:pPr>
            <a:r>
              <a:rPr sz="1150" b="0" i="0">
                <a:solidFill>
                  <a:srgbClr val="1A1D23"/>
                </a:solidFill>
                <a:latin typeface="Calibri"/>
              </a:rPr>
              <a:t>Private Limited Company is the dominant entity type new businesses register — this is high-intent, high-value demand.</a:t>
            </a:r>
          </a:p>
        </p:txBody>
      </p:sp>
      <p:sp>
        <p:nvSpPr>
          <p:cNvPr id="13" name="Oval 12"/>
          <p:cNvSpPr/>
          <p:nvPr/>
        </p:nvSpPr>
        <p:spPr>
          <a:xfrm>
            <a:off x="566928" y="3634740"/>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3566160"/>
            <a:ext cx="5230368" cy="658368"/>
          </a:xfrm>
          <a:prstGeom prst="rect">
            <a:avLst/>
          </a:prstGeom>
          <a:noFill/>
        </p:spPr>
        <p:txBody>
          <a:bodyPr wrap="square" lIns="0" rIns="0" tIns="0" bIns="0" anchor="t">
            <a:spAutoFit/>
          </a:bodyPr>
          <a:lstStyle/>
          <a:p>
            <a:pPr algn="l">
              <a:lnSpc>
                <a:spcPct val="106000"/>
              </a:lnSpc>
            </a:pPr>
            <a:r>
              <a:rPr sz="1150" b="0" i="0">
                <a:solidFill>
                  <a:srgbClr val="1A1D23"/>
                </a:solidFill>
                <a:latin typeface="Calibri"/>
              </a:rPr>
              <a:t>Every visitor reaching that URL is handed to another firm, along with the ranking signals the page had accumulated.</a:t>
            </a:r>
          </a:p>
        </p:txBody>
      </p:sp>
      <p:sp>
        <p:nvSpPr>
          <p:cNvPr id="15" name="Oval 14"/>
          <p:cNvSpPr/>
          <p:nvPr/>
        </p:nvSpPr>
        <p:spPr>
          <a:xfrm>
            <a:off x="566928" y="4293108"/>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224528"/>
            <a:ext cx="5230368" cy="658368"/>
          </a:xfrm>
          <a:prstGeom prst="rect">
            <a:avLst/>
          </a:prstGeom>
          <a:noFill/>
        </p:spPr>
        <p:txBody>
          <a:bodyPr wrap="square" lIns="0" rIns="0" tIns="0" bIns="0" anchor="t">
            <a:spAutoFit/>
          </a:bodyPr>
          <a:lstStyle/>
          <a:p>
            <a:pPr algn="l">
              <a:lnSpc>
                <a:spcPct val="106000"/>
              </a:lnSpc>
            </a:pPr>
            <a:r>
              <a:rPr sz="1150" b="0" i="0">
                <a:solidFill>
                  <a:srgbClr val="1A1D23"/>
                </a:solidFill>
                <a:latin typeface="Calibri"/>
              </a:rPr>
              <a:t>There is currently no dedicated Private Limited Company registration page on the site at all.</a:t>
            </a:r>
          </a:p>
        </p:txBody>
      </p:sp>
      <p:sp>
        <p:nvSpPr>
          <p:cNvPr id="17" name="TextBox 16"/>
          <p:cNvSpPr txBox="1"/>
          <p:nvPr/>
        </p:nvSpPr>
        <p:spPr>
          <a:xfrm>
            <a:off x="6199632" y="2578608"/>
            <a:ext cx="5431536"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Recommended sequence</a:t>
            </a:r>
          </a:p>
        </p:txBody>
      </p:sp>
      <p:sp>
        <p:nvSpPr>
          <p:cNvPr id="18" name="Oval 17"/>
          <p:cNvSpPr/>
          <p:nvPr/>
        </p:nvSpPr>
        <p:spPr>
          <a:xfrm>
            <a:off x="6199632" y="2907792"/>
            <a:ext cx="310896" cy="310896"/>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9632" y="2958084"/>
            <a:ext cx="310896" cy="237744"/>
          </a:xfrm>
          <a:prstGeom prst="rect">
            <a:avLst/>
          </a:prstGeom>
          <a:noFill/>
        </p:spPr>
        <p:txBody>
          <a:bodyPr wrap="square" lIns="0" rIns="0" tIns="0" bIns="0" anchor="t">
            <a:spAutoFit/>
          </a:bodyPr>
          <a:lstStyle/>
          <a:p>
            <a:pPr algn="ctr">
              <a:lnSpc>
                <a:spcPct val="100000"/>
              </a:lnSpc>
            </a:pPr>
            <a:r>
              <a:rPr sz="1100" b="1" i="0">
                <a:solidFill>
                  <a:srgbClr val="FFFFFF"/>
                </a:solidFill>
                <a:latin typeface="Calibri"/>
              </a:rPr>
              <a:t>1</a:t>
            </a:r>
          </a:p>
        </p:txBody>
      </p:sp>
      <p:sp>
        <p:nvSpPr>
          <p:cNvPr id="20" name="TextBox 19"/>
          <p:cNvSpPr txBox="1"/>
          <p:nvPr/>
        </p:nvSpPr>
        <p:spPr>
          <a:xfrm>
            <a:off x="6620256" y="2898648"/>
            <a:ext cx="5010912"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Remove the redirect</a:t>
            </a:r>
          </a:p>
        </p:txBody>
      </p:sp>
      <p:sp>
        <p:nvSpPr>
          <p:cNvPr id="21" name="TextBox 20"/>
          <p:cNvSpPr txBox="1"/>
          <p:nvPr/>
        </p:nvSpPr>
        <p:spPr>
          <a:xfrm>
            <a:off x="6620256" y="3136392"/>
            <a:ext cx="5010912" cy="256032"/>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Identify and delete the redirect rule in Rank Math / .htaccess</a:t>
            </a:r>
          </a:p>
        </p:txBody>
      </p:sp>
      <p:sp>
        <p:nvSpPr>
          <p:cNvPr id="22" name="Oval 21"/>
          <p:cNvSpPr/>
          <p:nvPr/>
        </p:nvSpPr>
        <p:spPr>
          <a:xfrm>
            <a:off x="6199632" y="3547872"/>
            <a:ext cx="310896" cy="310896"/>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9632" y="3598164"/>
            <a:ext cx="310896" cy="237744"/>
          </a:xfrm>
          <a:prstGeom prst="rect">
            <a:avLst/>
          </a:prstGeom>
          <a:noFill/>
        </p:spPr>
        <p:txBody>
          <a:bodyPr wrap="square" lIns="0" rIns="0" tIns="0" bIns="0" anchor="t">
            <a:spAutoFit/>
          </a:bodyPr>
          <a:lstStyle/>
          <a:p>
            <a:pPr algn="ctr">
              <a:lnSpc>
                <a:spcPct val="100000"/>
              </a:lnSpc>
            </a:pPr>
            <a:r>
              <a:rPr sz="1100" b="1" i="0">
                <a:solidFill>
                  <a:srgbClr val="FFFFFF"/>
                </a:solidFill>
                <a:latin typeface="Calibri"/>
              </a:rPr>
              <a:t>2</a:t>
            </a:r>
          </a:p>
        </p:txBody>
      </p:sp>
      <p:sp>
        <p:nvSpPr>
          <p:cNvPr id="24" name="TextBox 23"/>
          <p:cNvSpPr txBox="1"/>
          <p:nvPr/>
        </p:nvSpPr>
        <p:spPr>
          <a:xfrm>
            <a:off x="6620256" y="3538728"/>
            <a:ext cx="5010912"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Build the destination page</a:t>
            </a:r>
          </a:p>
        </p:txBody>
      </p:sp>
      <p:sp>
        <p:nvSpPr>
          <p:cNvPr id="25" name="TextBox 24"/>
          <p:cNvSpPr txBox="1"/>
          <p:nvPr/>
        </p:nvSpPr>
        <p:spPr>
          <a:xfrm>
            <a:off x="6620256" y="3776472"/>
            <a:ext cx="5010912" cy="256032"/>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A genuine Private Limited Company Registration service page</a:t>
            </a:r>
          </a:p>
        </p:txBody>
      </p:sp>
      <p:sp>
        <p:nvSpPr>
          <p:cNvPr id="26" name="Oval 25"/>
          <p:cNvSpPr/>
          <p:nvPr/>
        </p:nvSpPr>
        <p:spPr>
          <a:xfrm>
            <a:off x="6199632" y="4187952"/>
            <a:ext cx="310896" cy="310896"/>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632" y="4238244"/>
            <a:ext cx="310896" cy="237744"/>
          </a:xfrm>
          <a:prstGeom prst="rect">
            <a:avLst/>
          </a:prstGeom>
          <a:noFill/>
        </p:spPr>
        <p:txBody>
          <a:bodyPr wrap="square" lIns="0" rIns="0" tIns="0" bIns="0" anchor="t">
            <a:spAutoFit/>
          </a:bodyPr>
          <a:lstStyle/>
          <a:p>
            <a:pPr algn="ctr">
              <a:lnSpc>
                <a:spcPct val="100000"/>
              </a:lnSpc>
            </a:pPr>
            <a:r>
              <a:rPr sz="1100" b="1" i="0">
                <a:solidFill>
                  <a:srgbClr val="FFFFFF"/>
                </a:solidFill>
                <a:latin typeface="Calibri"/>
              </a:rPr>
              <a:t>3</a:t>
            </a:r>
          </a:p>
        </p:txBody>
      </p:sp>
      <p:sp>
        <p:nvSpPr>
          <p:cNvPr id="28" name="TextBox 27"/>
          <p:cNvSpPr txBox="1"/>
          <p:nvPr/>
        </p:nvSpPr>
        <p:spPr>
          <a:xfrm>
            <a:off x="6620256" y="4178808"/>
            <a:ext cx="5010912"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Reclaim the four other URLs</a:t>
            </a:r>
          </a:p>
        </p:txBody>
      </p:sp>
      <p:sp>
        <p:nvSpPr>
          <p:cNvPr id="29" name="TextBox 28"/>
          <p:cNvSpPr txBox="1"/>
          <p:nvPr/>
        </p:nvSpPr>
        <p:spPr>
          <a:xfrm>
            <a:off x="6620256" y="4416552"/>
            <a:ext cx="5010912" cy="256032"/>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Point them to the correct internal pages</a:t>
            </a:r>
          </a:p>
        </p:txBody>
      </p:sp>
      <p:sp>
        <p:nvSpPr>
          <p:cNvPr id="30" name="Oval 29"/>
          <p:cNvSpPr/>
          <p:nvPr/>
        </p:nvSpPr>
        <p:spPr>
          <a:xfrm>
            <a:off x="6199632" y="4828032"/>
            <a:ext cx="310896" cy="310896"/>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99632" y="4878324"/>
            <a:ext cx="310896" cy="237744"/>
          </a:xfrm>
          <a:prstGeom prst="rect">
            <a:avLst/>
          </a:prstGeom>
          <a:noFill/>
        </p:spPr>
        <p:txBody>
          <a:bodyPr wrap="square" lIns="0" rIns="0" tIns="0" bIns="0" anchor="t">
            <a:spAutoFit/>
          </a:bodyPr>
          <a:lstStyle/>
          <a:p>
            <a:pPr algn="ctr">
              <a:lnSpc>
                <a:spcPct val="100000"/>
              </a:lnSpc>
            </a:pPr>
            <a:r>
              <a:rPr sz="1100" b="1" i="0">
                <a:solidFill>
                  <a:srgbClr val="FFFFFF"/>
                </a:solidFill>
                <a:latin typeface="Calibri"/>
              </a:rPr>
              <a:t>4</a:t>
            </a:r>
          </a:p>
        </p:txBody>
      </p:sp>
      <p:sp>
        <p:nvSpPr>
          <p:cNvPr id="32" name="TextBox 31"/>
          <p:cNvSpPr txBox="1"/>
          <p:nvPr/>
        </p:nvSpPr>
        <p:spPr>
          <a:xfrm>
            <a:off x="6620256" y="4818888"/>
            <a:ext cx="5010912" cy="237744"/>
          </a:xfrm>
          <a:prstGeom prst="rect">
            <a:avLst/>
          </a:prstGeom>
          <a:noFill/>
        </p:spPr>
        <p:txBody>
          <a:bodyPr wrap="square" lIns="0" rIns="0" tIns="0" bIns="0" anchor="t">
            <a:spAutoFit/>
          </a:bodyPr>
          <a:lstStyle/>
          <a:p>
            <a:pPr algn="l">
              <a:lnSpc>
                <a:spcPct val="100000"/>
              </a:lnSpc>
            </a:pPr>
            <a:r>
              <a:rPr sz="1150" b="1" i="0">
                <a:solidFill>
                  <a:srgbClr val="1B3A5C"/>
                </a:solidFill>
                <a:latin typeface="Calibri"/>
              </a:rPr>
              <a:t>Re-inspect in Search Console</a:t>
            </a:r>
          </a:p>
        </p:txBody>
      </p:sp>
      <p:sp>
        <p:nvSpPr>
          <p:cNvPr id="33" name="TextBox 32"/>
          <p:cNvSpPr txBox="1"/>
          <p:nvPr/>
        </p:nvSpPr>
        <p:spPr>
          <a:xfrm>
            <a:off x="6620256" y="5056632"/>
            <a:ext cx="5010912" cy="256032"/>
          </a:xfrm>
          <a:prstGeom prst="rect">
            <a:avLst/>
          </a:prstGeom>
          <a:noFill/>
        </p:spPr>
        <p:txBody>
          <a:bodyPr wrap="square" lIns="0" rIns="0" tIns="0" bIns="0" anchor="t">
            <a:spAutoFit/>
          </a:bodyPr>
          <a:lstStyle/>
          <a:p>
            <a:pPr algn="l">
              <a:lnSpc>
                <a:spcPct val="100000"/>
              </a:lnSpc>
            </a:pPr>
            <a:r>
              <a:rPr sz="950" b="0" i="0">
                <a:solidFill>
                  <a:srgbClr val="6B7280"/>
                </a:solidFill>
                <a:latin typeface="Calibri"/>
              </a:rPr>
              <a:t>Confirm the canonical returns to cashahnawaz.com</a:t>
            </a:r>
          </a:p>
        </p:txBody>
      </p:sp>
      <p:sp>
        <p:nvSpPr>
          <p:cNvPr id="34" name="Rectangle 33"/>
          <p:cNvSpPr/>
          <p:nvPr/>
        </p:nvSpPr>
        <p:spPr>
          <a:xfrm>
            <a:off x="566928" y="5541264"/>
            <a:ext cx="11064240" cy="713232"/>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541264"/>
            <a:ext cx="44450" cy="713232"/>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632704"/>
            <a:ext cx="10753344" cy="566928"/>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Second critical measurement issue: the published GTM container fires the WhatsApp trigger on every link click, not only WhatsApp clicks. The 587 recorded whatsapp_click events therefore cannot be treated as genuine enquiries, and successful form submissions are not tracked at all. Until this is corrected, enquiry volume cannot be reported accurately.</a:t>
            </a:r>
          </a:p>
        </p:txBody>
      </p:sp>
      <p:sp>
        <p:nvSpPr>
          <p:cNvPr id="37" name="Rectangle 36"/>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6437376"/>
            <a:ext cx="731520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a:t>
            </a:r>
          </a:p>
        </p:txBody>
      </p:sp>
      <p:sp>
        <p:nvSpPr>
          <p:cNvPr id="39" name="TextBox 38"/>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FOUNDATIONS ARE SOUND; MOBILE SPEED IS THE WEAK POINT</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700" b="1" i="0">
                <a:solidFill>
                  <a:srgbClr val="1B3A5C"/>
                </a:solidFill>
                <a:latin typeface="Calibri"/>
              </a:rPr>
              <a:t>Technical Health &amp; Site Speed</a:t>
            </a:r>
          </a:p>
        </p:txBody>
      </p:sp>
      <p:sp>
        <p:nvSpPr>
          <p:cNvPr id="5" name="Rectangle 4"/>
          <p:cNvSpPr/>
          <p:nvPr/>
        </p:nvSpPr>
        <p:spPr>
          <a:xfrm>
            <a:off x="566928" y="1225296"/>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35024"/>
            <a:ext cx="5431536"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Technical foundations — verified healthy</a:t>
            </a:r>
          </a:p>
        </p:txBody>
      </p:sp>
      <p:sp>
        <p:nvSpPr>
          <p:cNvPr id="7" name="Rectangle 6"/>
          <p:cNvSpPr/>
          <p:nvPr/>
        </p:nvSpPr>
        <p:spPr>
          <a:xfrm>
            <a:off x="566928" y="1682496"/>
            <a:ext cx="5431536" cy="45720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82496"/>
            <a:ext cx="38100" cy="4572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737360"/>
            <a:ext cx="3383280" cy="219456"/>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HTTPS and non-WWW enforcement</a:t>
            </a:r>
          </a:p>
        </p:txBody>
      </p:sp>
      <p:sp>
        <p:nvSpPr>
          <p:cNvPr id="10" name="TextBox 9"/>
          <p:cNvSpPr txBox="1"/>
          <p:nvPr/>
        </p:nvSpPr>
        <p:spPr>
          <a:xfrm>
            <a:off x="786384" y="1929384"/>
            <a:ext cx="3383280" cy="201168"/>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Working correctly</a:t>
            </a:r>
          </a:p>
        </p:txBody>
      </p:sp>
      <p:sp>
        <p:nvSpPr>
          <p:cNvPr id="11" name="TextBox 10"/>
          <p:cNvSpPr txBox="1"/>
          <p:nvPr/>
        </p:nvSpPr>
        <p:spPr>
          <a:xfrm>
            <a:off x="4846320" y="1801368"/>
            <a:ext cx="1005840" cy="237744"/>
          </a:xfrm>
          <a:prstGeom prst="rect">
            <a:avLst/>
          </a:prstGeom>
          <a:noFill/>
        </p:spPr>
        <p:txBody>
          <a:bodyPr wrap="square" lIns="0" rIns="0" tIns="0" bIns="0" anchor="t">
            <a:spAutoFit/>
          </a:bodyPr>
          <a:lstStyle/>
          <a:p>
            <a:pPr algn="r">
              <a:lnSpc>
                <a:spcPct val="100000"/>
              </a:lnSpc>
            </a:pPr>
            <a:r>
              <a:rPr sz="1000" b="1" i="0">
                <a:solidFill>
                  <a:srgbClr val="1B7A43"/>
                </a:solidFill>
                <a:latin typeface="Calibri"/>
              </a:rPr>
              <a:t>PASS</a:t>
            </a:r>
          </a:p>
        </p:txBody>
      </p:sp>
      <p:sp>
        <p:nvSpPr>
          <p:cNvPr id="12" name="Rectangle 11"/>
          <p:cNvSpPr/>
          <p:nvPr/>
        </p:nvSpPr>
        <p:spPr>
          <a:xfrm>
            <a:off x="566928" y="2212848"/>
            <a:ext cx="5431536" cy="45720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212848"/>
            <a:ext cx="38100" cy="4572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2267712"/>
            <a:ext cx="3383280" cy="219456"/>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XML sitemap</a:t>
            </a:r>
          </a:p>
        </p:txBody>
      </p:sp>
      <p:sp>
        <p:nvSpPr>
          <p:cNvPr id="15" name="TextBox 14"/>
          <p:cNvSpPr txBox="1"/>
          <p:nvPr/>
        </p:nvSpPr>
        <p:spPr>
          <a:xfrm>
            <a:off x="786384" y="2459736"/>
            <a:ext cx="3383280" cy="201168"/>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Valid and parsing</a:t>
            </a:r>
          </a:p>
        </p:txBody>
      </p:sp>
      <p:sp>
        <p:nvSpPr>
          <p:cNvPr id="16" name="TextBox 15"/>
          <p:cNvSpPr txBox="1"/>
          <p:nvPr/>
        </p:nvSpPr>
        <p:spPr>
          <a:xfrm>
            <a:off x="4846320" y="2331720"/>
            <a:ext cx="1005840" cy="237744"/>
          </a:xfrm>
          <a:prstGeom prst="rect">
            <a:avLst/>
          </a:prstGeom>
          <a:noFill/>
        </p:spPr>
        <p:txBody>
          <a:bodyPr wrap="square" lIns="0" rIns="0" tIns="0" bIns="0" anchor="t">
            <a:spAutoFit/>
          </a:bodyPr>
          <a:lstStyle/>
          <a:p>
            <a:pPr algn="r">
              <a:lnSpc>
                <a:spcPct val="100000"/>
              </a:lnSpc>
            </a:pPr>
            <a:r>
              <a:rPr sz="1000" b="1" i="0">
                <a:solidFill>
                  <a:srgbClr val="1B7A43"/>
                </a:solidFill>
                <a:latin typeface="Calibri"/>
              </a:rPr>
              <a:t>PASS</a:t>
            </a:r>
          </a:p>
        </p:txBody>
      </p:sp>
      <p:sp>
        <p:nvSpPr>
          <p:cNvPr id="17" name="Rectangle 16"/>
          <p:cNvSpPr/>
          <p:nvPr/>
        </p:nvSpPr>
        <p:spPr>
          <a:xfrm>
            <a:off x="566928" y="2743200"/>
            <a:ext cx="5431536" cy="45720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743200"/>
            <a:ext cx="38100" cy="4572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2798064"/>
            <a:ext cx="3383280" cy="219456"/>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Indexation of priority pages</a:t>
            </a:r>
          </a:p>
        </p:txBody>
      </p:sp>
      <p:sp>
        <p:nvSpPr>
          <p:cNvPr id="20" name="TextBox 19"/>
          <p:cNvSpPr txBox="1"/>
          <p:nvPr/>
        </p:nvSpPr>
        <p:spPr>
          <a:xfrm>
            <a:off x="786384" y="2990088"/>
            <a:ext cx="3383280" cy="201168"/>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Indexed, no sitewide failure</a:t>
            </a:r>
          </a:p>
        </p:txBody>
      </p:sp>
      <p:sp>
        <p:nvSpPr>
          <p:cNvPr id="21" name="TextBox 20"/>
          <p:cNvSpPr txBox="1"/>
          <p:nvPr/>
        </p:nvSpPr>
        <p:spPr>
          <a:xfrm>
            <a:off x="4846320" y="2862072"/>
            <a:ext cx="1005840" cy="237744"/>
          </a:xfrm>
          <a:prstGeom prst="rect">
            <a:avLst/>
          </a:prstGeom>
          <a:noFill/>
        </p:spPr>
        <p:txBody>
          <a:bodyPr wrap="square" lIns="0" rIns="0" tIns="0" bIns="0" anchor="t">
            <a:spAutoFit/>
          </a:bodyPr>
          <a:lstStyle/>
          <a:p>
            <a:pPr algn="r">
              <a:lnSpc>
                <a:spcPct val="100000"/>
              </a:lnSpc>
            </a:pPr>
            <a:r>
              <a:rPr sz="1000" b="1" i="0">
                <a:solidFill>
                  <a:srgbClr val="1B7A43"/>
                </a:solidFill>
                <a:latin typeface="Calibri"/>
              </a:rPr>
              <a:t>PASS</a:t>
            </a:r>
          </a:p>
        </p:txBody>
      </p:sp>
      <p:sp>
        <p:nvSpPr>
          <p:cNvPr id="22" name="Rectangle 21"/>
          <p:cNvSpPr/>
          <p:nvPr/>
        </p:nvSpPr>
        <p:spPr>
          <a:xfrm>
            <a:off x="566928" y="3273552"/>
            <a:ext cx="5431536" cy="45720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273552"/>
            <a:ext cx="38100" cy="4572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3328416"/>
            <a:ext cx="3383280" cy="219456"/>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robots.txt</a:t>
            </a:r>
          </a:p>
        </p:txBody>
      </p:sp>
      <p:sp>
        <p:nvSpPr>
          <p:cNvPr id="25" name="TextBox 24"/>
          <p:cNvSpPr txBox="1"/>
          <p:nvPr/>
        </p:nvSpPr>
        <p:spPr>
          <a:xfrm>
            <a:off x="786384" y="3520440"/>
            <a:ext cx="3383280" cy="201168"/>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Correctly configured</a:t>
            </a:r>
          </a:p>
        </p:txBody>
      </p:sp>
      <p:sp>
        <p:nvSpPr>
          <p:cNvPr id="26" name="TextBox 25"/>
          <p:cNvSpPr txBox="1"/>
          <p:nvPr/>
        </p:nvSpPr>
        <p:spPr>
          <a:xfrm>
            <a:off x="4846320" y="3392424"/>
            <a:ext cx="1005840" cy="237744"/>
          </a:xfrm>
          <a:prstGeom prst="rect">
            <a:avLst/>
          </a:prstGeom>
          <a:noFill/>
        </p:spPr>
        <p:txBody>
          <a:bodyPr wrap="square" lIns="0" rIns="0" tIns="0" bIns="0" anchor="t">
            <a:spAutoFit/>
          </a:bodyPr>
          <a:lstStyle/>
          <a:p>
            <a:pPr algn="r">
              <a:lnSpc>
                <a:spcPct val="100000"/>
              </a:lnSpc>
            </a:pPr>
            <a:r>
              <a:rPr sz="1000" b="1" i="0">
                <a:solidFill>
                  <a:srgbClr val="1B7A43"/>
                </a:solidFill>
                <a:latin typeface="Calibri"/>
              </a:rPr>
              <a:t>PASS</a:t>
            </a:r>
          </a:p>
        </p:txBody>
      </p:sp>
      <p:sp>
        <p:nvSpPr>
          <p:cNvPr id="27" name="Rectangle 26"/>
          <p:cNvSpPr/>
          <p:nvPr/>
        </p:nvSpPr>
        <p:spPr>
          <a:xfrm>
            <a:off x="566928" y="3803904"/>
            <a:ext cx="5431536" cy="45720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3803904"/>
            <a:ext cx="38100" cy="4572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858768"/>
            <a:ext cx="3383280" cy="219456"/>
          </a:xfrm>
          <a:prstGeom prst="rect">
            <a:avLst/>
          </a:prstGeom>
          <a:noFill/>
        </p:spPr>
        <p:txBody>
          <a:bodyPr wrap="square" lIns="0" rIns="0" tIns="0" bIns="0" anchor="t">
            <a:spAutoFit/>
          </a:bodyPr>
          <a:lstStyle/>
          <a:p>
            <a:pPr algn="l">
              <a:lnSpc>
                <a:spcPct val="100000"/>
              </a:lnSpc>
            </a:pPr>
            <a:r>
              <a:rPr sz="1050" b="1" i="0">
                <a:solidFill>
                  <a:srgbClr val="1A1D23"/>
                </a:solidFill>
                <a:latin typeface="Calibri"/>
              </a:rPr>
              <a:t>Organization / LocalBusiness schema</a:t>
            </a:r>
          </a:p>
        </p:txBody>
      </p:sp>
      <p:sp>
        <p:nvSpPr>
          <p:cNvPr id="30" name="TextBox 29"/>
          <p:cNvSpPr txBox="1"/>
          <p:nvPr/>
        </p:nvSpPr>
        <p:spPr>
          <a:xfrm>
            <a:off x="786384" y="4050792"/>
            <a:ext cx="3383280" cy="201168"/>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Good base in place</a:t>
            </a:r>
          </a:p>
        </p:txBody>
      </p:sp>
      <p:sp>
        <p:nvSpPr>
          <p:cNvPr id="31" name="TextBox 30"/>
          <p:cNvSpPr txBox="1"/>
          <p:nvPr/>
        </p:nvSpPr>
        <p:spPr>
          <a:xfrm>
            <a:off x="4846320" y="3922776"/>
            <a:ext cx="1005840" cy="237744"/>
          </a:xfrm>
          <a:prstGeom prst="rect">
            <a:avLst/>
          </a:prstGeom>
          <a:noFill/>
        </p:spPr>
        <p:txBody>
          <a:bodyPr wrap="square" lIns="0" rIns="0" tIns="0" bIns="0" anchor="t">
            <a:spAutoFit/>
          </a:bodyPr>
          <a:lstStyle/>
          <a:p>
            <a:pPr algn="r">
              <a:lnSpc>
                <a:spcPct val="100000"/>
              </a:lnSpc>
            </a:pPr>
            <a:r>
              <a:rPr sz="1000" b="1" i="0">
                <a:solidFill>
                  <a:srgbClr val="1B7A43"/>
                </a:solidFill>
                <a:latin typeface="Calibri"/>
              </a:rPr>
              <a:t>PASS</a:t>
            </a:r>
          </a:p>
        </p:txBody>
      </p:sp>
      <p:sp>
        <p:nvSpPr>
          <p:cNvPr id="32" name="TextBox 31"/>
          <p:cNvSpPr txBox="1"/>
          <p:nvPr/>
        </p:nvSpPr>
        <p:spPr>
          <a:xfrm>
            <a:off x="6199632" y="1335024"/>
            <a:ext cx="5431536"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Mobile speed — all nine tested pages exceed target</a:t>
            </a:r>
          </a:p>
        </p:txBody>
      </p:sp>
      <p:graphicFrame>
        <p:nvGraphicFramePr>
          <p:cNvPr id="33" name="Table 32"/>
          <p:cNvGraphicFramePr>
            <a:graphicFrameLocks noGrp="1"/>
          </p:cNvGraphicFramePr>
          <p:nvPr/>
        </p:nvGraphicFramePr>
        <p:xfrm>
          <a:off x="6199632" y="1682496"/>
          <a:ext cx="5431536" cy="2523744"/>
        </p:xfrm>
        <a:graphic>
          <a:graphicData uri="http://schemas.openxmlformats.org/drawingml/2006/table">
            <a:tbl>
              <a:tblPr firstRow="1" bandRow="1">
                <a:tableStyleId>{5C22544A-7EE6-4342-B048-85BDC9FD1C3A}</a:tableStyleId>
              </a:tblPr>
              <a:tblGrid>
                <a:gridCol w="2688336"/>
                <a:gridCol w="1280160"/>
                <a:gridCol w="1463040"/>
              </a:tblGrid>
              <a:tr h="329184">
                <a:tc>
                  <a:txBody>
                    <a:bodyPr wrap="square"/>
                    <a:lstStyle/>
                    <a:p>
                      <a:r>
                        <a:rPr sz="1000" b="1">
                          <a:solidFill>
                            <a:srgbClr val="FFFFFF"/>
                          </a:solidFill>
                          <a:latin typeface="Calibri"/>
                        </a:rPr>
                        <a:t>Page</a:t>
                      </a:r>
                    </a:p>
                  </a:txBody>
                  <a:tcPr marL="82296" marR="64008" marT="27432" marB="27432" anchor="ctr">
                    <a:solidFill>
                      <a:srgbClr val="1B3A5C"/>
                    </a:solidFill>
                  </a:tcPr>
                </a:tc>
                <a:tc>
                  <a:txBody>
                    <a:bodyPr wrap="square"/>
                    <a:lstStyle/>
                    <a:p>
                      <a:pPr algn="r"/>
                      <a:r>
                        <a:rPr sz="1000" b="1">
                          <a:solidFill>
                            <a:srgbClr val="FFFFFF"/>
                          </a:solidFill>
                          <a:latin typeface="Calibri"/>
                        </a:rPr>
                        <a:t>Mobile LCP</a:t>
                      </a:r>
                    </a:p>
                  </a:txBody>
                  <a:tcPr marL="82296" marR="64008" marT="27432" marB="27432" anchor="ctr">
                    <a:solidFill>
                      <a:srgbClr val="1B3A5C"/>
                    </a:solidFill>
                  </a:tcPr>
                </a:tc>
                <a:tc>
                  <a:txBody>
                    <a:bodyPr wrap="square"/>
                    <a:lstStyle/>
                    <a:p>
                      <a:pPr algn="ctr"/>
                      <a:r>
                        <a:rPr sz="1000" b="1">
                          <a:solidFill>
                            <a:srgbClr val="FFFFFF"/>
                          </a:solidFill>
                          <a:latin typeface="Calibri"/>
                        </a:rPr>
                        <a:t>Status</a:t>
                      </a:r>
                    </a:p>
                  </a:txBody>
                  <a:tcPr marL="82296" marR="64008" marT="27432" marB="27432" anchor="ctr">
                    <a:solidFill>
                      <a:srgbClr val="1B3A5C"/>
                    </a:solidFill>
                  </a:tcPr>
                </a:tc>
              </a:tr>
              <a:tr h="274320">
                <a:tc>
                  <a:txBody>
                    <a:bodyPr wrap="square"/>
                    <a:lstStyle/>
                    <a:p>
                      <a:r>
                        <a:rPr sz="1000" b="0">
                          <a:solidFill>
                            <a:srgbClr val="1A1D23"/>
                          </a:solidFill>
                          <a:latin typeface="Calibri"/>
                        </a:rPr>
                        <a:t>Homepage</a:t>
                      </a:r>
                    </a:p>
                  </a:txBody>
                  <a:tcPr marL="82296" marR="64008" marT="27432" marB="27432" anchor="ctr">
                    <a:solidFill>
                      <a:srgbClr val="FFFFFF"/>
                    </a:solidFill>
                  </a:tcPr>
                </a:tc>
                <a:tc>
                  <a:txBody>
                    <a:bodyPr wrap="square"/>
                    <a:lstStyle/>
                    <a:p>
                      <a:pPr algn="r"/>
                      <a:r>
                        <a:rPr sz="1000" b="0">
                          <a:solidFill>
                            <a:srgbClr val="1A1D23"/>
                          </a:solidFill>
                          <a:latin typeface="Calibri"/>
                        </a:rPr>
                        <a:t>6.45s</a:t>
                      </a:r>
                    </a:p>
                  </a:txBody>
                  <a:tcPr marL="82296" marR="64008" marT="27432" marB="27432" anchor="ctr">
                    <a:solidFill>
                      <a:srgbClr val="FFFFFF"/>
                    </a:solidFill>
                  </a:tcPr>
                </a:tc>
                <a:tc>
                  <a:txBody>
                    <a:bodyPr wrap="square"/>
                    <a:lstStyle/>
                    <a:p>
                      <a:pPr algn="ctr"/>
                      <a:r>
                        <a:rPr sz="1000" b="1">
                          <a:solidFill>
                            <a:srgbClr val="B3261E"/>
                          </a:solidFill>
                          <a:latin typeface="Calibri"/>
                        </a:rPr>
                        <a:t>Poor</a:t>
                      </a:r>
                    </a:p>
                  </a:txBody>
                  <a:tcPr marL="82296" marR="64008" marT="27432" marB="27432" anchor="ctr">
                    <a:solidFill>
                      <a:srgbClr val="FFFFFF"/>
                    </a:solidFill>
                  </a:tcPr>
                </a:tc>
              </a:tr>
              <a:tr h="274320">
                <a:tc>
                  <a:txBody>
                    <a:bodyPr wrap="square"/>
                    <a:lstStyle/>
                    <a:p>
                      <a:r>
                        <a:rPr sz="1000" b="0">
                          <a:solidFill>
                            <a:srgbClr val="1A1D23"/>
                          </a:solidFill>
                          <a:latin typeface="Calibri"/>
                        </a:rPr>
                        <a:t>GST Return Filing</a:t>
                      </a:r>
                    </a:p>
                  </a:txBody>
                  <a:tcPr marL="82296" marR="64008" marT="27432" marB="27432" anchor="ctr">
                    <a:solidFill>
                      <a:srgbClr val="ECEFF3"/>
                    </a:solidFill>
                  </a:tcPr>
                </a:tc>
                <a:tc>
                  <a:txBody>
                    <a:bodyPr wrap="square"/>
                    <a:lstStyle/>
                    <a:p>
                      <a:pPr algn="r"/>
                      <a:r>
                        <a:rPr sz="1000" b="0">
                          <a:solidFill>
                            <a:srgbClr val="1A1D23"/>
                          </a:solidFill>
                          <a:latin typeface="Calibri"/>
                        </a:rPr>
                        <a:t>3.92s</a:t>
                      </a:r>
                    </a:p>
                  </a:txBody>
                  <a:tcPr marL="82296" marR="64008" marT="27432" marB="27432" anchor="ctr">
                    <a:solidFill>
                      <a:srgbClr val="ECEFF3"/>
                    </a:solidFill>
                  </a:tcPr>
                </a:tc>
                <a:tc>
                  <a:txBody>
                    <a:bodyPr wrap="square"/>
                    <a:lstStyle/>
                    <a:p>
                      <a:pPr algn="ctr"/>
                      <a:r>
                        <a:rPr sz="1000" b="1">
                          <a:solidFill>
                            <a:srgbClr val="D2691E"/>
                          </a:solidFill>
                          <a:latin typeface="Calibri"/>
                        </a:rPr>
                        <a:t>Needs work</a:t>
                      </a:r>
                    </a:p>
                  </a:txBody>
                  <a:tcPr marL="82296" marR="64008" marT="27432" marB="27432" anchor="ctr">
                    <a:solidFill>
                      <a:srgbClr val="ECEFF3"/>
                    </a:solidFill>
                  </a:tcPr>
                </a:tc>
              </a:tr>
              <a:tr h="274320">
                <a:tc>
                  <a:txBody>
                    <a:bodyPr wrap="square"/>
                    <a:lstStyle/>
                    <a:p>
                      <a:r>
                        <a:rPr sz="1000" b="0">
                          <a:solidFill>
                            <a:srgbClr val="1A1D23"/>
                          </a:solidFill>
                          <a:latin typeface="Calibri"/>
                        </a:rPr>
                        <a:t>Contact</a:t>
                      </a:r>
                    </a:p>
                  </a:txBody>
                  <a:tcPr marL="82296" marR="64008" marT="27432" marB="27432" anchor="ctr">
                    <a:solidFill>
                      <a:srgbClr val="FFFFFF"/>
                    </a:solidFill>
                  </a:tcPr>
                </a:tc>
                <a:tc>
                  <a:txBody>
                    <a:bodyPr wrap="square"/>
                    <a:lstStyle/>
                    <a:p>
                      <a:pPr algn="r"/>
                      <a:r>
                        <a:rPr sz="1000" b="0">
                          <a:solidFill>
                            <a:srgbClr val="1A1D23"/>
                          </a:solidFill>
                          <a:latin typeface="Calibri"/>
                        </a:rPr>
                        <a:t>3.74s</a:t>
                      </a:r>
                    </a:p>
                  </a:txBody>
                  <a:tcPr marL="82296" marR="64008" marT="27432" marB="27432" anchor="ctr">
                    <a:solidFill>
                      <a:srgbClr val="FFFFFF"/>
                    </a:solidFill>
                  </a:tcPr>
                </a:tc>
                <a:tc>
                  <a:txBody>
                    <a:bodyPr wrap="square"/>
                    <a:lstStyle/>
                    <a:p>
                      <a:pPr algn="ctr"/>
                      <a:r>
                        <a:rPr sz="1000" b="1">
                          <a:solidFill>
                            <a:srgbClr val="D2691E"/>
                          </a:solidFill>
                          <a:latin typeface="Calibri"/>
                        </a:rPr>
                        <a:t>Needs work</a:t>
                      </a:r>
                    </a:p>
                  </a:txBody>
                  <a:tcPr marL="82296" marR="64008" marT="27432" marB="27432" anchor="ctr">
                    <a:solidFill>
                      <a:srgbClr val="FFFFFF"/>
                    </a:solidFill>
                  </a:tcPr>
                </a:tc>
              </a:tr>
              <a:tr h="274320">
                <a:tc>
                  <a:txBody>
                    <a:bodyPr wrap="square"/>
                    <a:lstStyle/>
                    <a:p>
                      <a:r>
                        <a:rPr sz="1000" b="0">
                          <a:solidFill>
                            <a:srgbClr val="1A1D23"/>
                          </a:solidFill>
                          <a:latin typeface="Calibri"/>
                        </a:rPr>
                        <a:t>NRI guide</a:t>
                      </a:r>
                    </a:p>
                  </a:txBody>
                  <a:tcPr marL="82296" marR="64008" marT="27432" marB="27432" anchor="ctr">
                    <a:solidFill>
                      <a:srgbClr val="ECEFF3"/>
                    </a:solidFill>
                  </a:tcPr>
                </a:tc>
                <a:tc>
                  <a:txBody>
                    <a:bodyPr wrap="square"/>
                    <a:lstStyle/>
                    <a:p>
                      <a:pPr algn="r"/>
                      <a:r>
                        <a:rPr sz="1000" b="0">
                          <a:solidFill>
                            <a:srgbClr val="1A1D23"/>
                          </a:solidFill>
                          <a:latin typeface="Calibri"/>
                        </a:rPr>
                        <a:t>3.66s</a:t>
                      </a:r>
                    </a:p>
                  </a:txBody>
                  <a:tcPr marL="82296" marR="64008" marT="27432" marB="27432" anchor="ctr">
                    <a:solidFill>
                      <a:srgbClr val="ECEFF3"/>
                    </a:solidFill>
                  </a:tcPr>
                </a:tc>
                <a:tc>
                  <a:txBody>
                    <a:bodyPr wrap="square"/>
                    <a:lstStyle/>
                    <a:p>
                      <a:pPr algn="ctr"/>
                      <a:r>
                        <a:rPr sz="1000" b="1">
                          <a:solidFill>
                            <a:srgbClr val="D2691E"/>
                          </a:solidFill>
                          <a:latin typeface="Calibri"/>
                        </a:rPr>
                        <a:t>Needs work</a:t>
                      </a:r>
                    </a:p>
                  </a:txBody>
                  <a:tcPr marL="82296" marR="64008" marT="27432" marB="27432" anchor="ctr">
                    <a:solidFill>
                      <a:srgbClr val="ECEFF3"/>
                    </a:solidFill>
                  </a:tcPr>
                </a:tc>
              </a:tr>
              <a:tr h="274320">
                <a:tc>
                  <a:txBody>
                    <a:bodyPr wrap="square"/>
                    <a:lstStyle/>
                    <a:p>
                      <a:r>
                        <a:rPr sz="1000" b="0">
                          <a:solidFill>
                            <a:srgbClr val="1A1D23"/>
                          </a:solidFill>
                          <a:latin typeface="Calibri"/>
                        </a:rPr>
                        <a:t>Accounting</a:t>
                      </a:r>
                    </a:p>
                  </a:txBody>
                  <a:tcPr marL="82296" marR="64008" marT="27432" marB="27432" anchor="ctr">
                    <a:solidFill>
                      <a:srgbClr val="FFFFFF"/>
                    </a:solidFill>
                  </a:tcPr>
                </a:tc>
                <a:tc>
                  <a:txBody>
                    <a:bodyPr wrap="square"/>
                    <a:lstStyle/>
                    <a:p>
                      <a:pPr algn="r"/>
                      <a:r>
                        <a:rPr sz="1000" b="0">
                          <a:solidFill>
                            <a:srgbClr val="1A1D23"/>
                          </a:solidFill>
                          <a:latin typeface="Calibri"/>
                        </a:rPr>
                        <a:t>3.33s</a:t>
                      </a:r>
                    </a:p>
                  </a:txBody>
                  <a:tcPr marL="82296" marR="64008" marT="27432" marB="27432" anchor="ctr">
                    <a:solidFill>
                      <a:srgbClr val="FFFFFF"/>
                    </a:solidFill>
                  </a:tcPr>
                </a:tc>
                <a:tc>
                  <a:txBody>
                    <a:bodyPr wrap="square"/>
                    <a:lstStyle/>
                    <a:p>
                      <a:pPr algn="ctr"/>
                      <a:r>
                        <a:rPr sz="1000" b="1">
                          <a:solidFill>
                            <a:srgbClr val="D2691E"/>
                          </a:solidFill>
                          <a:latin typeface="Calibri"/>
                        </a:rPr>
                        <a:t>Needs work</a:t>
                      </a:r>
                    </a:p>
                  </a:txBody>
                  <a:tcPr marL="82296" marR="64008" marT="27432" marB="27432" anchor="ctr">
                    <a:solidFill>
                      <a:srgbClr val="FFFFFF"/>
                    </a:solidFill>
                  </a:tcPr>
                </a:tc>
              </a:tr>
              <a:tr h="274320">
                <a:tc>
                  <a:txBody>
                    <a:bodyPr wrap="square"/>
                    <a:lstStyle/>
                    <a:p>
                      <a:r>
                        <a:rPr sz="1000" b="0">
                          <a:solidFill>
                            <a:srgbClr val="1A1D23"/>
                          </a:solidFill>
                          <a:latin typeface="Calibri"/>
                        </a:rPr>
                        <a:t>GST Registration</a:t>
                      </a:r>
                    </a:p>
                  </a:txBody>
                  <a:tcPr marL="82296" marR="64008" marT="27432" marB="27432" anchor="ctr">
                    <a:solidFill>
                      <a:srgbClr val="ECEFF3"/>
                    </a:solidFill>
                  </a:tcPr>
                </a:tc>
                <a:tc>
                  <a:txBody>
                    <a:bodyPr wrap="square"/>
                    <a:lstStyle/>
                    <a:p>
                      <a:pPr algn="r"/>
                      <a:r>
                        <a:rPr sz="1000" b="0">
                          <a:solidFill>
                            <a:srgbClr val="1A1D23"/>
                          </a:solidFill>
                          <a:latin typeface="Calibri"/>
                        </a:rPr>
                        <a:t>3.25s</a:t>
                      </a:r>
                    </a:p>
                  </a:txBody>
                  <a:tcPr marL="82296" marR="64008" marT="27432" marB="27432" anchor="ctr">
                    <a:solidFill>
                      <a:srgbClr val="ECEFF3"/>
                    </a:solidFill>
                  </a:tcPr>
                </a:tc>
                <a:tc>
                  <a:txBody>
                    <a:bodyPr wrap="square"/>
                    <a:lstStyle/>
                    <a:p>
                      <a:pPr algn="ctr"/>
                      <a:r>
                        <a:rPr sz="1000" b="1">
                          <a:solidFill>
                            <a:srgbClr val="D2691E"/>
                          </a:solidFill>
                          <a:latin typeface="Calibri"/>
                        </a:rPr>
                        <a:t>Needs work</a:t>
                      </a:r>
                    </a:p>
                  </a:txBody>
                  <a:tcPr marL="82296" marR="64008" marT="27432" marB="27432" anchor="ctr">
                    <a:solidFill>
                      <a:srgbClr val="ECEFF3"/>
                    </a:solidFill>
                  </a:tcPr>
                </a:tc>
              </a:tr>
              <a:tr h="274320">
                <a:tc>
                  <a:txBody>
                    <a:bodyPr wrap="square"/>
                    <a:lstStyle/>
                    <a:p>
                      <a:r>
                        <a:rPr sz="1000" b="0">
                          <a:solidFill>
                            <a:srgbClr val="1A1D23"/>
                          </a:solidFill>
                          <a:latin typeface="Calibri"/>
                        </a:rPr>
                        <a:t>ITR Mumbai</a:t>
                      </a:r>
                    </a:p>
                  </a:txBody>
                  <a:tcPr marL="82296" marR="64008" marT="27432" marB="27432" anchor="ctr">
                    <a:solidFill>
                      <a:srgbClr val="FFFFFF"/>
                    </a:solidFill>
                  </a:tcPr>
                </a:tc>
                <a:tc>
                  <a:txBody>
                    <a:bodyPr wrap="square"/>
                    <a:lstStyle/>
                    <a:p>
                      <a:pPr algn="r"/>
                      <a:r>
                        <a:rPr sz="1000" b="0">
                          <a:solidFill>
                            <a:srgbClr val="1A1D23"/>
                          </a:solidFill>
                          <a:latin typeface="Calibri"/>
                        </a:rPr>
                        <a:t>2.87s</a:t>
                      </a:r>
                    </a:p>
                  </a:txBody>
                  <a:tcPr marL="82296" marR="64008" marT="27432" marB="27432" anchor="ctr">
                    <a:solidFill>
                      <a:srgbClr val="FFFFFF"/>
                    </a:solidFill>
                  </a:tcPr>
                </a:tc>
                <a:tc>
                  <a:txBody>
                    <a:bodyPr wrap="square"/>
                    <a:lstStyle/>
                    <a:p>
                      <a:pPr algn="ctr"/>
                      <a:r>
                        <a:rPr sz="1000" b="1">
                          <a:solidFill>
                            <a:srgbClr val="D2691E"/>
                          </a:solidFill>
                          <a:latin typeface="Calibri"/>
                        </a:rPr>
                        <a:t>Needs work</a:t>
                      </a:r>
                    </a:p>
                  </a:txBody>
                  <a:tcPr marL="82296" marR="64008" marT="27432" marB="27432" anchor="ctr">
                    <a:solidFill>
                      <a:srgbClr val="FFFFFF"/>
                    </a:solidFill>
                  </a:tcPr>
                </a:tc>
              </a:tr>
              <a:tr h="274320">
                <a:tc>
                  <a:txBody>
                    <a:bodyPr wrap="square"/>
                    <a:lstStyle/>
                    <a:p>
                      <a:r>
                        <a:rPr sz="1000" b="0">
                          <a:solidFill>
                            <a:srgbClr val="1A1D23"/>
                          </a:solidFill>
                          <a:latin typeface="Calibri"/>
                        </a:rPr>
                        <a:t>Audit  (CLS 0.18)</a:t>
                      </a:r>
                    </a:p>
                  </a:txBody>
                  <a:tcPr marL="82296" marR="64008" marT="27432" marB="27432" anchor="ctr">
                    <a:solidFill>
                      <a:srgbClr val="ECEFF3"/>
                    </a:solidFill>
                  </a:tcPr>
                </a:tc>
                <a:tc>
                  <a:txBody>
                    <a:bodyPr wrap="square"/>
                    <a:lstStyle/>
                    <a:p>
                      <a:pPr algn="r"/>
                      <a:r>
                        <a:rPr sz="1000" b="0">
                          <a:solidFill>
                            <a:srgbClr val="1A1D23"/>
                          </a:solidFill>
                          <a:latin typeface="Calibri"/>
                        </a:rPr>
                        <a:t>2.64s</a:t>
                      </a:r>
                    </a:p>
                  </a:txBody>
                  <a:tcPr marL="82296" marR="64008" marT="27432" marB="27432" anchor="ctr">
                    <a:solidFill>
                      <a:srgbClr val="ECEFF3"/>
                    </a:solidFill>
                  </a:tcPr>
                </a:tc>
                <a:tc>
                  <a:txBody>
                    <a:bodyPr wrap="square"/>
                    <a:lstStyle/>
                    <a:p>
                      <a:pPr algn="ctr"/>
                      <a:r>
                        <a:rPr sz="1000" b="1">
                          <a:solidFill>
                            <a:srgbClr val="C99B3B"/>
                          </a:solidFill>
                          <a:latin typeface="Calibri"/>
                        </a:rPr>
                        <a:t>Near threshold</a:t>
                      </a:r>
                    </a:p>
                  </a:txBody>
                  <a:tcPr marL="82296" marR="64008" marT="27432" marB="27432" anchor="ctr">
                    <a:solidFill>
                      <a:srgbClr val="ECEFF3"/>
                    </a:solidFill>
                  </a:tcPr>
                </a:tc>
              </a:tr>
            </a:tbl>
          </a:graphicData>
        </a:graphic>
      </p:graphicFrame>
      <p:sp>
        <p:nvSpPr>
          <p:cNvPr id="34" name="Rectangle 33"/>
          <p:cNvSpPr/>
          <p:nvPr/>
        </p:nvSpPr>
        <p:spPr>
          <a:xfrm>
            <a:off x="566928" y="4590288"/>
            <a:ext cx="5431536" cy="1005840"/>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590288"/>
            <a:ext cx="44450" cy="1005840"/>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681728"/>
            <a:ext cx="5120640" cy="859536"/>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Google's target is LCP at or under 2.5 seconds.</a:t>
            </a:r>
          </a:p>
          <a:p>
            <a:pPr algn="l">
              <a:lnSpc>
                <a:spcPct val="105000"/>
              </a:lnSpc>
            </a:pPr>
            <a:r>
              <a:rPr sz="1000" b="0" i="0">
                <a:solidFill>
                  <a:srgbClr val="1A1D23"/>
                </a:solidFill>
                <a:latin typeface="Calibri"/>
              </a:rPr>
              <a:t>The homepage at 6.45s is the priority — its LCP element</a:t>
            </a:r>
          </a:p>
          <a:p>
            <a:pPr algn="l">
              <a:lnSpc>
                <a:spcPct val="105000"/>
              </a:lnSpc>
            </a:pPr>
            <a:r>
              <a:rPr sz="1000" b="0" i="0">
                <a:solidFill>
                  <a:srgbClr val="1A1D23"/>
                </a:solidFill>
                <a:latin typeface="Calibri"/>
              </a:rPr>
              <a:t>is an Elementor hero background rather than a</a:t>
            </a:r>
          </a:p>
          <a:p>
            <a:pPr algn="l">
              <a:lnSpc>
                <a:spcPct val="105000"/>
              </a:lnSpc>
            </a:pPr>
            <a:r>
              <a:rPr sz="1000" b="0" i="0">
                <a:solidFill>
                  <a:srgbClr val="1A1D23"/>
                </a:solidFill>
                <a:latin typeface="Calibri"/>
              </a:rPr>
              <a:t>properly sized responsive image.</a:t>
            </a:r>
          </a:p>
        </p:txBody>
      </p:sp>
      <p:sp>
        <p:nvSpPr>
          <p:cNvPr id="37" name="Rectangle 36"/>
          <p:cNvSpPr/>
          <p:nvPr/>
        </p:nvSpPr>
        <p:spPr>
          <a:xfrm>
            <a:off x="566928" y="5760720"/>
            <a:ext cx="11064240" cy="47548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760720"/>
            <a:ext cx="44450" cy="475488"/>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852160"/>
            <a:ext cx="10753344" cy="329184"/>
          </a:xfrm>
          <a:prstGeom prst="rect">
            <a:avLst/>
          </a:prstGeom>
          <a:noFill/>
        </p:spPr>
        <p:txBody>
          <a:bodyPr wrap="square" lIns="0" rIns="0" tIns="0" bIns="0" anchor="t">
            <a:spAutoFit/>
          </a:bodyPr>
          <a:lstStyle/>
          <a:p>
            <a:pPr algn="l">
              <a:lnSpc>
                <a:spcPct val="105000"/>
              </a:lnSpc>
            </a:pPr>
            <a:r>
              <a:rPr sz="950" b="0" i="0">
                <a:solidFill>
                  <a:srgbClr val="1A1D23"/>
                </a:solidFill>
                <a:latin typeface="Calibri"/>
              </a:rPr>
              <a:t>These are controlled lab measurements (headless Chromium, 4× CPU slowdown, ~1.6 Mbps), not field data from real users. LiteSpeed caching is already present — the right move is to tune the existing setup, not add another overlapping optimisation plugin.</a:t>
            </a:r>
          </a:p>
        </p:txBody>
      </p:sp>
      <p:sp>
        <p:nvSpPr>
          <p:cNvPr id="40" name="Rectangle 39"/>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6437376"/>
            <a:ext cx="731520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a:t>
            </a:r>
          </a:p>
        </p:txBody>
      </p:sp>
      <p:sp>
        <p:nvSpPr>
          <p:cNvPr id="42" name="TextBox 41"/>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WHERE NEXT MONTH'S FASTEST GAINS SIT</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700" b="1" i="0">
                <a:solidFill>
                  <a:srgbClr val="1B3A5C"/>
                </a:solidFill>
                <a:latin typeface="Calibri"/>
              </a:rPr>
              <a:t>On-Page Opportunity: Pages Google Already Shows</a:t>
            </a:r>
          </a:p>
        </p:txBody>
      </p:sp>
      <p:sp>
        <p:nvSpPr>
          <p:cNvPr id="5" name="Rectangle 4"/>
          <p:cNvSpPr/>
          <p:nvPr/>
        </p:nvSpPr>
        <p:spPr>
          <a:xfrm>
            <a:off x="566928" y="1225296"/>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16736"/>
            <a:ext cx="11064240" cy="292608"/>
          </a:xfrm>
          <a:prstGeom prst="rect">
            <a:avLst/>
          </a:prstGeom>
          <a:noFill/>
        </p:spPr>
        <p:txBody>
          <a:bodyPr wrap="square" lIns="0" rIns="0" tIns="0" bIns="0" anchor="t">
            <a:spAutoFit/>
          </a:bodyPr>
          <a:lstStyle/>
          <a:p>
            <a:pPr algn="l">
              <a:lnSpc>
                <a:spcPct val="100000"/>
              </a:lnSpc>
            </a:pPr>
            <a:r>
              <a:rPr sz="1200" b="0" i="0">
                <a:solidFill>
                  <a:srgbClr val="1A1D23"/>
                </a:solidFill>
                <a:latin typeface="Calibri"/>
              </a:rPr>
              <a:t>These pages already rank. They are seen thousands of times and win very few clicks — which makes them the cheapest wins available.</a:t>
            </a:r>
          </a:p>
        </p:txBody>
      </p:sp>
      <p:graphicFrame>
        <p:nvGraphicFramePr>
          <p:cNvPr id="7" name="Table 6"/>
          <p:cNvGraphicFramePr>
            <a:graphicFrameLocks noGrp="1"/>
          </p:cNvGraphicFramePr>
          <p:nvPr/>
        </p:nvGraphicFramePr>
        <p:xfrm>
          <a:off x="566928" y="1700784"/>
          <a:ext cx="11064240" cy="2523744"/>
        </p:xfrm>
        <a:graphic>
          <a:graphicData uri="http://schemas.openxmlformats.org/drawingml/2006/table">
            <a:tbl>
              <a:tblPr firstRow="1" bandRow="1">
                <a:tableStyleId>{5C22544A-7EE6-4342-B048-85BDC9FD1C3A}</a:tableStyleId>
              </a:tblPr>
              <a:tblGrid>
                <a:gridCol w="2761488"/>
                <a:gridCol w="1572768"/>
                <a:gridCol w="1060704"/>
                <a:gridCol w="786384"/>
                <a:gridCol w="859536"/>
                <a:gridCol w="4023360"/>
              </a:tblGrid>
              <a:tr h="329184">
                <a:tc>
                  <a:txBody>
                    <a:bodyPr wrap="square"/>
                    <a:lstStyle/>
                    <a:p>
                      <a:r>
                        <a:rPr sz="1000" b="1">
                          <a:solidFill>
                            <a:srgbClr val="FFFFFF"/>
                          </a:solidFill>
                          <a:latin typeface="Calibri"/>
                        </a:rPr>
                        <a:t>Query</a:t>
                      </a:r>
                    </a:p>
                  </a:txBody>
                  <a:tcPr marL="82296" marR="64008" marT="27432" marB="27432" anchor="ctr">
                    <a:solidFill>
                      <a:srgbClr val="1B3A5C"/>
                    </a:solidFill>
                  </a:tcPr>
                </a:tc>
                <a:tc>
                  <a:txBody>
                    <a:bodyPr wrap="square"/>
                    <a:lstStyle/>
                    <a:p>
                      <a:r>
                        <a:rPr sz="1000" b="1">
                          <a:solidFill>
                            <a:srgbClr val="FFFFFF"/>
                          </a:solidFill>
                          <a:latin typeface="Calibri"/>
                        </a:rPr>
                        <a:t>Page</a:t>
                      </a:r>
                    </a:p>
                  </a:txBody>
                  <a:tcPr marL="82296" marR="64008" marT="27432" marB="27432" anchor="ctr">
                    <a:solidFill>
                      <a:srgbClr val="1B3A5C"/>
                    </a:solidFill>
                  </a:tcPr>
                </a:tc>
                <a:tc>
                  <a:txBody>
                    <a:bodyPr wrap="square"/>
                    <a:lstStyle/>
                    <a:p>
                      <a:pPr algn="r"/>
                      <a:r>
                        <a:rPr sz="1000" b="1">
                          <a:solidFill>
                            <a:srgbClr val="FFFFFF"/>
                          </a:solidFill>
                          <a:latin typeface="Calibri"/>
                        </a:rPr>
                        <a:t>Impressions</a:t>
                      </a:r>
                    </a:p>
                  </a:txBody>
                  <a:tcPr marL="82296" marR="64008" marT="27432" marB="27432" anchor="ctr">
                    <a:solidFill>
                      <a:srgbClr val="1B3A5C"/>
                    </a:solidFill>
                  </a:tcPr>
                </a:tc>
                <a:tc>
                  <a:txBody>
                    <a:bodyPr wrap="square"/>
                    <a:lstStyle/>
                    <a:p>
                      <a:pPr algn="r"/>
                      <a:r>
                        <a:rPr sz="1000" b="1">
                          <a:solidFill>
                            <a:srgbClr val="FFFFFF"/>
                          </a:solidFill>
                          <a:latin typeface="Calibri"/>
                        </a:rPr>
                        <a:t>Clicks</a:t>
                      </a:r>
                    </a:p>
                  </a:txBody>
                  <a:tcPr marL="82296" marR="64008" marT="27432" marB="27432" anchor="ctr">
                    <a:solidFill>
                      <a:srgbClr val="1B3A5C"/>
                    </a:solidFill>
                  </a:tcPr>
                </a:tc>
                <a:tc>
                  <a:txBody>
                    <a:bodyPr wrap="square"/>
                    <a:lstStyle/>
                    <a:p>
                      <a:pPr algn="r"/>
                      <a:r>
                        <a:rPr sz="1000" b="1">
                          <a:solidFill>
                            <a:srgbClr val="FFFFFF"/>
                          </a:solidFill>
                          <a:latin typeface="Calibri"/>
                        </a:rPr>
                        <a:t>Position</a:t>
                      </a:r>
                    </a:p>
                  </a:txBody>
                  <a:tcPr marL="82296" marR="64008" marT="27432" marB="27432" anchor="ctr">
                    <a:solidFill>
                      <a:srgbClr val="1B3A5C"/>
                    </a:solidFill>
                  </a:tcPr>
                </a:tc>
                <a:tc>
                  <a:txBody>
                    <a:bodyPr wrap="square"/>
                    <a:lstStyle/>
                    <a:p>
                      <a:r>
                        <a:rPr sz="1000" b="1">
                          <a:solidFill>
                            <a:srgbClr val="FFFFFF"/>
                          </a:solidFill>
                          <a:latin typeface="Calibri"/>
                        </a:rPr>
                        <a:t>Action</a:t>
                      </a:r>
                    </a:p>
                  </a:txBody>
                  <a:tcPr marL="82296" marR="64008" marT="27432" marB="27432" anchor="ctr">
                    <a:solidFill>
                      <a:srgbClr val="1B3A5C"/>
                    </a:solidFill>
                  </a:tcPr>
                </a:tc>
              </a:tr>
              <a:tr h="274320">
                <a:tc>
                  <a:txBody>
                    <a:bodyPr wrap="square"/>
                    <a:lstStyle/>
                    <a:p>
                      <a:r>
                        <a:rPr sz="1000" b="0">
                          <a:solidFill>
                            <a:srgbClr val="1A1D23"/>
                          </a:solidFill>
                          <a:latin typeface="Calibri"/>
                        </a:rPr>
                        <a:t>accounting services</a:t>
                      </a:r>
                    </a:p>
                  </a:txBody>
                  <a:tcPr marL="82296" marR="64008" marT="27432" marB="27432" anchor="ctr">
                    <a:solidFill>
                      <a:srgbClr val="FFFFFF"/>
                    </a:solidFill>
                  </a:tcPr>
                </a:tc>
                <a:tc>
                  <a:txBody>
                    <a:bodyPr wrap="square"/>
                    <a:lstStyle/>
                    <a:p>
                      <a:r>
                        <a:rPr sz="1000" b="0">
                          <a:solidFill>
                            <a:srgbClr val="1A1D23"/>
                          </a:solidFill>
                          <a:latin typeface="Calibri"/>
                        </a:rPr>
                        <a:t>Accounting</a:t>
                      </a:r>
                    </a:p>
                  </a:txBody>
                  <a:tcPr marL="82296" marR="64008" marT="27432" marB="27432" anchor="ctr">
                    <a:solidFill>
                      <a:srgbClr val="FFFFFF"/>
                    </a:solidFill>
                  </a:tcPr>
                </a:tc>
                <a:tc>
                  <a:txBody>
                    <a:bodyPr wrap="square"/>
                    <a:lstStyle/>
                    <a:p>
                      <a:pPr algn="r"/>
                      <a:r>
                        <a:rPr sz="1000" b="0">
                          <a:solidFill>
                            <a:srgbClr val="1A1D23"/>
                          </a:solidFill>
                          <a:latin typeface="Calibri"/>
                        </a:rPr>
                        <a:t>904</a:t>
                      </a:r>
                    </a:p>
                  </a:txBody>
                  <a:tcPr marL="82296" marR="64008" marT="27432" marB="27432" anchor="ctr">
                    <a:solidFill>
                      <a:srgbClr val="FFFFFF"/>
                    </a:solidFill>
                  </a:tcPr>
                </a:tc>
                <a:tc>
                  <a:txBody>
                    <a:bodyPr wrap="square"/>
                    <a:lstStyle/>
                    <a:p>
                      <a:pPr algn="r"/>
                      <a:r>
                        <a:rPr sz="1000" b="0">
                          <a:solidFill>
                            <a:srgbClr val="1A1D23"/>
                          </a:solidFill>
                          <a:latin typeface="Calibri"/>
                        </a:rPr>
                        <a:t>5</a:t>
                      </a:r>
                    </a:p>
                  </a:txBody>
                  <a:tcPr marL="82296" marR="64008" marT="27432" marB="27432" anchor="ctr">
                    <a:solidFill>
                      <a:srgbClr val="FFFFFF"/>
                    </a:solidFill>
                  </a:tcPr>
                </a:tc>
                <a:tc>
                  <a:txBody>
                    <a:bodyPr wrap="square"/>
                    <a:lstStyle/>
                    <a:p>
                      <a:pPr algn="r"/>
                      <a:r>
                        <a:rPr sz="1000" b="0">
                          <a:solidFill>
                            <a:srgbClr val="1A1D23"/>
                          </a:solidFill>
                          <a:latin typeface="Calibri"/>
                        </a:rPr>
                        <a:t>7.6</a:t>
                      </a:r>
                    </a:p>
                  </a:txBody>
                  <a:tcPr marL="82296" marR="64008" marT="27432" marB="27432" anchor="ctr">
                    <a:solidFill>
                      <a:srgbClr val="FFFFFF"/>
                    </a:solidFill>
                  </a:tcPr>
                </a:tc>
                <a:tc>
                  <a:txBody>
                    <a:bodyPr wrap="square"/>
                    <a:lstStyle/>
                    <a:p>
                      <a:r>
                        <a:rPr sz="1000" b="0">
                          <a:solidFill>
                            <a:srgbClr val="1A1D23"/>
                          </a:solidFill>
                          <a:latin typeface="Calibri"/>
                        </a:rPr>
                        <a:t>Rewrite title, meta and first screen</a:t>
                      </a:r>
                    </a:p>
                  </a:txBody>
                  <a:tcPr marL="82296" marR="64008" marT="27432" marB="27432" anchor="ctr">
                    <a:solidFill>
                      <a:srgbClr val="FFFFFF"/>
                    </a:solidFill>
                  </a:tcPr>
                </a:tc>
              </a:tr>
              <a:tr h="274320">
                <a:tc>
                  <a:txBody>
                    <a:bodyPr wrap="square"/>
                    <a:lstStyle/>
                    <a:p>
                      <a:r>
                        <a:rPr sz="1000" b="0">
                          <a:solidFill>
                            <a:srgbClr val="1A1D23"/>
                          </a:solidFill>
                          <a:latin typeface="Calibri"/>
                        </a:rPr>
                        <a:t>accounting services in mumbai</a:t>
                      </a:r>
                    </a:p>
                  </a:txBody>
                  <a:tcPr marL="82296" marR="64008" marT="27432" marB="27432" anchor="ctr">
                    <a:solidFill>
                      <a:srgbClr val="ECEFF3"/>
                    </a:solidFill>
                  </a:tcPr>
                </a:tc>
                <a:tc>
                  <a:txBody>
                    <a:bodyPr wrap="square"/>
                    <a:lstStyle/>
                    <a:p>
                      <a:r>
                        <a:rPr sz="1000" b="0">
                          <a:solidFill>
                            <a:srgbClr val="1A1D23"/>
                          </a:solidFill>
                          <a:latin typeface="Calibri"/>
                        </a:rPr>
                        <a:t>Accounting</a:t>
                      </a:r>
                    </a:p>
                  </a:txBody>
                  <a:tcPr marL="82296" marR="64008" marT="27432" marB="27432" anchor="ctr">
                    <a:solidFill>
                      <a:srgbClr val="ECEFF3"/>
                    </a:solidFill>
                  </a:tcPr>
                </a:tc>
                <a:tc>
                  <a:txBody>
                    <a:bodyPr wrap="square"/>
                    <a:lstStyle/>
                    <a:p>
                      <a:pPr algn="r"/>
                      <a:r>
                        <a:rPr sz="1000" b="0">
                          <a:solidFill>
                            <a:srgbClr val="1A1D23"/>
                          </a:solidFill>
                          <a:latin typeface="Calibri"/>
                        </a:rPr>
                        <a:t>247</a:t>
                      </a:r>
                    </a:p>
                  </a:txBody>
                  <a:tcPr marL="82296" marR="64008" marT="27432" marB="27432" anchor="ctr">
                    <a:solidFill>
                      <a:srgbClr val="ECEFF3"/>
                    </a:solidFill>
                  </a:tcPr>
                </a:tc>
                <a:tc>
                  <a:txBody>
                    <a:bodyPr wrap="square"/>
                    <a:lstStyle/>
                    <a:p>
                      <a:pPr algn="r"/>
                      <a:r>
                        <a:rPr sz="1000" b="1">
                          <a:solidFill>
                            <a:srgbClr val="B3261E"/>
                          </a:solidFill>
                          <a:latin typeface="Calibri"/>
                        </a:rPr>
                        <a:t>0</a:t>
                      </a:r>
                    </a:p>
                  </a:txBody>
                  <a:tcPr marL="82296" marR="64008" marT="27432" marB="27432" anchor="ctr">
                    <a:solidFill>
                      <a:srgbClr val="ECEFF3"/>
                    </a:solidFill>
                  </a:tcPr>
                </a:tc>
                <a:tc>
                  <a:txBody>
                    <a:bodyPr wrap="square"/>
                    <a:lstStyle/>
                    <a:p>
                      <a:pPr algn="r"/>
                      <a:r>
                        <a:rPr sz="1000" b="0">
                          <a:solidFill>
                            <a:srgbClr val="1A1D23"/>
                          </a:solidFill>
                          <a:latin typeface="Calibri"/>
                        </a:rPr>
                        <a:t>5.3</a:t>
                      </a:r>
                    </a:p>
                  </a:txBody>
                  <a:tcPr marL="82296" marR="64008" marT="27432" marB="27432" anchor="ctr">
                    <a:solidFill>
                      <a:srgbClr val="ECEFF3"/>
                    </a:solidFill>
                  </a:tcPr>
                </a:tc>
                <a:tc>
                  <a:txBody>
                    <a:bodyPr wrap="square"/>
                    <a:lstStyle/>
                    <a:p>
                      <a:r>
                        <a:rPr sz="1000" b="0">
                          <a:solidFill>
                            <a:srgbClr val="1A1D23"/>
                          </a:solidFill>
                          <a:latin typeface="Calibri"/>
                        </a:rPr>
                        <a:t>Priority CTR test — local proof</a:t>
                      </a:r>
                    </a:p>
                  </a:txBody>
                  <a:tcPr marL="82296" marR="64008" marT="27432" marB="27432" anchor="ctr">
                    <a:solidFill>
                      <a:srgbClr val="ECEFF3"/>
                    </a:solidFill>
                  </a:tcPr>
                </a:tc>
              </a:tr>
              <a:tr h="274320">
                <a:tc>
                  <a:txBody>
                    <a:bodyPr wrap="square"/>
                    <a:lstStyle/>
                    <a:p>
                      <a:r>
                        <a:rPr sz="1000" b="0">
                          <a:solidFill>
                            <a:srgbClr val="1A1D23"/>
                          </a:solidFill>
                          <a:latin typeface="Calibri"/>
                        </a:rPr>
                        <a:t>ca in mumbai</a:t>
                      </a:r>
                    </a:p>
                  </a:txBody>
                  <a:tcPr marL="82296" marR="64008" marT="27432" marB="27432" anchor="ctr">
                    <a:solidFill>
                      <a:srgbClr val="FFFFFF"/>
                    </a:solidFill>
                  </a:tcPr>
                </a:tc>
                <a:tc>
                  <a:txBody>
                    <a:bodyPr wrap="square"/>
                    <a:lstStyle/>
                    <a:p>
                      <a:r>
                        <a:rPr sz="1000" b="0">
                          <a:solidFill>
                            <a:srgbClr val="1A1D23"/>
                          </a:solidFill>
                          <a:latin typeface="Calibri"/>
                        </a:rPr>
                        <a:t>Homepage</a:t>
                      </a:r>
                    </a:p>
                  </a:txBody>
                  <a:tcPr marL="82296" marR="64008" marT="27432" marB="27432" anchor="ctr">
                    <a:solidFill>
                      <a:srgbClr val="FFFFFF"/>
                    </a:solidFill>
                  </a:tcPr>
                </a:tc>
                <a:tc>
                  <a:txBody>
                    <a:bodyPr wrap="square"/>
                    <a:lstStyle/>
                    <a:p>
                      <a:pPr algn="r"/>
                      <a:r>
                        <a:rPr sz="1000" b="0">
                          <a:solidFill>
                            <a:srgbClr val="1A1D23"/>
                          </a:solidFill>
                          <a:latin typeface="Calibri"/>
                        </a:rPr>
                        <a:t>749</a:t>
                      </a:r>
                    </a:p>
                  </a:txBody>
                  <a:tcPr marL="82296" marR="64008" marT="27432" marB="27432" anchor="ctr">
                    <a:solidFill>
                      <a:srgbClr val="FFFFFF"/>
                    </a:solidFill>
                  </a:tcPr>
                </a:tc>
                <a:tc>
                  <a:txBody>
                    <a:bodyPr wrap="square"/>
                    <a:lstStyle/>
                    <a:p>
                      <a:pPr algn="r"/>
                      <a:r>
                        <a:rPr sz="1000" b="0">
                          <a:solidFill>
                            <a:srgbClr val="1A1D23"/>
                          </a:solidFill>
                          <a:latin typeface="Calibri"/>
                        </a:rPr>
                        <a:t>14</a:t>
                      </a:r>
                    </a:p>
                  </a:txBody>
                  <a:tcPr marL="82296" marR="64008" marT="27432" marB="27432" anchor="ctr">
                    <a:solidFill>
                      <a:srgbClr val="FFFFFF"/>
                    </a:solidFill>
                  </a:tcPr>
                </a:tc>
                <a:tc>
                  <a:txBody>
                    <a:bodyPr wrap="square"/>
                    <a:lstStyle/>
                    <a:p>
                      <a:pPr algn="r"/>
                      <a:r>
                        <a:rPr sz="1000" b="0">
                          <a:solidFill>
                            <a:srgbClr val="1A1D23"/>
                          </a:solidFill>
                          <a:latin typeface="Calibri"/>
                        </a:rPr>
                        <a:t>3.0</a:t>
                      </a:r>
                    </a:p>
                  </a:txBody>
                  <a:tcPr marL="82296" marR="64008" marT="27432" marB="27432" anchor="ctr">
                    <a:solidFill>
                      <a:srgbClr val="FFFFFF"/>
                    </a:solidFill>
                  </a:tcPr>
                </a:tc>
                <a:tc>
                  <a:txBody>
                    <a:bodyPr wrap="square"/>
                    <a:lstStyle/>
                    <a:p>
                      <a:r>
                        <a:rPr sz="1000" b="0">
                          <a:solidFill>
                            <a:srgbClr val="1A1D23"/>
                          </a:solidFill>
                          <a:latin typeface="Calibri"/>
                        </a:rPr>
                        <a:t>Strengthen snippet + CA credentials</a:t>
                      </a:r>
                    </a:p>
                  </a:txBody>
                  <a:tcPr marL="82296" marR="64008" marT="27432" marB="27432" anchor="ctr">
                    <a:solidFill>
                      <a:srgbClr val="FFFFFF"/>
                    </a:solidFill>
                  </a:tcPr>
                </a:tc>
              </a:tr>
              <a:tr h="274320">
                <a:tc>
                  <a:txBody>
                    <a:bodyPr wrap="square"/>
                    <a:lstStyle/>
                    <a:p>
                      <a:r>
                        <a:rPr sz="1000" b="0">
                          <a:solidFill>
                            <a:srgbClr val="1A1D23"/>
                          </a:solidFill>
                          <a:latin typeface="Calibri"/>
                        </a:rPr>
                        <a:t>gst filing services</a:t>
                      </a:r>
                    </a:p>
                  </a:txBody>
                  <a:tcPr marL="82296" marR="64008" marT="27432" marB="27432" anchor="ctr">
                    <a:solidFill>
                      <a:srgbClr val="ECEFF3"/>
                    </a:solidFill>
                  </a:tcPr>
                </a:tc>
                <a:tc>
                  <a:txBody>
                    <a:bodyPr wrap="square"/>
                    <a:lstStyle/>
                    <a:p>
                      <a:r>
                        <a:rPr sz="1000" b="0">
                          <a:solidFill>
                            <a:srgbClr val="1A1D23"/>
                          </a:solidFill>
                          <a:latin typeface="Calibri"/>
                        </a:rPr>
                        <a:t>GST Return Filing</a:t>
                      </a:r>
                    </a:p>
                  </a:txBody>
                  <a:tcPr marL="82296" marR="64008" marT="27432" marB="27432" anchor="ctr">
                    <a:solidFill>
                      <a:srgbClr val="ECEFF3"/>
                    </a:solidFill>
                  </a:tcPr>
                </a:tc>
                <a:tc>
                  <a:txBody>
                    <a:bodyPr wrap="square"/>
                    <a:lstStyle/>
                    <a:p>
                      <a:pPr algn="r"/>
                      <a:r>
                        <a:rPr sz="1000" b="0">
                          <a:solidFill>
                            <a:srgbClr val="1A1D23"/>
                          </a:solidFill>
                          <a:latin typeface="Calibri"/>
                        </a:rPr>
                        <a:t>380</a:t>
                      </a:r>
                    </a:p>
                  </a:txBody>
                  <a:tcPr marL="82296" marR="64008" marT="27432" marB="27432" anchor="ctr">
                    <a:solidFill>
                      <a:srgbClr val="ECEFF3"/>
                    </a:solidFill>
                  </a:tcPr>
                </a:tc>
                <a:tc>
                  <a:txBody>
                    <a:bodyPr wrap="square"/>
                    <a:lstStyle/>
                    <a:p>
                      <a:pPr algn="r"/>
                      <a:r>
                        <a:rPr sz="1000" b="0">
                          <a:solidFill>
                            <a:srgbClr val="1A1D23"/>
                          </a:solidFill>
                          <a:latin typeface="Calibri"/>
                        </a:rPr>
                        <a:t>3</a:t>
                      </a:r>
                    </a:p>
                  </a:txBody>
                  <a:tcPr marL="82296" marR="64008" marT="27432" marB="27432" anchor="ctr">
                    <a:solidFill>
                      <a:srgbClr val="ECEFF3"/>
                    </a:solidFill>
                  </a:tcPr>
                </a:tc>
                <a:tc>
                  <a:txBody>
                    <a:bodyPr wrap="square"/>
                    <a:lstStyle/>
                    <a:p>
                      <a:pPr algn="r"/>
                      <a:r>
                        <a:rPr sz="1000" b="0">
                          <a:solidFill>
                            <a:srgbClr val="1A1D23"/>
                          </a:solidFill>
                          <a:latin typeface="Calibri"/>
                        </a:rPr>
                        <a:t>13.7</a:t>
                      </a:r>
                    </a:p>
                  </a:txBody>
                  <a:tcPr marL="82296" marR="64008" marT="27432" marB="27432" anchor="ctr">
                    <a:solidFill>
                      <a:srgbClr val="ECEFF3"/>
                    </a:solidFill>
                  </a:tcPr>
                </a:tc>
                <a:tc>
                  <a:txBody>
                    <a:bodyPr wrap="square"/>
                    <a:lstStyle/>
                    <a:p>
                      <a:r>
                        <a:rPr sz="1000" b="0">
                          <a:solidFill>
                            <a:srgbClr val="1A1D23"/>
                          </a:solidFill>
                          <a:latin typeface="Calibri"/>
                        </a:rPr>
                        <a:t>Depth and internal links to reach page one</a:t>
                      </a:r>
                    </a:p>
                  </a:txBody>
                  <a:tcPr marL="82296" marR="64008" marT="27432" marB="27432" anchor="ctr">
                    <a:solidFill>
                      <a:srgbClr val="ECEFF3"/>
                    </a:solidFill>
                  </a:tcPr>
                </a:tc>
              </a:tr>
              <a:tr h="274320">
                <a:tc>
                  <a:txBody>
                    <a:bodyPr wrap="square"/>
                    <a:lstStyle/>
                    <a:p>
                      <a:r>
                        <a:rPr sz="1000" b="0">
                          <a:solidFill>
                            <a:srgbClr val="1A1D23"/>
                          </a:solidFill>
                          <a:latin typeface="Calibri"/>
                        </a:rPr>
                        <a:t>online tax consultant</a:t>
                      </a:r>
                    </a:p>
                  </a:txBody>
                  <a:tcPr marL="82296" marR="64008" marT="27432" marB="27432" anchor="ctr">
                    <a:solidFill>
                      <a:srgbClr val="FFFFFF"/>
                    </a:solidFill>
                  </a:tcPr>
                </a:tc>
                <a:tc>
                  <a:txBody>
                    <a:bodyPr wrap="square"/>
                    <a:lstStyle/>
                    <a:p>
                      <a:r>
                        <a:rPr sz="1000" b="0">
                          <a:solidFill>
                            <a:srgbClr val="1A1D23"/>
                          </a:solidFill>
                          <a:latin typeface="Calibri"/>
                        </a:rPr>
                        <a:t>Homepage</a:t>
                      </a:r>
                    </a:p>
                  </a:txBody>
                  <a:tcPr marL="82296" marR="64008" marT="27432" marB="27432" anchor="ctr">
                    <a:solidFill>
                      <a:srgbClr val="FFFFFF"/>
                    </a:solidFill>
                  </a:tcPr>
                </a:tc>
                <a:tc>
                  <a:txBody>
                    <a:bodyPr wrap="square"/>
                    <a:lstStyle/>
                    <a:p>
                      <a:pPr algn="r"/>
                      <a:r>
                        <a:rPr sz="1000" b="0">
                          <a:solidFill>
                            <a:srgbClr val="1A1D23"/>
                          </a:solidFill>
                          <a:latin typeface="Calibri"/>
                        </a:rPr>
                        <a:t>367</a:t>
                      </a:r>
                    </a:p>
                  </a:txBody>
                  <a:tcPr marL="82296" marR="64008" marT="27432" marB="27432" anchor="ctr">
                    <a:solidFill>
                      <a:srgbClr val="FFFFFF"/>
                    </a:solidFill>
                  </a:tcPr>
                </a:tc>
                <a:tc>
                  <a:txBody>
                    <a:bodyPr wrap="square"/>
                    <a:lstStyle/>
                    <a:p>
                      <a:pPr algn="r"/>
                      <a:r>
                        <a:rPr sz="1000" b="0">
                          <a:solidFill>
                            <a:srgbClr val="1A1D23"/>
                          </a:solidFill>
                          <a:latin typeface="Calibri"/>
                        </a:rPr>
                        <a:t>1</a:t>
                      </a:r>
                    </a:p>
                  </a:txBody>
                  <a:tcPr marL="82296" marR="64008" marT="27432" marB="27432" anchor="ctr">
                    <a:solidFill>
                      <a:srgbClr val="FFFFFF"/>
                    </a:solidFill>
                  </a:tcPr>
                </a:tc>
                <a:tc>
                  <a:txBody>
                    <a:bodyPr wrap="square"/>
                    <a:lstStyle/>
                    <a:p>
                      <a:pPr algn="r"/>
                      <a:r>
                        <a:rPr sz="1000" b="0">
                          <a:solidFill>
                            <a:srgbClr val="1A1D23"/>
                          </a:solidFill>
                          <a:latin typeface="Calibri"/>
                        </a:rPr>
                        <a:t>10.6</a:t>
                      </a:r>
                    </a:p>
                  </a:txBody>
                  <a:tcPr marL="82296" marR="64008" marT="27432" marB="27432" anchor="ctr">
                    <a:solidFill>
                      <a:srgbClr val="FFFFFF"/>
                    </a:solidFill>
                  </a:tcPr>
                </a:tc>
                <a:tc>
                  <a:txBody>
                    <a:bodyPr wrap="square"/>
                    <a:lstStyle/>
                    <a:p>
                      <a:r>
                        <a:rPr sz="1000" b="0">
                          <a:solidFill>
                            <a:srgbClr val="1A1D23"/>
                          </a:solidFill>
                          <a:latin typeface="Calibri"/>
                        </a:rPr>
                        <a:t>Explain the remote/online process</a:t>
                      </a:r>
                    </a:p>
                  </a:txBody>
                  <a:tcPr marL="82296" marR="64008" marT="27432" marB="27432" anchor="ctr">
                    <a:solidFill>
                      <a:srgbClr val="FFFFFF"/>
                    </a:solidFill>
                  </a:tcPr>
                </a:tc>
              </a:tr>
              <a:tr h="274320">
                <a:tc>
                  <a:txBody>
                    <a:bodyPr wrap="square"/>
                    <a:lstStyle/>
                    <a:p>
                      <a:r>
                        <a:rPr sz="1000" b="0">
                          <a:solidFill>
                            <a:srgbClr val="1A1D23"/>
                          </a:solidFill>
                          <a:latin typeface="Calibri"/>
                        </a:rPr>
                        <a:t>12a registration online</a:t>
                      </a:r>
                    </a:p>
                  </a:txBody>
                  <a:tcPr marL="82296" marR="64008" marT="27432" marB="27432" anchor="ctr">
                    <a:solidFill>
                      <a:srgbClr val="ECEFF3"/>
                    </a:solidFill>
                  </a:tcPr>
                </a:tc>
                <a:tc>
                  <a:txBody>
                    <a:bodyPr wrap="square"/>
                    <a:lstStyle/>
                    <a:p>
                      <a:r>
                        <a:rPr sz="1000" b="0">
                          <a:solidFill>
                            <a:srgbClr val="1A1D23"/>
                          </a:solidFill>
                          <a:latin typeface="Calibri"/>
                        </a:rPr>
                        <a:t>12A / 80G</a:t>
                      </a:r>
                    </a:p>
                  </a:txBody>
                  <a:tcPr marL="82296" marR="64008" marT="27432" marB="27432" anchor="ctr">
                    <a:solidFill>
                      <a:srgbClr val="ECEFF3"/>
                    </a:solidFill>
                  </a:tcPr>
                </a:tc>
                <a:tc>
                  <a:txBody>
                    <a:bodyPr wrap="square"/>
                    <a:lstStyle/>
                    <a:p>
                      <a:pPr algn="r"/>
                      <a:r>
                        <a:rPr sz="1000" b="0">
                          <a:solidFill>
                            <a:srgbClr val="1A1D23"/>
                          </a:solidFill>
                          <a:latin typeface="Calibri"/>
                        </a:rPr>
                        <a:t>306</a:t>
                      </a:r>
                    </a:p>
                  </a:txBody>
                  <a:tcPr marL="82296" marR="64008" marT="27432" marB="27432" anchor="ctr">
                    <a:solidFill>
                      <a:srgbClr val="ECEFF3"/>
                    </a:solidFill>
                  </a:tcPr>
                </a:tc>
                <a:tc>
                  <a:txBody>
                    <a:bodyPr wrap="square"/>
                    <a:lstStyle/>
                    <a:p>
                      <a:pPr algn="r"/>
                      <a:r>
                        <a:rPr sz="1000" b="0">
                          <a:solidFill>
                            <a:srgbClr val="1A1D23"/>
                          </a:solidFill>
                          <a:latin typeface="Calibri"/>
                        </a:rPr>
                        <a:t>3</a:t>
                      </a:r>
                    </a:p>
                  </a:txBody>
                  <a:tcPr marL="82296" marR="64008" marT="27432" marB="27432" anchor="ctr">
                    <a:solidFill>
                      <a:srgbClr val="ECEFF3"/>
                    </a:solidFill>
                  </a:tcPr>
                </a:tc>
                <a:tc>
                  <a:txBody>
                    <a:bodyPr wrap="square"/>
                    <a:lstStyle/>
                    <a:p>
                      <a:pPr algn="r"/>
                      <a:r>
                        <a:rPr sz="1000" b="0">
                          <a:solidFill>
                            <a:srgbClr val="1A1D23"/>
                          </a:solidFill>
                          <a:latin typeface="Calibri"/>
                        </a:rPr>
                        <a:t>7.9</a:t>
                      </a:r>
                    </a:p>
                  </a:txBody>
                  <a:tcPr marL="82296" marR="64008" marT="27432" marB="27432" anchor="ctr">
                    <a:solidFill>
                      <a:srgbClr val="ECEFF3"/>
                    </a:solidFill>
                  </a:tcPr>
                </a:tc>
                <a:tc>
                  <a:txBody>
                    <a:bodyPr wrap="square"/>
                    <a:lstStyle/>
                    <a:p>
                      <a:r>
                        <a:rPr sz="1000" b="0">
                          <a:solidFill>
                            <a:srgbClr val="1A1D23"/>
                          </a:solidFill>
                          <a:latin typeface="Calibri"/>
                        </a:rPr>
                        <a:t>Refresh, broaden scope, improve CTA</a:t>
                      </a:r>
                    </a:p>
                  </a:txBody>
                  <a:tcPr marL="82296" marR="64008" marT="27432" marB="27432" anchor="ctr">
                    <a:solidFill>
                      <a:srgbClr val="ECEFF3"/>
                    </a:solidFill>
                  </a:tcPr>
                </a:tc>
              </a:tr>
              <a:tr h="274320">
                <a:tc>
                  <a:txBody>
                    <a:bodyPr wrap="square"/>
                    <a:lstStyle/>
                    <a:p>
                      <a:r>
                        <a:rPr sz="1000" b="0">
                          <a:solidFill>
                            <a:srgbClr val="1A1D23"/>
                          </a:solidFill>
                          <a:latin typeface="Calibri"/>
                        </a:rPr>
                        <a:t>itr filing in mumbai</a:t>
                      </a:r>
                    </a:p>
                  </a:txBody>
                  <a:tcPr marL="82296" marR="64008" marT="27432" marB="27432" anchor="ctr">
                    <a:solidFill>
                      <a:srgbClr val="FFFFFF"/>
                    </a:solidFill>
                  </a:tcPr>
                </a:tc>
                <a:tc>
                  <a:txBody>
                    <a:bodyPr wrap="square"/>
                    <a:lstStyle/>
                    <a:p>
                      <a:r>
                        <a:rPr sz="1000" b="0">
                          <a:solidFill>
                            <a:srgbClr val="1A1D23"/>
                          </a:solidFill>
                          <a:latin typeface="Calibri"/>
                        </a:rPr>
                        <a:t>ITR Mumbai</a:t>
                      </a:r>
                    </a:p>
                  </a:txBody>
                  <a:tcPr marL="82296" marR="64008" marT="27432" marB="27432" anchor="ctr">
                    <a:solidFill>
                      <a:srgbClr val="FFFFFF"/>
                    </a:solidFill>
                  </a:tcPr>
                </a:tc>
                <a:tc>
                  <a:txBody>
                    <a:bodyPr wrap="square"/>
                    <a:lstStyle/>
                    <a:p>
                      <a:pPr algn="r"/>
                      <a:r>
                        <a:rPr sz="1000" b="0">
                          <a:solidFill>
                            <a:srgbClr val="1A1D23"/>
                          </a:solidFill>
                          <a:latin typeface="Calibri"/>
                        </a:rPr>
                        <a:t>249</a:t>
                      </a:r>
                    </a:p>
                  </a:txBody>
                  <a:tcPr marL="82296" marR="64008" marT="27432" marB="27432" anchor="ctr">
                    <a:solidFill>
                      <a:srgbClr val="FFFFFF"/>
                    </a:solidFill>
                  </a:tcPr>
                </a:tc>
                <a:tc>
                  <a:txBody>
                    <a:bodyPr wrap="square"/>
                    <a:lstStyle/>
                    <a:p>
                      <a:pPr algn="r"/>
                      <a:r>
                        <a:rPr sz="1000" b="0">
                          <a:solidFill>
                            <a:srgbClr val="1A1D23"/>
                          </a:solidFill>
                          <a:latin typeface="Calibri"/>
                        </a:rPr>
                        <a:t>7</a:t>
                      </a:r>
                    </a:p>
                  </a:txBody>
                  <a:tcPr marL="82296" marR="64008" marT="27432" marB="27432" anchor="ctr">
                    <a:solidFill>
                      <a:srgbClr val="FFFFFF"/>
                    </a:solidFill>
                  </a:tcPr>
                </a:tc>
                <a:tc>
                  <a:txBody>
                    <a:bodyPr wrap="square"/>
                    <a:lstStyle/>
                    <a:p>
                      <a:pPr algn="r"/>
                      <a:r>
                        <a:rPr sz="1000" b="0">
                          <a:solidFill>
                            <a:srgbClr val="1A1D23"/>
                          </a:solidFill>
                          <a:latin typeface="Calibri"/>
                        </a:rPr>
                        <a:t>3.0</a:t>
                      </a:r>
                    </a:p>
                  </a:txBody>
                  <a:tcPr marL="82296" marR="64008" marT="27432" marB="27432" anchor="ctr">
                    <a:solidFill>
                      <a:srgbClr val="FFFFFF"/>
                    </a:solidFill>
                  </a:tcPr>
                </a:tc>
                <a:tc>
                  <a:txBody>
                    <a:bodyPr wrap="square"/>
                    <a:lstStyle/>
                    <a:p>
                      <a:r>
                        <a:rPr sz="1000" b="0">
                          <a:solidFill>
                            <a:srgbClr val="1A1D23"/>
                          </a:solidFill>
                          <a:latin typeface="Calibri"/>
                        </a:rPr>
                        <a:t>Protect intent; add pricing and proof</a:t>
                      </a:r>
                    </a:p>
                  </a:txBody>
                  <a:tcPr marL="82296" marR="64008" marT="27432" marB="27432" anchor="ctr">
                    <a:solidFill>
                      <a:srgbClr val="FFFFFF"/>
                    </a:solidFill>
                  </a:tcPr>
                </a:tc>
              </a:tr>
              <a:tr h="274320">
                <a:tc>
                  <a:txBody>
                    <a:bodyPr wrap="square"/>
                    <a:lstStyle/>
                    <a:p>
                      <a:r>
                        <a:rPr sz="1000" b="0">
                          <a:solidFill>
                            <a:srgbClr val="1A1D23"/>
                          </a:solidFill>
                          <a:latin typeface="Calibri"/>
                        </a:rPr>
                        <a:t>income tax return filing mumbai</a:t>
                      </a:r>
                    </a:p>
                  </a:txBody>
                  <a:tcPr marL="82296" marR="64008" marT="27432" marB="27432" anchor="ctr">
                    <a:solidFill>
                      <a:srgbClr val="ECEFF3"/>
                    </a:solidFill>
                  </a:tcPr>
                </a:tc>
                <a:tc>
                  <a:txBody>
                    <a:bodyPr wrap="square"/>
                    <a:lstStyle/>
                    <a:p>
                      <a:r>
                        <a:rPr sz="1000" b="0">
                          <a:solidFill>
                            <a:srgbClr val="1A1D23"/>
                          </a:solidFill>
                          <a:latin typeface="Calibri"/>
                        </a:rPr>
                        <a:t>ITR Mumbai</a:t>
                      </a:r>
                    </a:p>
                  </a:txBody>
                  <a:tcPr marL="82296" marR="64008" marT="27432" marB="27432" anchor="ctr">
                    <a:solidFill>
                      <a:srgbClr val="ECEFF3"/>
                    </a:solidFill>
                  </a:tcPr>
                </a:tc>
                <a:tc>
                  <a:txBody>
                    <a:bodyPr wrap="square"/>
                    <a:lstStyle/>
                    <a:p>
                      <a:pPr algn="r"/>
                      <a:r>
                        <a:rPr sz="1000" b="0">
                          <a:solidFill>
                            <a:srgbClr val="1A1D23"/>
                          </a:solidFill>
                          <a:latin typeface="Calibri"/>
                        </a:rPr>
                        <a:t>233</a:t>
                      </a:r>
                    </a:p>
                  </a:txBody>
                  <a:tcPr marL="82296" marR="64008" marT="27432" marB="27432" anchor="ctr">
                    <a:solidFill>
                      <a:srgbClr val="ECEFF3"/>
                    </a:solidFill>
                  </a:tcPr>
                </a:tc>
                <a:tc>
                  <a:txBody>
                    <a:bodyPr wrap="square"/>
                    <a:lstStyle/>
                    <a:p>
                      <a:pPr algn="r"/>
                      <a:r>
                        <a:rPr sz="1000" b="1">
                          <a:solidFill>
                            <a:srgbClr val="B3261E"/>
                          </a:solidFill>
                          <a:latin typeface="Calibri"/>
                        </a:rPr>
                        <a:t>0</a:t>
                      </a:r>
                    </a:p>
                  </a:txBody>
                  <a:tcPr marL="82296" marR="64008" marT="27432" marB="27432" anchor="ctr">
                    <a:solidFill>
                      <a:srgbClr val="ECEFF3"/>
                    </a:solidFill>
                  </a:tcPr>
                </a:tc>
                <a:tc>
                  <a:txBody>
                    <a:bodyPr wrap="square"/>
                    <a:lstStyle/>
                    <a:p>
                      <a:pPr algn="r"/>
                      <a:r>
                        <a:rPr sz="1000" b="0">
                          <a:solidFill>
                            <a:srgbClr val="1A1D23"/>
                          </a:solidFill>
                          <a:latin typeface="Calibri"/>
                        </a:rPr>
                        <a:t>4.7</a:t>
                      </a:r>
                    </a:p>
                  </a:txBody>
                  <a:tcPr marL="82296" marR="64008" marT="27432" marB="27432" anchor="ctr">
                    <a:solidFill>
                      <a:srgbClr val="ECEFF3"/>
                    </a:solidFill>
                  </a:tcPr>
                </a:tc>
                <a:tc>
                  <a:txBody>
                    <a:bodyPr wrap="square"/>
                    <a:lstStyle/>
                    <a:p>
                      <a:r>
                        <a:rPr sz="1000" b="0">
                          <a:solidFill>
                            <a:srgbClr val="1A1D23"/>
                          </a:solidFill>
                          <a:latin typeface="Calibri"/>
                        </a:rPr>
                        <a:t>Differentiate snippet, clarify current year</a:t>
                      </a:r>
                    </a:p>
                  </a:txBody>
                  <a:tcPr marL="82296" marR="64008" marT="27432" marB="27432" anchor="ctr">
                    <a:solidFill>
                      <a:srgbClr val="ECEFF3"/>
                    </a:solidFill>
                  </a:tcPr>
                </a:tc>
              </a:tr>
            </a:tbl>
          </a:graphicData>
        </a:graphic>
      </p:graphicFrame>
      <p:sp>
        <p:nvSpPr>
          <p:cNvPr id="8" name="Rectangle 7"/>
          <p:cNvSpPr/>
          <p:nvPr/>
        </p:nvSpPr>
        <p:spPr>
          <a:xfrm>
            <a:off x="566928" y="4315968"/>
            <a:ext cx="5431536" cy="969264"/>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4315968"/>
            <a:ext cx="44450" cy="969264"/>
          </a:xfrm>
          <a:prstGeom prst="rect">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407408"/>
            <a:ext cx="5120640" cy="822960"/>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The top ten pages already account for 45.1% of all</a:t>
            </a:r>
          </a:p>
          <a:p>
            <a:pPr algn="l">
              <a:lnSpc>
                <a:spcPct val="105000"/>
              </a:lnSpc>
            </a:pPr>
            <a:r>
              <a:rPr sz="1000" b="0" i="0">
                <a:solidFill>
                  <a:srgbClr val="1A1D23"/>
                </a:solidFill>
                <a:latin typeface="Calibri"/>
              </a:rPr>
              <a:t>page-level clicks. Focused upgrades to a small number</a:t>
            </a:r>
          </a:p>
          <a:p>
            <a:pPr algn="l">
              <a:lnSpc>
                <a:spcPct val="105000"/>
              </a:lnSpc>
            </a:pPr>
            <a:r>
              <a:rPr sz="1000" b="0" i="0">
                <a:solidFill>
                  <a:srgbClr val="1A1D23"/>
                </a:solidFill>
                <a:latin typeface="Calibri"/>
              </a:rPr>
              <a:t>of pages can move the total meaningfully — no site</a:t>
            </a:r>
          </a:p>
          <a:p>
            <a:pPr algn="l">
              <a:lnSpc>
                <a:spcPct val="105000"/>
              </a:lnSpc>
            </a:pPr>
            <a:r>
              <a:rPr sz="1000" b="0" i="0">
                <a:solidFill>
                  <a:srgbClr val="1A1D23"/>
                </a:solidFill>
                <a:latin typeface="Calibri"/>
              </a:rPr>
              <a:t>rebuild and no large publishing programme required.</a:t>
            </a:r>
          </a:p>
        </p:txBody>
      </p:sp>
      <p:sp>
        <p:nvSpPr>
          <p:cNvPr id="11" name="TextBox 10"/>
          <p:cNvSpPr txBox="1"/>
          <p:nvPr/>
        </p:nvSpPr>
        <p:spPr>
          <a:xfrm>
            <a:off x="6199632" y="4389120"/>
            <a:ext cx="5431536"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Trust gap holding these pages back</a:t>
            </a:r>
          </a:p>
        </p:txBody>
      </p:sp>
      <p:sp>
        <p:nvSpPr>
          <p:cNvPr id="12" name="Oval 11"/>
          <p:cNvSpPr/>
          <p:nvPr/>
        </p:nvSpPr>
        <p:spPr>
          <a:xfrm>
            <a:off x="6199632" y="4786884"/>
            <a:ext cx="63500" cy="635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718304"/>
            <a:ext cx="5230368" cy="512064"/>
          </a:xfrm>
          <a:prstGeom prst="rect">
            <a:avLst/>
          </a:prstGeom>
          <a:noFill/>
        </p:spPr>
        <p:txBody>
          <a:bodyPr wrap="square" lIns="0" rIns="0" tIns="0" bIns="0" anchor="t">
            <a:spAutoFit/>
          </a:bodyPr>
          <a:lstStyle/>
          <a:p>
            <a:pPr algn="l">
              <a:lnSpc>
                <a:spcPct val="106000"/>
              </a:lnSpc>
            </a:pPr>
            <a:r>
              <a:rPr sz="1050" b="0" i="0">
                <a:solidFill>
                  <a:srgbClr val="1A1D23"/>
                </a:solidFill>
                <a:latin typeface="Calibri"/>
              </a:rPr>
              <a:t>No named, checkable CA credential anywhere on the site — a significant gap for financial-services content.</a:t>
            </a:r>
          </a:p>
        </p:txBody>
      </p:sp>
      <p:sp>
        <p:nvSpPr>
          <p:cNvPr id="14" name="Oval 13"/>
          <p:cNvSpPr/>
          <p:nvPr/>
        </p:nvSpPr>
        <p:spPr>
          <a:xfrm>
            <a:off x="6199632" y="5298948"/>
            <a:ext cx="63500" cy="635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5230368"/>
            <a:ext cx="5230368" cy="512064"/>
          </a:xfrm>
          <a:prstGeom prst="rect">
            <a:avLst/>
          </a:prstGeom>
          <a:noFill/>
        </p:spPr>
        <p:txBody>
          <a:bodyPr wrap="square" lIns="0" rIns="0" tIns="0" bIns="0" anchor="t">
            <a:spAutoFit/>
          </a:bodyPr>
          <a:lstStyle/>
          <a:p>
            <a:pPr algn="l">
              <a:lnSpc>
                <a:spcPct val="106000"/>
              </a:lnSpc>
            </a:pPr>
            <a:r>
              <a:rPr sz="1050" b="0" i="0">
                <a:solidFill>
                  <a:srgbClr val="1A1D23"/>
                </a:solidFill>
                <a:latin typeface="Calibri"/>
              </a:rPr>
              <a:t>Homepage testimonials section renders empty; NRI and Audit pages have none.</a:t>
            </a:r>
          </a:p>
        </p:txBody>
      </p:sp>
      <p:sp>
        <p:nvSpPr>
          <p:cNvPr id="16" name="Oval 15"/>
          <p:cNvSpPr/>
          <p:nvPr/>
        </p:nvSpPr>
        <p:spPr>
          <a:xfrm>
            <a:off x="6199632" y="5811012"/>
            <a:ext cx="63500" cy="635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5742432"/>
            <a:ext cx="5230368" cy="512064"/>
          </a:xfrm>
          <a:prstGeom prst="rect">
            <a:avLst/>
          </a:prstGeom>
          <a:noFill/>
        </p:spPr>
        <p:txBody>
          <a:bodyPr wrap="square" lIns="0" rIns="0" tIns="0" bIns="0" anchor="t">
            <a:spAutoFit/>
          </a:bodyPr>
          <a:lstStyle/>
          <a:p>
            <a:pPr algn="l">
              <a:lnSpc>
                <a:spcPct val="106000"/>
              </a:lnSpc>
            </a:pPr>
            <a:r>
              <a:rPr sz="1050" b="0" i="0">
                <a:solidFill>
                  <a:srgbClr val="1A1D23"/>
                </a:solidFill>
                <a:latin typeface="Calibri"/>
              </a:rPr>
              <a:t>Six service-page gaps confirmed: Private Limited, LLP formation, Proprietorship, ROC compliance, Tax Consultancy, GST Consultancy.</a:t>
            </a:r>
          </a:p>
        </p:txBody>
      </p:sp>
      <p:sp>
        <p:nvSpPr>
          <p:cNvPr id="18" name="Rectangle 17"/>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6437376"/>
            <a:ext cx="731520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a:t>
            </a:r>
          </a:p>
        </p:txBody>
      </p:sp>
      <p:sp>
        <p:nvSpPr>
          <p:cNvPr id="20" name="TextBox 19"/>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WORK COMPLETED 5 SEPTEMBER 2026</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700" b="1" i="0">
                <a:solidFill>
                  <a:srgbClr val="1B3A5C"/>
                </a:solidFill>
                <a:latin typeface="Calibri"/>
              </a:rPr>
              <a:t>Off-Page Authority &amp; Backlink Foundation</a:t>
            </a:r>
          </a:p>
        </p:txBody>
      </p:sp>
      <p:sp>
        <p:nvSpPr>
          <p:cNvPr id="5" name="Rectangle 4"/>
          <p:cNvSpPr/>
          <p:nvPr/>
        </p:nvSpPr>
        <p:spPr>
          <a:xfrm>
            <a:off x="566928" y="1225296"/>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16736"/>
            <a:ext cx="11064240" cy="292608"/>
          </a:xfrm>
          <a:prstGeom prst="rect">
            <a:avLst/>
          </a:prstGeom>
          <a:noFill/>
        </p:spPr>
        <p:txBody>
          <a:bodyPr wrap="square" lIns="0" rIns="0" tIns="0" bIns="0" anchor="t">
            <a:spAutoFit/>
          </a:bodyPr>
          <a:lstStyle/>
          <a:p>
            <a:pPr algn="l">
              <a:lnSpc>
                <a:spcPct val="100000"/>
              </a:lnSpc>
            </a:pPr>
            <a:r>
              <a:rPr sz="1200" b="0" i="0">
                <a:solidFill>
                  <a:srgbClr val="1A1D23"/>
                </a:solidFill>
                <a:latin typeface="Calibri"/>
              </a:rPr>
              <a:t>A structured opportunity hunt was completed and ten qualified opportunities were scored on a 100-point model. Top-ranked items below.</a:t>
            </a:r>
          </a:p>
        </p:txBody>
      </p:sp>
      <p:graphicFrame>
        <p:nvGraphicFramePr>
          <p:cNvPr id="7" name="Table 6"/>
          <p:cNvGraphicFramePr>
            <a:graphicFrameLocks noGrp="1"/>
          </p:cNvGraphicFramePr>
          <p:nvPr/>
        </p:nvGraphicFramePr>
        <p:xfrm>
          <a:off x="566928" y="1700784"/>
          <a:ext cx="11064240" cy="2194560"/>
        </p:xfrm>
        <a:graphic>
          <a:graphicData uri="http://schemas.openxmlformats.org/drawingml/2006/table">
            <a:tbl>
              <a:tblPr firstRow="1" bandRow="1">
                <a:tableStyleId>{5C22544A-7EE6-4342-B048-85BDC9FD1C3A}</a:tableStyleId>
              </a:tblPr>
              <a:tblGrid>
                <a:gridCol w="3364992"/>
                <a:gridCol w="2176272"/>
                <a:gridCol w="786384"/>
                <a:gridCol w="2999232"/>
                <a:gridCol w="1737360"/>
              </a:tblGrid>
              <a:tr h="329184">
                <a:tc>
                  <a:txBody>
                    <a:bodyPr wrap="square"/>
                    <a:lstStyle/>
                    <a:p>
                      <a:r>
                        <a:rPr sz="1050" b="1">
                          <a:solidFill>
                            <a:srgbClr val="FFFFFF"/>
                          </a:solidFill>
                          <a:latin typeface="Calibri"/>
                        </a:rPr>
                        <a:t>Opportunity</a:t>
                      </a:r>
                    </a:p>
                  </a:txBody>
                  <a:tcPr marL="82296" marR="64008" marT="27432" marB="27432" anchor="ctr">
                    <a:solidFill>
                      <a:srgbClr val="1B3A5C"/>
                    </a:solidFill>
                  </a:tcPr>
                </a:tc>
                <a:tc>
                  <a:txBody>
                    <a:bodyPr wrap="square"/>
                    <a:lstStyle/>
                    <a:p>
                      <a:r>
                        <a:rPr sz="1050" b="1">
                          <a:solidFill>
                            <a:srgbClr val="FFFFFF"/>
                          </a:solidFill>
                          <a:latin typeface="Calibri"/>
                        </a:rPr>
                        <a:t>Type</a:t>
                      </a:r>
                    </a:p>
                  </a:txBody>
                  <a:tcPr marL="82296" marR="64008" marT="27432" marB="27432" anchor="ctr">
                    <a:solidFill>
                      <a:srgbClr val="1B3A5C"/>
                    </a:solidFill>
                  </a:tcPr>
                </a:tc>
                <a:tc>
                  <a:txBody>
                    <a:bodyPr wrap="square"/>
                    <a:lstStyle/>
                    <a:p>
                      <a:pPr algn="ctr"/>
                      <a:r>
                        <a:rPr sz="1050" b="1">
                          <a:solidFill>
                            <a:srgbClr val="FFFFFF"/>
                          </a:solidFill>
                          <a:latin typeface="Calibri"/>
                        </a:rPr>
                        <a:t>Score</a:t>
                      </a:r>
                    </a:p>
                  </a:txBody>
                  <a:tcPr marL="82296" marR="64008" marT="27432" marB="27432" anchor="ctr">
                    <a:solidFill>
                      <a:srgbClr val="1B3A5C"/>
                    </a:solidFill>
                  </a:tcPr>
                </a:tc>
                <a:tc>
                  <a:txBody>
                    <a:bodyPr wrap="square"/>
                    <a:lstStyle/>
                    <a:p>
                      <a:r>
                        <a:rPr sz="1050" b="1">
                          <a:solidFill>
                            <a:srgbClr val="FFFFFF"/>
                          </a:solidFill>
                          <a:latin typeface="Calibri"/>
                        </a:rPr>
                        <a:t>Link confirmed</a:t>
                      </a:r>
                    </a:p>
                  </a:txBody>
                  <a:tcPr marL="82296" marR="64008" marT="27432" marB="27432" anchor="ctr">
                    <a:solidFill>
                      <a:srgbClr val="1B3A5C"/>
                    </a:solidFill>
                  </a:tcPr>
                </a:tc>
                <a:tc>
                  <a:txBody>
                    <a:bodyPr wrap="square"/>
                    <a:lstStyle/>
                    <a:p>
                      <a:pPr algn="ctr"/>
                      <a:r>
                        <a:rPr sz="1050" b="1">
                          <a:solidFill>
                            <a:srgbClr val="FFFFFF"/>
                          </a:solidFill>
                          <a:latin typeface="Calibri"/>
                        </a:rPr>
                        <a:t>Status</a:t>
                      </a:r>
                    </a:p>
                  </a:txBody>
                  <a:tcPr marL="82296" marR="64008" marT="27432" marB="27432" anchor="ctr">
                    <a:solidFill>
                      <a:srgbClr val="1B3A5C"/>
                    </a:solidFill>
                  </a:tcPr>
                </a:tc>
              </a:tr>
              <a:tr h="310896">
                <a:tc>
                  <a:txBody>
                    <a:bodyPr wrap="square"/>
                    <a:lstStyle/>
                    <a:p>
                      <a:r>
                        <a:rPr sz="1050" b="0">
                          <a:solidFill>
                            <a:srgbClr val="1A1D23"/>
                          </a:solidFill>
                          <a:latin typeface="Calibri"/>
                        </a:rPr>
                        <a:t>ICAI CA Connect</a:t>
                      </a:r>
                    </a:p>
                  </a:txBody>
                  <a:tcPr marL="82296" marR="64008" marT="27432" marB="27432" anchor="ctr">
                    <a:solidFill>
                      <a:srgbClr val="FFFFFF"/>
                    </a:solidFill>
                  </a:tcPr>
                </a:tc>
                <a:tc>
                  <a:txBody>
                    <a:bodyPr wrap="square"/>
                    <a:lstStyle/>
                    <a:p>
                      <a:r>
                        <a:rPr sz="1050" b="0">
                          <a:solidFill>
                            <a:srgbClr val="1A1D23"/>
                          </a:solidFill>
                          <a:latin typeface="Calibri"/>
                        </a:rPr>
                        <a:t>Official ICAI listing</a:t>
                      </a:r>
                    </a:p>
                  </a:txBody>
                  <a:tcPr marL="82296" marR="64008" marT="27432" marB="27432" anchor="ctr">
                    <a:solidFill>
                      <a:srgbClr val="FFFFFF"/>
                    </a:solidFill>
                  </a:tcPr>
                </a:tc>
                <a:tc>
                  <a:txBody>
                    <a:bodyPr wrap="square"/>
                    <a:lstStyle/>
                    <a:p>
                      <a:pPr algn="ctr"/>
                      <a:r>
                        <a:rPr sz="1050" b="1">
                          <a:solidFill>
                            <a:srgbClr val="1B7A43"/>
                          </a:solidFill>
                          <a:latin typeface="Calibri"/>
                        </a:rPr>
                        <a:t>96</a:t>
                      </a:r>
                    </a:p>
                  </a:txBody>
                  <a:tcPr marL="82296" marR="64008" marT="27432" marB="27432" anchor="ctr">
                    <a:solidFill>
                      <a:srgbClr val="FFFFFF"/>
                    </a:solidFill>
                  </a:tcPr>
                </a:tc>
                <a:tc>
                  <a:txBody>
                    <a:bodyPr wrap="square"/>
                    <a:lstStyle/>
                    <a:p>
                      <a:r>
                        <a:rPr sz="1050" b="0">
                          <a:solidFill>
                            <a:srgbClr val="1A1D23"/>
                          </a:solidFill>
                          <a:latin typeface="Calibri"/>
                        </a:rPr>
                        <a:t>Yes — includes website field</a:t>
                      </a:r>
                    </a:p>
                  </a:txBody>
                  <a:tcPr marL="82296" marR="64008" marT="27432" marB="27432" anchor="ctr">
                    <a:solidFill>
                      <a:srgbClr val="FFFFFF"/>
                    </a:solidFill>
                  </a:tcPr>
                </a:tc>
                <a:tc>
                  <a:txBody>
                    <a:bodyPr wrap="square"/>
                    <a:lstStyle/>
                    <a:p>
                      <a:pPr algn="ctr"/>
                      <a:r>
                        <a:rPr sz="1050" b="0">
                          <a:solidFill>
                            <a:srgbClr val="1A1D23"/>
                          </a:solidFill>
                          <a:latin typeface="Calibri"/>
                        </a:rPr>
                        <a:t>Ready</a:t>
                      </a:r>
                    </a:p>
                  </a:txBody>
                  <a:tcPr marL="82296" marR="64008" marT="27432" marB="27432" anchor="ctr">
                    <a:solidFill>
                      <a:srgbClr val="FFFFFF"/>
                    </a:solidFill>
                  </a:tcPr>
                </a:tc>
              </a:tr>
              <a:tr h="310896">
                <a:tc>
                  <a:txBody>
                    <a:bodyPr wrap="square"/>
                    <a:lstStyle/>
                    <a:p>
                      <a:r>
                        <a:rPr sz="1050" b="0">
                          <a:solidFill>
                            <a:srgbClr val="1A1D23"/>
                          </a:solidFill>
                          <a:latin typeface="Calibri"/>
                        </a:rPr>
                        <a:t>TaxGuru author panel</a:t>
                      </a:r>
                    </a:p>
                  </a:txBody>
                  <a:tcPr marL="82296" marR="64008" marT="27432" marB="27432" anchor="ctr">
                    <a:solidFill>
                      <a:srgbClr val="ECEFF3"/>
                    </a:solidFill>
                  </a:tcPr>
                </a:tc>
                <a:tc>
                  <a:txBody>
                    <a:bodyPr wrap="square"/>
                    <a:lstStyle/>
                    <a:p>
                      <a:r>
                        <a:rPr sz="1050" b="0">
                          <a:solidFill>
                            <a:srgbClr val="1A1D23"/>
                          </a:solidFill>
                          <a:latin typeface="Calibri"/>
                        </a:rPr>
                        <a:t>Bylined article</a:t>
                      </a:r>
                    </a:p>
                  </a:txBody>
                  <a:tcPr marL="82296" marR="64008" marT="27432" marB="27432" anchor="ctr">
                    <a:solidFill>
                      <a:srgbClr val="ECEFF3"/>
                    </a:solidFill>
                  </a:tcPr>
                </a:tc>
                <a:tc>
                  <a:txBody>
                    <a:bodyPr wrap="square"/>
                    <a:lstStyle/>
                    <a:p>
                      <a:pPr algn="ctr"/>
                      <a:r>
                        <a:rPr sz="1050" b="0">
                          <a:solidFill>
                            <a:srgbClr val="1A1D23"/>
                          </a:solidFill>
                          <a:latin typeface="Calibri"/>
                        </a:rPr>
                        <a:t>82</a:t>
                      </a:r>
                    </a:p>
                  </a:txBody>
                  <a:tcPr marL="82296" marR="64008" marT="27432" marB="27432" anchor="ctr">
                    <a:solidFill>
                      <a:srgbClr val="ECEFF3"/>
                    </a:solidFill>
                  </a:tcPr>
                </a:tc>
                <a:tc>
                  <a:txBody>
                    <a:bodyPr wrap="square"/>
                    <a:lstStyle/>
                    <a:p>
                      <a:r>
                        <a:rPr sz="1050" b="0">
                          <a:solidFill>
                            <a:srgbClr val="1A1D23"/>
                          </a:solidFill>
                          <a:latin typeface="Calibri"/>
                        </a:rPr>
                        <a:t>Yes — author credit</a:t>
                      </a:r>
                    </a:p>
                  </a:txBody>
                  <a:tcPr marL="82296" marR="64008" marT="27432" marB="27432" anchor="ctr">
                    <a:solidFill>
                      <a:srgbClr val="ECEFF3"/>
                    </a:solidFill>
                  </a:tcPr>
                </a:tc>
                <a:tc>
                  <a:txBody>
                    <a:bodyPr wrap="square"/>
                    <a:lstStyle/>
                    <a:p>
                      <a:pPr algn="ctr"/>
                      <a:r>
                        <a:rPr sz="1050" b="0">
                          <a:solidFill>
                            <a:srgbClr val="1A1D23"/>
                          </a:solidFill>
                          <a:latin typeface="Calibri"/>
                        </a:rPr>
                        <a:t>Ready</a:t>
                      </a:r>
                    </a:p>
                  </a:txBody>
                  <a:tcPr marL="82296" marR="64008" marT="27432" marB="27432" anchor="ctr">
                    <a:solidFill>
                      <a:srgbClr val="ECEFF3"/>
                    </a:solidFill>
                  </a:tcPr>
                </a:tc>
              </a:tr>
              <a:tr h="310896">
                <a:tc>
                  <a:txBody>
                    <a:bodyPr wrap="square"/>
                    <a:lstStyle/>
                    <a:p>
                      <a:r>
                        <a:rPr sz="1050" b="0">
                          <a:solidFill>
                            <a:srgbClr val="1A1D23"/>
                          </a:solidFill>
                          <a:latin typeface="Calibri"/>
                        </a:rPr>
                        <a:t>Chamber of Tax Consultants</a:t>
                      </a:r>
                    </a:p>
                  </a:txBody>
                  <a:tcPr marL="82296" marR="64008" marT="27432" marB="27432" anchor="ctr">
                    <a:solidFill>
                      <a:srgbClr val="FFFFFF"/>
                    </a:solidFill>
                  </a:tcPr>
                </a:tc>
                <a:tc>
                  <a:txBody>
                    <a:bodyPr wrap="square"/>
                    <a:lstStyle/>
                    <a:p>
                      <a:r>
                        <a:rPr sz="1050" b="0">
                          <a:solidFill>
                            <a:srgbClr val="1A1D23"/>
                          </a:solidFill>
                          <a:latin typeface="Calibri"/>
                        </a:rPr>
                        <a:t>Professional body</a:t>
                      </a:r>
                    </a:p>
                  </a:txBody>
                  <a:tcPr marL="82296" marR="64008" marT="27432" marB="27432" anchor="ctr">
                    <a:solidFill>
                      <a:srgbClr val="FFFFFF"/>
                    </a:solidFill>
                  </a:tcPr>
                </a:tc>
                <a:tc>
                  <a:txBody>
                    <a:bodyPr wrap="square"/>
                    <a:lstStyle/>
                    <a:p>
                      <a:pPr algn="ctr"/>
                      <a:r>
                        <a:rPr sz="1050" b="0">
                          <a:solidFill>
                            <a:srgbClr val="1A1D23"/>
                          </a:solidFill>
                          <a:latin typeface="Calibri"/>
                        </a:rPr>
                        <a:t>81</a:t>
                      </a:r>
                    </a:p>
                  </a:txBody>
                  <a:tcPr marL="82296" marR="64008" marT="27432" marB="27432" anchor="ctr">
                    <a:solidFill>
                      <a:srgbClr val="FFFFFF"/>
                    </a:solidFill>
                  </a:tcPr>
                </a:tc>
                <a:tc>
                  <a:txBody>
                    <a:bodyPr wrap="square"/>
                    <a:lstStyle/>
                    <a:p>
                      <a:r>
                        <a:rPr sz="1050" b="0">
                          <a:solidFill>
                            <a:srgbClr val="1A1D23"/>
                          </a:solidFill>
                          <a:latin typeface="Calibri"/>
                        </a:rPr>
                        <a:t>No public directory</a:t>
                      </a:r>
                    </a:p>
                  </a:txBody>
                  <a:tcPr marL="82296" marR="64008" marT="27432" marB="27432" anchor="ctr">
                    <a:solidFill>
                      <a:srgbClr val="FFFFFF"/>
                    </a:solidFill>
                  </a:tcPr>
                </a:tc>
                <a:tc>
                  <a:txBody>
                    <a:bodyPr wrap="square"/>
                    <a:lstStyle/>
                    <a:p>
                      <a:pPr algn="ctr"/>
                      <a:r>
                        <a:rPr sz="1050" b="0">
                          <a:solidFill>
                            <a:srgbClr val="1A1D23"/>
                          </a:solidFill>
                          <a:latin typeface="Calibri"/>
                        </a:rPr>
                        <a:t>Review</a:t>
                      </a:r>
                    </a:p>
                  </a:txBody>
                  <a:tcPr marL="82296" marR="64008" marT="27432" marB="27432" anchor="ctr">
                    <a:solidFill>
                      <a:srgbClr val="FFFFFF"/>
                    </a:solidFill>
                  </a:tcPr>
                </a:tc>
              </a:tr>
              <a:tr h="310896">
                <a:tc>
                  <a:txBody>
                    <a:bodyPr wrap="square"/>
                    <a:lstStyle/>
                    <a:p>
                      <a:r>
                        <a:rPr sz="1050" b="0">
                          <a:solidFill>
                            <a:srgbClr val="1A1D23"/>
                          </a:solidFill>
                          <a:latin typeface="Calibri"/>
                        </a:rPr>
                        <a:t>Bombay Chartered Accountants' Society</a:t>
                      </a:r>
                    </a:p>
                  </a:txBody>
                  <a:tcPr marL="82296" marR="64008" marT="27432" marB="27432" anchor="ctr">
                    <a:solidFill>
                      <a:srgbClr val="ECEFF3"/>
                    </a:solidFill>
                  </a:tcPr>
                </a:tc>
                <a:tc>
                  <a:txBody>
                    <a:bodyPr wrap="square"/>
                    <a:lstStyle/>
                    <a:p>
                      <a:r>
                        <a:rPr sz="1050" b="0">
                          <a:solidFill>
                            <a:srgbClr val="1A1D23"/>
                          </a:solidFill>
                          <a:latin typeface="Calibri"/>
                        </a:rPr>
                        <a:t>Professional body</a:t>
                      </a:r>
                    </a:p>
                  </a:txBody>
                  <a:tcPr marL="82296" marR="64008" marT="27432" marB="27432" anchor="ctr">
                    <a:solidFill>
                      <a:srgbClr val="ECEFF3"/>
                    </a:solidFill>
                  </a:tcPr>
                </a:tc>
                <a:tc>
                  <a:txBody>
                    <a:bodyPr wrap="square"/>
                    <a:lstStyle/>
                    <a:p>
                      <a:pPr algn="ctr"/>
                      <a:r>
                        <a:rPr sz="1050" b="0">
                          <a:solidFill>
                            <a:srgbClr val="1A1D23"/>
                          </a:solidFill>
                          <a:latin typeface="Calibri"/>
                        </a:rPr>
                        <a:t>81</a:t>
                      </a:r>
                    </a:p>
                  </a:txBody>
                  <a:tcPr marL="82296" marR="64008" marT="27432" marB="27432" anchor="ctr">
                    <a:solidFill>
                      <a:srgbClr val="ECEFF3"/>
                    </a:solidFill>
                  </a:tcPr>
                </a:tc>
                <a:tc>
                  <a:txBody>
                    <a:bodyPr wrap="square"/>
                    <a:lstStyle/>
                    <a:p>
                      <a:r>
                        <a:rPr sz="1050" b="0">
                          <a:solidFill>
                            <a:srgbClr val="1A1D23"/>
                          </a:solidFill>
                          <a:latin typeface="Calibri"/>
                        </a:rPr>
                        <a:t>Contribution routes only</a:t>
                      </a:r>
                    </a:p>
                  </a:txBody>
                  <a:tcPr marL="82296" marR="64008" marT="27432" marB="27432" anchor="ctr">
                    <a:solidFill>
                      <a:srgbClr val="ECEFF3"/>
                    </a:solidFill>
                  </a:tcPr>
                </a:tc>
                <a:tc>
                  <a:txBody>
                    <a:bodyPr wrap="square"/>
                    <a:lstStyle/>
                    <a:p>
                      <a:pPr algn="ctr"/>
                      <a:r>
                        <a:rPr sz="1050" b="0">
                          <a:solidFill>
                            <a:srgbClr val="1A1D23"/>
                          </a:solidFill>
                          <a:latin typeface="Calibri"/>
                        </a:rPr>
                        <a:t>Review</a:t>
                      </a:r>
                    </a:p>
                  </a:txBody>
                  <a:tcPr marL="82296" marR="64008" marT="27432" marB="27432" anchor="ctr">
                    <a:solidFill>
                      <a:srgbClr val="ECEFF3"/>
                    </a:solidFill>
                  </a:tcPr>
                </a:tc>
              </a:tr>
              <a:tr h="310896">
                <a:tc>
                  <a:txBody>
                    <a:bodyPr wrap="square"/>
                    <a:lstStyle/>
                    <a:p>
                      <a:r>
                        <a:rPr sz="1050" b="0">
                          <a:solidFill>
                            <a:srgbClr val="1A1D23"/>
                          </a:solidFill>
                          <a:latin typeface="Calibri"/>
                        </a:rPr>
                        <a:t>CAclubindia</a:t>
                      </a:r>
                    </a:p>
                  </a:txBody>
                  <a:tcPr marL="82296" marR="64008" marT="27432" marB="27432" anchor="ctr">
                    <a:solidFill>
                      <a:srgbClr val="FFFFFF"/>
                    </a:solidFill>
                  </a:tcPr>
                </a:tc>
                <a:tc>
                  <a:txBody>
                    <a:bodyPr wrap="square"/>
                    <a:lstStyle/>
                    <a:p>
                      <a:r>
                        <a:rPr sz="1050" b="0">
                          <a:solidFill>
                            <a:srgbClr val="1A1D23"/>
                          </a:solidFill>
                          <a:latin typeface="Calibri"/>
                        </a:rPr>
                        <a:t>Profile + articles</a:t>
                      </a:r>
                    </a:p>
                  </a:txBody>
                  <a:tcPr marL="82296" marR="64008" marT="27432" marB="27432" anchor="ctr">
                    <a:solidFill>
                      <a:srgbClr val="FFFFFF"/>
                    </a:solidFill>
                  </a:tcPr>
                </a:tc>
                <a:tc>
                  <a:txBody>
                    <a:bodyPr wrap="square"/>
                    <a:lstStyle/>
                    <a:p>
                      <a:pPr algn="ctr"/>
                      <a:r>
                        <a:rPr sz="1050" b="0">
                          <a:solidFill>
                            <a:srgbClr val="1A1D23"/>
                          </a:solidFill>
                          <a:latin typeface="Calibri"/>
                        </a:rPr>
                        <a:t>77</a:t>
                      </a:r>
                    </a:p>
                  </a:txBody>
                  <a:tcPr marL="82296" marR="64008" marT="27432" marB="27432" anchor="ctr">
                    <a:solidFill>
                      <a:srgbClr val="FFFFFF"/>
                    </a:solidFill>
                  </a:tcPr>
                </a:tc>
                <a:tc>
                  <a:txBody>
                    <a:bodyPr wrap="square"/>
                    <a:lstStyle/>
                    <a:p>
                      <a:r>
                        <a:rPr sz="1050" b="0">
                          <a:solidFill>
                            <a:srgbClr val="1A1D23"/>
                          </a:solidFill>
                          <a:latin typeface="Calibri"/>
                        </a:rPr>
                        <a:t>Needs verification</a:t>
                      </a:r>
                    </a:p>
                  </a:txBody>
                  <a:tcPr marL="82296" marR="64008" marT="27432" marB="27432" anchor="ctr">
                    <a:solidFill>
                      <a:srgbClr val="FFFFFF"/>
                    </a:solidFill>
                  </a:tcPr>
                </a:tc>
                <a:tc>
                  <a:txBody>
                    <a:bodyPr wrap="square"/>
                    <a:lstStyle/>
                    <a:p>
                      <a:pPr algn="ctr"/>
                      <a:r>
                        <a:rPr sz="1050" b="0">
                          <a:solidFill>
                            <a:srgbClr val="1A1D23"/>
                          </a:solidFill>
                          <a:latin typeface="Calibri"/>
                        </a:rPr>
                        <a:t>Review</a:t>
                      </a:r>
                    </a:p>
                  </a:txBody>
                  <a:tcPr marL="82296" marR="64008" marT="27432" marB="27432" anchor="ctr">
                    <a:solidFill>
                      <a:srgbClr val="FFFFFF"/>
                    </a:solidFill>
                  </a:tcPr>
                </a:tc>
              </a:tr>
              <a:tr h="310896">
                <a:tc>
                  <a:txBody>
                    <a:bodyPr wrap="square"/>
                    <a:lstStyle/>
                    <a:p>
                      <a:r>
                        <a:rPr sz="1050" b="0">
                          <a:solidFill>
                            <a:srgbClr val="1A1D23"/>
                          </a:solidFill>
                          <a:latin typeface="Calibri"/>
                        </a:rPr>
                        <a:t>Malad Chamber of Tax Consultants</a:t>
                      </a:r>
                    </a:p>
                  </a:txBody>
                  <a:tcPr marL="82296" marR="64008" marT="27432" marB="27432" anchor="ctr">
                    <a:solidFill>
                      <a:srgbClr val="ECEFF3"/>
                    </a:solidFill>
                  </a:tcPr>
                </a:tc>
                <a:tc>
                  <a:txBody>
                    <a:bodyPr wrap="square"/>
                    <a:lstStyle/>
                    <a:p>
                      <a:r>
                        <a:rPr sz="1050" b="0">
                          <a:solidFill>
                            <a:srgbClr val="1A1D23"/>
                          </a:solidFill>
                          <a:latin typeface="Calibri"/>
                        </a:rPr>
                        <a:t>Local professional body</a:t>
                      </a:r>
                    </a:p>
                  </a:txBody>
                  <a:tcPr marL="82296" marR="64008" marT="27432" marB="27432" anchor="ctr">
                    <a:solidFill>
                      <a:srgbClr val="ECEFF3"/>
                    </a:solidFill>
                  </a:tcPr>
                </a:tc>
                <a:tc>
                  <a:txBody>
                    <a:bodyPr wrap="square"/>
                    <a:lstStyle/>
                    <a:p>
                      <a:pPr algn="ctr"/>
                      <a:r>
                        <a:rPr sz="1050" b="0">
                          <a:solidFill>
                            <a:srgbClr val="1A1D23"/>
                          </a:solidFill>
                          <a:latin typeface="Calibri"/>
                        </a:rPr>
                        <a:t>70</a:t>
                      </a:r>
                    </a:p>
                  </a:txBody>
                  <a:tcPr marL="82296" marR="64008" marT="27432" marB="27432" anchor="ctr">
                    <a:solidFill>
                      <a:srgbClr val="ECEFF3"/>
                    </a:solidFill>
                  </a:tcPr>
                </a:tc>
                <a:tc>
                  <a:txBody>
                    <a:bodyPr wrap="square"/>
                    <a:lstStyle/>
                    <a:p>
                      <a:r>
                        <a:rPr sz="1050" b="0">
                          <a:solidFill>
                            <a:srgbClr val="1A1D23"/>
                          </a:solidFill>
                          <a:latin typeface="Calibri"/>
                        </a:rPr>
                        <a:t>No public directory</a:t>
                      </a:r>
                    </a:p>
                  </a:txBody>
                  <a:tcPr marL="82296" marR="64008" marT="27432" marB="27432" anchor="ctr">
                    <a:solidFill>
                      <a:srgbClr val="ECEFF3"/>
                    </a:solidFill>
                  </a:tcPr>
                </a:tc>
                <a:tc>
                  <a:txBody>
                    <a:bodyPr wrap="square"/>
                    <a:lstStyle/>
                    <a:p>
                      <a:pPr algn="ctr"/>
                      <a:r>
                        <a:rPr sz="1050" b="0">
                          <a:solidFill>
                            <a:srgbClr val="1A1D23"/>
                          </a:solidFill>
                          <a:latin typeface="Calibri"/>
                        </a:rPr>
                        <a:t>Review</a:t>
                      </a:r>
                    </a:p>
                  </a:txBody>
                  <a:tcPr marL="82296" marR="64008" marT="27432" marB="27432" anchor="ctr">
                    <a:solidFill>
                      <a:srgbClr val="ECEFF3"/>
                    </a:solidFill>
                  </a:tcPr>
                </a:tc>
              </a:tr>
            </a:tbl>
          </a:graphicData>
        </a:graphic>
      </p:graphicFrame>
      <p:sp>
        <p:nvSpPr>
          <p:cNvPr id="8" name="Rectangle 7"/>
          <p:cNvSpPr/>
          <p:nvPr/>
        </p:nvSpPr>
        <p:spPr>
          <a:xfrm>
            <a:off x="566928" y="3913632"/>
            <a:ext cx="5632704" cy="1481328"/>
          </a:xfrm>
          <a:prstGeom prst="rect">
            <a:avLst/>
          </a:prstGeom>
          <a:solidFill>
            <a:srgbClr val="FFFFFF"/>
          </a:solidFill>
          <a:ln w="19050">
            <a:solidFill>
              <a:srgbClr val="D269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3913632"/>
            <a:ext cx="63500" cy="1481328"/>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023360"/>
            <a:ext cx="5212080" cy="256032"/>
          </a:xfrm>
          <a:prstGeom prst="rect">
            <a:avLst/>
          </a:prstGeom>
          <a:noFill/>
        </p:spPr>
        <p:txBody>
          <a:bodyPr wrap="square" lIns="0" rIns="0" tIns="0" bIns="0" anchor="t">
            <a:spAutoFit/>
          </a:bodyPr>
          <a:lstStyle/>
          <a:p>
            <a:pPr algn="l">
              <a:lnSpc>
                <a:spcPct val="100000"/>
              </a:lnSpc>
            </a:pPr>
            <a:r>
              <a:rPr sz="1050" b="1" i="0">
                <a:solidFill>
                  <a:srgbClr val="D2691E"/>
                </a:solidFill>
                <a:latin typeface="Calibri"/>
              </a:rPr>
              <a:t>COMPLIANCE ALERT  ·  ICAI Code of Ethics</a:t>
            </a:r>
          </a:p>
        </p:txBody>
      </p:sp>
      <p:sp>
        <p:nvSpPr>
          <p:cNvPr id="11" name="TextBox 10"/>
          <p:cNvSpPr txBox="1"/>
          <p:nvPr/>
        </p:nvSpPr>
        <p:spPr>
          <a:xfrm>
            <a:off x="822960" y="4297680"/>
            <a:ext cx="5212080" cy="100584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ICAI states that listing a CA firm on commercial aggregators is not permissible under its Code of Ethics, and prohibits display of contact address on third-party advisory platforms. The firm's existing Justdial, Sulekha, Shuru and Magicpin listings fall inside this question and should be reviewed with ICAI before any further directory work.</a:t>
            </a:r>
          </a:p>
        </p:txBody>
      </p:sp>
      <p:sp>
        <p:nvSpPr>
          <p:cNvPr id="12" name="TextBox 11"/>
          <p:cNvSpPr txBox="1"/>
          <p:nvPr/>
        </p:nvSpPr>
        <p:spPr>
          <a:xfrm>
            <a:off x="6492240" y="3913632"/>
            <a:ext cx="5138928"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On Domain Rating — an honest note</a:t>
            </a:r>
          </a:p>
        </p:txBody>
      </p:sp>
      <p:sp>
        <p:nvSpPr>
          <p:cNvPr id="13" name="TextBox 12"/>
          <p:cNvSpPr txBox="1"/>
          <p:nvPr/>
        </p:nvSpPr>
        <p:spPr>
          <a:xfrm>
            <a:off x="6492240" y="4242816"/>
            <a:ext cx="5138928" cy="1188720"/>
          </a:xfrm>
          <a:prstGeom prst="rect">
            <a:avLst/>
          </a:prstGeom>
          <a:noFill/>
        </p:spPr>
        <p:txBody>
          <a:bodyPr wrap="square" lIns="0" rIns="0" tIns="0" bIns="0" anchor="t">
            <a:spAutoFit/>
          </a:bodyPr>
          <a:lstStyle/>
          <a:p>
            <a:pPr algn="l">
              <a:lnSpc>
                <a:spcPct val="106000"/>
              </a:lnSpc>
            </a:pPr>
            <a:r>
              <a:rPr sz="1000" b="0" i="0">
                <a:solidFill>
                  <a:srgbClr val="1A1D23"/>
                </a:solidFill>
                <a:latin typeface="Calibri"/>
              </a:rPr>
              <a:t>Domain Rating, Domain Authority and referring-domain counts are third-party metrics from tools such as Ahrefs or Semrush. No such subscription is currently connected to this account, so no DR figure is quoted in this report rather than an invented one. Connecting one tool would let us report verified authority movement from next month.</a:t>
            </a:r>
          </a:p>
        </p:txBody>
      </p:sp>
      <p:sp>
        <p:nvSpPr>
          <p:cNvPr id="14" name="Rectangle 13"/>
          <p:cNvSpPr/>
          <p:nvPr/>
        </p:nvSpPr>
        <p:spPr>
          <a:xfrm>
            <a:off x="566928" y="5559552"/>
            <a:ext cx="11064240" cy="56692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5559552"/>
            <a:ext cx="44450" cy="566928"/>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650992"/>
            <a:ext cx="10753344" cy="420624"/>
          </a:xfrm>
          <a:prstGeom prst="rect">
            <a:avLst/>
          </a:prstGeom>
          <a:noFill/>
        </p:spPr>
        <p:txBody>
          <a:bodyPr wrap="square" lIns="0" rIns="0" tIns="0" bIns="0" anchor="t">
            <a:spAutoFit/>
          </a:bodyPr>
          <a:lstStyle/>
          <a:p>
            <a:pPr algn="l">
              <a:lnSpc>
                <a:spcPct val="105000"/>
              </a:lnSpc>
            </a:pPr>
            <a:r>
              <a:rPr sz="950" b="0" i="0">
                <a:solidFill>
                  <a:srgbClr val="1A1D23"/>
                </a:solidFill>
                <a:latin typeface="Calibri"/>
              </a:rPr>
              <a:t>Also identified: a different firm trading as "Shahnawaz And Associates" in Patna appears in directories — all future brand mentions must be verified against the Mumbai address or firm registration number. The office address itself is still unconfirmed across three sources, which blocks all listing work until resolved.</a:t>
            </a:r>
          </a:p>
        </p:txBody>
      </p:sp>
      <p:sp>
        <p:nvSpPr>
          <p:cNvPr id="17" name="Rectangle 16"/>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437376"/>
            <a:ext cx="731520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a:t>
            </a:r>
          </a:p>
        </p:txBody>
      </p:sp>
      <p:sp>
        <p:nvSpPr>
          <p:cNvPr id="19" name="TextBox 18"/>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SEQUENCED BY IMPACT, NOT BY EFFORT</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700" b="1" i="0">
                <a:solidFill>
                  <a:srgbClr val="1B3A5C"/>
                </a:solidFill>
                <a:latin typeface="Calibri"/>
              </a:rPr>
              <a:t>Next 30 Days: The Plan to Increase Enquiries</a:t>
            </a:r>
          </a:p>
        </p:txBody>
      </p:sp>
      <p:sp>
        <p:nvSpPr>
          <p:cNvPr id="5" name="Rectangle 4"/>
          <p:cNvSpPr/>
          <p:nvPr/>
        </p:nvSpPr>
        <p:spPr>
          <a:xfrm>
            <a:off x="566928" y="1225296"/>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16736"/>
            <a:ext cx="11064240" cy="292608"/>
          </a:xfrm>
          <a:prstGeom prst="rect">
            <a:avLst/>
          </a:prstGeom>
          <a:noFill/>
        </p:spPr>
        <p:txBody>
          <a:bodyPr wrap="square" lIns="0" rIns="0" tIns="0" bIns="0" anchor="t">
            <a:spAutoFit/>
          </a:bodyPr>
          <a:lstStyle/>
          <a:p>
            <a:pPr algn="l">
              <a:lnSpc>
                <a:spcPct val="100000"/>
              </a:lnSpc>
            </a:pPr>
            <a:r>
              <a:rPr sz="1200" b="0" i="0">
                <a:solidFill>
                  <a:srgbClr val="1A1D23"/>
                </a:solidFill>
                <a:latin typeface="Calibri"/>
              </a:rPr>
              <a:t>The strategy is deliberately narrow: stop losing leads, start measuring them properly, then convert the visibility the site already has.</a:t>
            </a:r>
          </a:p>
        </p:txBody>
      </p:sp>
      <p:sp>
        <p:nvSpPr>
          <p:cNvPr id="7" name="Rectangle 6"/>
          <p:cNvSpPr/>
          <p:nvPr/>
        </p:nvSpPr>
        <p:spPr>
          <a:xfrm>
            <a:off x="566928" y="1719072"/>
            <a:ext cx="2688336" cy="2907792"/>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19072"/>
            <a:ext cx="2688336" cy="56692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01368"/>
            <a:ext cx="2377440" cy="219456"/>
          </a:xfrm>
          <a:prstGeom prst="rect">
            <a:avLst/>
          </a:prstGeom>
          <a:noFill/>
        </p:spPr>
        <p:txBody>
          <a:bodyPr wrap="square" lIns="0" rIns="0" tIns="0" bIns="0" anchor="t">
            <a:spAutoFit/>
          </a:bodyPr>
          <a:lstStyle/>
          <a:p>
            <a:pPr algn="l">
              <a:lnSpc>
                <a:spcPct val="100000"/>
              </a:lnSpc>
            </a:pPr>
            <a:r>
              <a:rPr sz="950" b="1" i="0">
                <a:solidFill>
                  <a:srgbClr val="FFFFFF"/>
                </a:solidFill>
                <a:latin typeface="Calibri"/>
              </a:rPr>
              <a:t>WEEK 1</a:t>
            </a:r>
          </a:p>
        </p:txBody>
      </p:sp>
      <p:sp>
        <p:nvSpPr>
          <p:cNvPr id="10" name="TextBox 9"/>
          <p:cNvSpPr txBox="1"/>
          <p:nvPr/>
        </p:nvSpPr>
        <p:spPr>
          <a:xfrm>
            <a:off x="731520" y="2002536"/>
            <a:ext cx="2377440" cy="237744"/>
          </a:xfrm>
          <a:prstGeom prst="rect">
            <a:avLst/>
          </a:prstGeom>
          <a:noFill/>
        </p:spPr>
        <p:txBody>
          <a:bodyPr wrap="square" lIns="0" rIns="0" tIns="0" bIns="0" anchor="t">
            <a:spAutoFit/>
          </a:bodyPr>
          <a:lstStyle/>
          <a:p>
            <a:pPr algn="l">
              <a:lnSpc>
                <a:spcPct val="100000"/>
              </a:lnSpc>
            </a:pPr>
            <a:r>
              <a:rPr sz="1200" b="1" i="0">
                <a:solidFill>
                  <a:srgbClr val="FFFFFF"/>
                </a:solidFill>
                <a:latin typeface="Calibri"/>
              </a:rPr>
              <a:t>Stop the leakage</a:t>
            </a:r>
          </a:p>
        </p:txBody>
      </p:sp>
      <p:sp>
        <p:nvSpPr>
          <p:cNvPr id="11" name="Oval 10"/>
          <p:cNvSpPr/>
          <p:nvPr/>
        </p:nvSpPr>
        <p:spPr>
          <a:xfrm>
            <a:off x="731520" y="2432304"/>
            <a:ext cx="50800" cy="508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77440"/>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Remove the anamca.com redirect and reclaim the four affected URLs</a:t>
            </a:r>
          </a:p>
        </p:txBody>
      </p:sp>
      <p:sp>
        <p:nvSpPr>
          <p:cNvPr id="13" name="Oval 12"/>
          <p:cNvSpPr/>
          <p:nvPr/>
        </p:nvSpPr>
        <p:spPr>
          <a:xfrm>
            <a:off x="731520" y="3145536"/>
            <a:ext cx="50800" cy="508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090672"/>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Fix the GTM WhatsApp trigger; add real form-submission tracking</a:t>
            </a:r>
          </a:p>
        </p:txBody>
      </p:sp>
      <p:sp>
        <p:nvSpPr>
          <p:cNvPr id="15" name="Oval 14"/>
          <p:cNvSpPr/>
          <p:nvPr/>
        </p:nvSpPr>
        <p:spPr>
          <a:xfrm>
            <a:off x="731520" y="3858768"/>
            <a:ext cx="50800" cy="508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803904"/>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Confirm the official office address (unblocks all local work)</a:t>
            </a:r>
          </a:p>
        </p:txBody>
      </p:sp>
      <p:sp>
        <p:nvSpPr>
          <p:cNvPr id="17" name="Rectangle 16"/>
          <p:cNvSpPr/>
          <p:nvPr/>
        </p:nvSpPr>
        <p:spPr>
          <a:xfrm>
            <a:off x="3364992" y="1719072"/>
            <a:ext cx="2688336" cy="2907792"/>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64992" y="1719072"/>
            <a:ext cx="2688336" cy="566928"/>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1801368"/>
            <a:ext cx="2377440" cy="219456"/>
          </a:xfrm>
          <a:prstGeom prst="rect">
            <a:avLst/>
          </a:prstGeom>
          <a:noFill/>
        </p:spPr>
        <p:txBody>
          <a:bodyPr wrap="square" lIns="0" rIns="0" tIns="0" bIns="0" anchor="t">
            <a:spAutoFit/>
          </a:bodyPr>
          <a:lstStyle/>
          <a:p>
            <a:pPr algn="l">
              <a:lnSpc>
                <a:spcPct val="100000"/>
              </a:lnSpc>
            </a:pPr>
            <a:r>
              <a:rPr sz="950" b="1" i="0">
                <a:solidFill>
                  <a:srgbClr val="FFFFFF"/>
                </a:solidFill>
                <a:latin typeface="Calibri"/>
              </a:rPr>
              <a:t>WEEK 2</a:t>
            </a:r>
          </a:p>
        </p:txBody>
      </p:sp>
      <p:sp>
        <p:nvSpPr>
          <p:cNvPr id="20" name="TextBox 19"/>
          <p:cNvSpPr txBox="1"/>
          <p:nvPr/>
        </p:nvSpPr>
        <p:spPr>
          <a:xfrm>
            <a:off x="3529584" y="2002536"/>
            <a:ext cx="2377440" cy="237744"/>
          </a:xfrm>
          <a:prstGeom prst="rect">
            <a:avLst/>
          </a:prstGeom>
          <a:noFill/>
        </p:spPr>
        <p:txBody>
          <a:bodyPr wrap="square" lIns="0" rIns="0" tIns="0" bIns="0" anchor="t">
            <a:spAutoFit/>
          </a:bodyPr>
          <a:lstStyle/>
          <a:p>
            <a:pPr algn="l">
              <a:lnSpc>
                <a:spcPct val="100000"/>
              </a:lnSpc>
            </a:pPr>
            <a:r>
              <a:rPr sz="1200" b="1" i="0">
                <a:solidFill>
                  <a:srgbClr val="FFFFFF"/>
                </a:solidFill>
                <a:latin typeface="Calibri"/>
              </a:rPr>
              <a:t>Restore trust &amp; accuracy</a:t>
            </a:r>
          </a:p>
        </p:txBody>
      </p:sp>
      <p:sp>
        <p:nvSpPr>
          <p:cNvPr id="21" name="Oval 20"/>
          <p:cNvSpPr/>
          <p:nvPr/>
        </p:nvSpPr>
        <p:spPr>
          <a:xfrm>
            <a:off x="3529584" y="2432304"/>
            <a:ext cx="50800" cy="50800"/>
          </a:xfrm>
          <a:prstGeom prst="ellipse">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94176" y="2377440"/>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Correct the six outdated tax-content pages flagged critical</a:t>
            </a:r>
          </a:p>
        </p:txBody>
      </p:sp>
      <p:sp>
        <p:nvSpPr>
          <p:cNvPr id="23" name="Oval 22"/>
          <p:cNvSpPr/>
          <p:nvPr/>
        </p:nvSpPr>
        <p:spPr>
          <a:xfrm>
            <a:off x="3529584" y="3145536"/>
            <a:ext cx="50800" cy="50800"/>
          </a:xfrm>
          <a:prstGeom prst="ellipse">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94176" y="3090672"/>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Fix the FAQ naming another company on Accounting Services</a:t>
            </a:r>
          </a:p>
        </p:txBody>
      </p:sp>
      <p:sp>
        <p:nvSpPr>
          <p:cNvPr id="25" name="Oval 24"/>
          <p:cNvSpPr/>
          <p:nvPr/>
        </p:nvSpPr>
        <p:spPr>
          <a:xfrm>
            <a:off x="3529584" y="3858768"/>
            <a:ext cx="50800" cy="50800"/>
          </a:xfrm>
          <a:prstGeom prst="ellipse">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94176" y="3803904"/>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Add named CA credentials and ICAI membership to About Us</a:t>
            </a:r>
          </a:p>
        </p:txBody>
      </p:sp>
      <p:sp>
        <p:nvSpPr>
          <p:cNvPr id="27" name="Rectangle 26"/>
          <p:cNvSpPr/>
          <p:nvPr/>
        </p:nvSpPr>
        <p:spPr>
          <a:xfrm>
            <a:off x="6163056" y="1719072"/>
            <a:ext cx="2688336" cy="2907792"/>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63056" y="1719072"/>
            <a:ext cx="2688336" cy="566928"/>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8" y="1801368"/>
            <a:ext cx="2377440" cy="219456"/>
          </a:xfrm>
          <a:prstGeom prst="rect">
            <a:avLst/>
          </a:prstGeom>
          <a:noFill/>
        </p:spPr>
        <p:txBody>
          <a:bodyPr wrap="square" lIns="0" rIns="0" tIns="0" bIns="0" anchor="t">
            <a:spAutoFit/>
          </a:bodyPr>
          <a:lstStyle/>
          <a:p>
            <a:pPr algn="l">
              <a:lnSpc>
                <a:spcPct val="100000"/>
              </a:lnSpc>
            </a:pPr>
            <a:r>
              <a:rPr sz="950" b="1" i="0">
                <a:solidFill>
                  <a:srgbClr val="FFFFFF"/>
                </a:solidFill>
                <a:latin typeface="Calibri"/>
              </a:rPr>
              <a:t>WEEK 3</a:t>
            </a:r>
          </a:p>
        </p:txBody>
      </p:sp>
      <p:sp>
        <p:nvSpPr>
          <p:cNvPr id="30" name="TextBox 29"/>
          <p:cNvSpPr txBox="1"/>
          <p:nvPr/>
        </p:nvSpPr>
        <p:spPr>
          <a:xfrm>
            <a:off x="6327648" y="2002536"/>
            <a:ext cx="2377440" cy="237744"/>
          </a:xfrm>
          <a:prstGeom prst="rect">
            <a:avLst/>
          </a:prstGeom>
          <a:noFill/>
        </p:spPr>
        <p:txBody>
          <a:bodyPr wrap="square" lIns="0" rIns="0" tIns="0" bIns="0" anchor="t">
            <a:spAutoFit/>
          </a:bodyPr>
          <a:lstStyle/>
          <a:p>
            <a:pPr algn="l">
              <a:lnSpc>
                <a:spcPct val="100000"/>
              </a:lnSpc>
            </a:pPr>
            <a:r>
              <a:rPr sz="1200" b="1" i="0">
                <a:solidFill>
                  <a:srgbClr val="FFFFFF"/>
                </a:solidFill>
                <a:latin typeface="Calibri"/>
              </a:rPr>
              <a:t>Convert existing visibility</a:t>
            </a:r>
          </a:p>
        </p:txBody>
      </p:sp>
      <p:sp>
        <p:nvSpPr>
          <p:cNvPr id="31" name="Oval 30"/>
          <p:cNvSpPr/>
          <p:nvPr/>
        </p:nvSpPr>
        <p:spPr>
          <a:xfrm>
            <a:off x="6327648" y="2432304"/>
            <a:ext cx="50800" cy="508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2377440"/>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Rewrite titles and meta for the eight high-impression, low-CTR pages</a:t>
            </a:r>
          </a:p>
        </p:txBody>
      </p:sp>
      <p:sp>
        <p:nvSpPr>
          <p:cNvPr id="33" name="Oval 32"/>
          <p:cNvSpPr/>
          <p:nvPr/>
        </p:nvSpPr>
        <p:spPr>
          <a:xfrm>
            <a:off x="6327648" y="3145536"/>
            <a:ext cx="50800" cy="508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3090672"/>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Populate the empty homepage testimonials; add proof to NRI and Audit</a:t>
            </a:r>
          </a:p>
        </p:txBody>
      </p:sp>
      <p:sp>
        <p:nvSpPr>
          <p:cNvPr id="35" name="Oval 34"/>
          <p:cNvSpPr/>
          <p:nvPr/>
        </p:nvSpPr>
        <p:spPr>
          <a:xfrm>
            <a:off x="6327648" y="3858768"/>
            <a:ext cx="50800" cy="508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3803904"/>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Improve homepage mobile LCP from 6.45s toward the 2.5s target</a:t>
            </a:r>
          </a:p>
        </p:txBody>
      </p:sp>
      <p:sp>
        <p:nvSpPr>
          <p:cNvPr id="37" name="Rectangle 36"/>
          <p:cNvSpPr/>
          <p:nvPr/>
        </p:nvSpPr>
        <p:spPr>
          <a:xfrm>
            <a:off x="8961120" y="1719072"/>
            <a:ext cx="2688336" cy="2907792"/>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961120" y="1719072"/>
            <a:ext cx="2688336" cy="566928"/>
          </a:xfrm>
          <a:prstGeom prst="rect">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25712" y="1801368"/>
            <a:ext cx="2377440" cy="219456"/>
          </a:xfrm>
          <a:prstGeom prst="rect">
            <a:avLst/>
          </a:prstGeom>
          <a:noFill/>
        </p:spPr>
        <p:txBody>
          <a:bodyPr wrap="square" lIns="0" rIns="0" tIns="0" bIns="0" anchor="t">
            <a:spAutoFit/>
          </a:bodyPr>
          <a:lstStyle/>
          <a:p>
            <a:pPr algn="l">
              <a:lnSpc>
                <a:spcPct val="100000"/>
              </a:lnSpc>
            </a:pPr>
            <a:r>
              <a:rPr sz="950" b="1" i="0">
                <a:solidFill>
                  <a:srgbClr val="FFFFFF"/>
                </a:solidFill>
                <a:latin typeface="Calibri"/>
              </a:rPr>
              <a:t>WEEK 4</a:t>
            </a:r>
          </a:p>
        </p:txBody>
      </p:sp>
      <p:sp>
        <p:nvSpPr>
          <p:cNvPr id="40" name="TextBox 39"/>
          <p:cNvSpPr txBox="1"/>
          <p:nvPr/>
        </p:nvSpPr>
        <p:spPr>
          <a:xfrm>
            <a:off x="9125712" y="2002536"/>
            <a:ext cx="2377440" cy="237744"/>
          </a:xfrm>
          <a:prstGeom prst="rect">
            <a:avLst/>
          </a:prstGeom>
          <a:noFill/>
        </p:spPr>
        <p:txBody>
          <a:bodyPr wrap="square" lIns="0" rIns="0" tIns="0" bIns="0" anchor="t">
            <a:spAutoFit/>
          </a:bodyPr>
          <a:lstStyle/>
          <a:p>
            <a:pPr algn="l">
              <a:lnSpc>
                <a:spcPct val="100000"/>
              </a:lnSpc>
            </a:pPr>
            <a:r>
              <a:rPr sz="1200" b="1" i="0">
                <a:solidFill>
                  <a:srgbClr val="FFFFFF"/>
                </a:solidFill>
                <a:latin typeface="Calibri"/>
              </a:rPr>
              <a:t>Build authority &amp; measure</a:t>
            </a:r>
          </a:p>
        </p:txBody>
      </p:sp>
      <p:sp>
        <p:nvSpPr>
          <p:cNvPr id="41" name="Oval 40"/>
          <p:cNvSpPr/>
          <p:nvPr/>
        </p:nvSpPr>
        <p:spPr>
          <a:xfrm>
            <a:off x="9125712" y="2432304"/>
            <a:ext cx="50800" cy="50800"/>
          </a:xfrm>
          <a:prstGeom prst="ellipse">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90304" y="2377440"/>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Submit the ICAI CA Connect listing once the address is confirmed</a:t>
            </a:r>
          </a:p>
        </p:txBody>
      </p:sp>
      <p:sp>
        <p:nvSpPr>
          <p:cNvPr id="43" name="Oval 42"/>
          <p:cNvSpPr/>
          <p:nvPr/>
        </p:nvSpPr>
        <p:spPr>
          <a:xfrm>
            <a:off x="9125712" y="3145536"/>
            <a:ext cx="50800" cy="50800"/>
          </a:xfrm>
          <a:prstGeom prst="ellipse">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90304" y="3090672"/>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Publish the first TaxGuru bylined article</a:t>
            </a:r>
          </a:p>
        </p:txBody>
      </p:sp>
      <p:sp>
        <p:nvSpPr>
          <p:cNvPr id="45" name="Oval 44"/>
          <p:cNvSpPr/>
          <p:nvPr/>
        </p:nvSpPr>
        <p:spPr>
          <a:xfrm>
            <a:off x="9125712" y="3858768"/>
            <a:ext cx="50800" cy="50800"/>
          </a:xfrm>
          <a:prstGeom prst="ellipse">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90304" y="3803904"/>
            <a:ext cx="2212848" cy="658368"/>
          </a:xfrm>
          <a:prstGeom prst="rect">
            <a:avLst/>
          </a:prstGeom>
          <a:noFill/>
        </p:spPr>
        <p:txBody>
          <a:bodyPr wrap="square" lIns="0" rIns="0" tIns="0" bIns="0" anchor="t">
            <a:spAutoFit/>
          </a:bodyPr>
          <a:lstStyle/>
          <a:p>
            <a:pPr algn="l">
              <a:lnSpc>
                <a:spcPct val="102000"/>
              </a:lnSpc>
            </a:pPr>
            <a:r>
              <a:rPr sz="950" b="0" i="0">
                <a:solidFill>
                  <a:srgbClr val="1A1D23"/>
                </a:solidFill>
                <a:latin typeface="Calibri"/>
              </a:rPr>
              <a:t>Measure against this month's baseline and report</a:t>
            </a:r>
          </a:p>
        </p:txBody>
      </p:sp>
      <p:sp>
        <p:nvSpPr>
          <p:cNvPr id="47" name="TextBox 46"/>
          <p:cNvSpPr txBox="1"/>
          <p:nvPr/>
        </p:nvSpPr>
        <p:spPr>
          <a:xfrm>
            <a:off x="566928" y="4700016"/>
            <a:ext cx="11064240"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How we will judge success next month</a:t>
            </a:r>
          </a:p>
        </p:txBody>
      </p:sp>
      <p:graphicFrame>
        <p:nvGraphicFramePr>
          <p:cNvPr id="48" name="Table 47"/>
          <p:cNvGraphicFramePr>
            <a:graphicFrameLocks noGrp="1"/>
          </p:cNvGraphicFramePr>
          <p:nvPr/>
        </p:nvGraphicFramePr>
        <p:xfrm>
          <a:off x="566928" y="5010912"/>
          <a:ext cx="11064240" cy="1243584"/>
        </p:xfrm>
        <a:graphic>
          <a:graphicData uri="http://schemas.openxmlformats.org/drawingml/2006/table">
            <a:tbl>
              <a:tblPr firstRow="1" bandRow="1">
                <a:tableStyleId>{5C22544A-7EE6-4342-B048-85BDC9FD1C3A}</a:tableStyleId>
              </a:tblPr>
              <a:tblGrid>
                <a:gridCol w="2834640"/>
                <a:gridCol w="2048256"/>
                <a:gridCol w="2157984"/>
                <a:gridCol w="4023360"/>
              </a:tblGrid>
              <a:tr h="292608">
                <a:tc>
                  <a:txBody>
                    <a:bodyPr wrap="square"/>
                    <a:lstStyle/>
                    <a:p>
                      <a:r>
                        <a:rPr sz="1000" b="1">
                          <a:solidFill>
                            <a:srgbClr val="FFFFFF"/>
                          </a:solidFill>
                          <a:latin typeface="Calibri"/>
                        </a:rPr>
                        <a:t>Measure</a:t>
                      </a:r>
                    </a:p>
                  </a:txBody>
                  <a:tcPr marL="82296" marR="64008" marT="27432" marB="27432" anchor="ctr">
                    <a:solidFill>
                      <a:srgbClr val="1B3A5C"/>
                    </a:solidFill>
                  </a:tcPr>
                </a:tc>
                <a:tc>
                  <a:txBody>
                    <a:bodyPr wrap="square"/>
                    <a:lstStyle/>
                    <a:p>
                      <a:r>
                        <a:rPr sz="1000" b="1">
                          <a:solidFill>
                            <a:srgbClr val="FFFFFF"/>
                          </a:solidFill>
                          <a:latin typeface="Calibri"/>
                        </a:rPr>
                        <a:t>Baseline now</a:t>
                      </a:r>
                    </a:p>
                  </a:txBody>
                  <a:tcPr marL="82296" marR="64008" marT="27432" marB="27432" anchor="ctr">
                    <a:solidFill>
                      <a:srgbClr val="1B3A5C"/>
                    </a:solidFill>
                  </a:tcPr>
                </a:tc>
                <a:tc>
                  <a:txBody>
                    <a:bodyPr wrap="square"/>
                    <a:lstStyle/>
                    <a:p>
                      <a:r>
                        <a:rPr sz="1000" b="1">
                          <a:solidFill>
                            <a:srgbClr val="FFFFFF"/>
                          </a:solidFill>
                          <a:latin typeface="Calibri"/>
                        </a:rPr>
                        <a:t>30-day goal</a:t>
                      </a:r>
                    </a:p>
                  </a:txBody>
                  <a:tcPr marL="82296" marR="64008" marT="27432" marB="27432" anchor="ctr">
                    <a:solidFill>
                      <a:srgbClr val="1B3A5C"/>
                    </a:solidFill>
                  </a:tcPr>
                </a:tc>
                <a:tc>
                  <a:txBody>
                    <a:bodyPr wrap="square"/>
                    <a:lstStyle/>
                    <a:p>
                      <a:r>
                        <a:rPr sz="1000" b="1">
                          <a:solidFill>
                            <a:srgbClr val="FFFFFF"/>
                          </a:solidFill>
                          <a:latin typeface="Calibri"/>
                        </a:rPr>
                        <a:t>Why it matters</a:t>
                      </a:r>
                    </a:p>
                  </a:txBody>
                  <a:tcPr marL="82296" marR="64008" marT="27432" marB="27432" anchor="ctr">
                    <a:solidFill>
                      <a:srgbClr val="1B3A5C"/>
                    </a:solidFill>
                  </a:tcPr>
                </a:tc>
              </a:tr>
              <a:tr h="237744">
                <a:tc>
                  <a:txBody>
                    <a:bodyPr wrap="square"/>
                    <a:lstStyle/>
                    <a:p>
                      <a:r>
                        <a:rPr sz="1000" b="0">
                          <a:solidFill>
                            <a:srgbClr val="1A1D23"/>
                          </a:solidFill>
                          <a:latin typeface="Calibri"/>
                        </a:rPr>
                        <a:t>Trackable enquiries</a:t>
                      </a:r>
                    </a:p>
                  </a:txBody>
                  <a:tcPr marL="82296" marR="64008" marT="27432" marB="27432" anchor="ctr">
                    <a:solidFill>
                      <a:srgbClr val="FFFFFF"/>
                    </a:solidFill>
                  </a:tcPr>
                </a:tc>
                <a:tc>
                  <a:txBody>
                    <a:bodyPr wrap="square"/>
                    <a:lstStyle/>
                    <a:p>
                      <a:r>
                        <a:rPr sz="1000" b="0">
                          <a:solidFill>
                            <a:srgbClr val="1A1D23"/>
                          </a:solidFill>
                          <a:latin typeface="Calibri"/>
                        </a:rPr>
                        <a:t>Not measurable</a:t>
                      </a:r>
                    </a:p>
                  </a:txBody>
                  <a:tcPr marL="82296" marR="64008" marT="27432" marB="27432" anchor="ctr">
                    <a:solidFill>
                      <a:srgbClr val="FFFFFF"/>
                    </a:solidFill>
                  </a:tcPr>
                </a:tc>
                <a:tc>
                  <a:txBody>
                    <a:bodyPr wrap="square"/>
                    <a:lstStyle/>
                    <a:p>
                      <a:r>
                        <a:rPr sz="1000" b="0">
                          <a:solidFill>
                            <a:srgbClr val="1A1D23"/>
                          </a:solidFill>
                          <a:latin typeface="Calibri"/>
                        </a:rPr>
                        <a:t>Accurate count established</a:t>
                      </a:r>
                    </a:p>
                  </a:txBody>
                  <a:tcPr marL="82296" marR="64008" marT="27432" marB="27432" anchor="ctr">
                    <a:solidFill>
                      <a:srgbClr val="FFFFFF"/>
                    </a:solidFill>
                  </a:tcPr>
                </a:tc>
                <a:tc>
                  <a:txBody>
                    <a:bodyPr wrap="square"/>
                    <a:lstStyle/>
                    <a:p>
                      <a:r>
                        <a:rPr sz="1000" b="0">
                          <a:solidFill>
                            <a:srgbClr val="1A1D23"/>
                          </a:solidFill>
                          <a:latin typeface="Calibri"/>
                        </a:rPr>
                        <a:t>Cannot improve what is not measured</a:t>
                      </a:r>
                    </a:p>
                  </a:txBody>
                  <a:tcPr marL="82296" marR="64008" marT="27432" marB="27432" anchor="ctr">
                    <a:solidFill>
                      <a:srgbClr val="FFFFFF"/>
                    </a:solidFill>
                  </a:tcPr>
                </a:tc>
              </a:tr>
              <a:tr h="237744">
                <a:tc>
                  <a:txBody>
                    <a:bodyPr wrap="square"/>
                    <a:lstStyle/>
                    <a:p>
                      <a:r>
                        <a:rPr sz="1000" b="0">
                          <a:solidFill>
                            <a:srgbClr val="1A1D23"/>
                          </a:solidFill>
                          <a:latin typeface="Calibri"/>
                        </a:rPr>
                        <a:t>CTR on the eight target pages</a:t>
                      </a:r>
                    </a:p>
                  </a:txBody>
                  <a:tcPr marL="82296" marR="64008" marT="27432" marB="27432" anchor="ctr">
                    <a:solidFill>
                      <a:srgbClr val="ECEFF3"/>
                    </a:solidFill>
                  </a:tcPr>
                </a:tc>
                <a:tc>
                  <a:txBody>
                    <a:bodyPr wrap="square"/>
                    <a:lstStyle/>
                    <a:p>
                      <a:r>
                        <a:rPr sz="1000" b="0">
                          <a:solidFill>
                            <a:srgbClr val="1A1D23"/>
                          </a:solidFill>
                          <a:latin typeface="Calibri"/>
                        </a:rPr>
                        <a:t>0.93% sitewide</a:t>
                      </a:r>
                    </a:p>
                  </a:txBody>
                  <a:tcPr marL="82296" marR="64008" marT="27432" marB="27432" anchor="ctr">
                    <a:solidFill>
                      <a:srgbClr val="ECEFF3"/>
                    </a:solidFill>
                  </a:tcPr>
                </a:tc>
                <a:tc>
                  <a:txBody>
                    <a:bodyPr wrap="square"/>
                    <a:lstStyle/>
                    <a:p>
                      <a:r>
                        <a:rPr sz="1000" b="0">
                          <a:solidFill>
                            <a:srgbClr val="1A1D23"/>
                          </a:solidFill>
                          <a:latin typeface="Calibri"/>
                        </a:rPr>
                        <a:t>Measurable lift</a:t>
                      </a:r>
                    </a:p>
                  </a:txBody>
                  <a:tcPr marL="82296" marR="64008" marT="27432" marB="27432" anchor="ctr">
                    <a:solidFill>
                      <a:srgbClr val="ECEFF3"/>
                    </a:solidFill>
                  </a:tcPr>
                </a:tc>
                <a:tc>
                  <a:txBody>
                    <a:bodyPr wrap="square"/>
                    <a:lstStyle/>
                    <a:p>
                      <a:r>
                        <a:rPr sz="1000" b="0">
                          <a:solidFill>
                            <a:srgbClr val="1A1D23"/>
                          </a:solidFill>
                          <a:latin typeface="Calibri"/>
                        </a:rPr>
                        <a:t>Same rankings, more clicks</a:t>
                      </a:r>
                    </a:p>
                  </a:txBody>
                  <a:tcPr marL="82296" marR="64008" marT="27432" marB="27432" anchor="ctr">
                    <a:solidFill>
                      <a:srgbClr val="ECEFF3"/>
                    </a:solidFill>
                  </a:tcPr>
                </a:tc>
              </a:tr>
              <a:tr h="237744">
                <a:tc>
                  <a:txBody>
                    <a:bodyPr wrap="square"/>
                    <a:lstStyle/>
                    <a:p>
                      <a:r>
                        <a:rPr sz="1000" b="0">
                          <a:solidFill>
                            <a:srgbClr val="1A1D23"/>
                          </a:solidFill>
                          <a:latin typeface="Calibri"/>
                        </a:rPr>
                        <a:t>Critical findings closed</a:t>
                      </a:r>
                    </a:p>
                  </a:txBody>
                  <a:tcPr marL="82296" marR="64008" marT="27432" marB="27432" anchor="ctr">
                    <a:solidFill>
                      <a:srgbClr val="FFFFFF"/>
                    </a:solidFill>
                  </a:tcPr>
                </a:tc>
                <a:tc>
                  <a:txBody>
                    <a:bodyPr wrap="square"/>
                    <a:lstStyle/>
                    <a:p>
                      <a:r>
                        <a:rPr sz="1000" b="0">
                          <a:solidFill>
                            <a:srgbClr val="1A1D23"/>
                          </a:solidFill>
                          <a:latin typeface="Calibri"/>
                        </a:rPr>
                        <a:t>0 of 8</a:t>
                      </a:r>
                    </a:p>
                  </a:txBody>
                  <a:tcPr marL="82296" marR="64008" marT="27432" marB="27432" anchor="ctr">
                    <a:solidFill>
                      <a:srgbClr val="FFFFFF"/>
                    </a:solidFill>
                  </a:tcPr>
                </a:tc>
                <a:tc>
                  <a:txBody>
                    <a:bodyPr wrap="square"/>
                    <a:lstStyle/>
                    <a:p>
                      <a:r>
                        <a:rPr sz="1000" b="0">
                          <a:solidFill>
                            <a:srgbClr val="1A1D23"/>
                          </a:solidFill>
                          <a:latin typeface="Calibri"/>
                        </a:rPr>
                        <a:t>8 of 8</a:t>
                      </a:r>
                    </a:p>
                  </a:txBody>
                  <a:tcPr marL="82296" marR="64008" marT="27432" marB="27432" anchor="ctr">
                    <a:solidFill>
                      <a:srgbClr val="FFFFFF"/>
                    </a:solidFill>
                  </a:tcPr>
                </a:tc>
                <a:tc>
                  <a:txBody>
                    <a:bodyPr wrap="square"/>
                    <a:lstStyle/>
                    <a:p>
                      <a:r>
                        <a:rPr sz="1000" b="0">
                          <a:solidFill>
                            <a:srgbClr val="1A1D23"/>
                          </a:solidFill>
                          <a:latin typeface="Calibri"/>
                        </a:rPr>
                        <a:t>Removes client-trust and lead risk</a:t>
                      </a:r>
                    </a:p>
                  </a:txBody>
                  <a:tcPr marL="82296" marR="64008" marT="27432" marB="27432" anchor="ctr">
                    <a:solidFill>
                      <a:srgbClr val="FFFFFF"/>
                    </a:solidFill>
                  </a:tcPr>
                </a:tc>
              </a:tr>
              <a:tr h="237744">
                <a:tc>
                  <a:txBody>
                    <a:bodyPr wrap="square"/>
                    <a:lstStyle/>
                    <a:p>
                      <a:r>
                        <a:rPr sz="1000" b="0">
                          <a:solidFill>
                            <a:srgbClr val="1A1D23"/>
                          </a:solidFill>
                          <a:latin typeface="Calibri"/>
                        </a:rPr>
                        <a:t>Homepage mobile LCP</a:t>
                      </a:r>
                    </a:p>
                  </a:txBody>
                  <a:tcPr marL="82296" marR="64008" marT="27432" marB="27432" anchor="ctr">
                    <a:solidFill>
                      <a:srgbClr val="ECEFF3"/>
                    </a:solidFill>
                  </a:tcPr>
                </a:tc>
                <a:tc>
                  <a:txBody>
                    <a:bodyPr wrap="square"/>
                    <a:lstStyle/>
                    <a:p>
                      <a:r>
                        <a:rPr sz="1000" b="0">
                          <a:solidFill>
                            <a:srgbClr val="1A1D23"/>
                          </a:solidFill>
                          <a:latin typeface="Calibri"/>
                        </a:rPr>
                        <a:t>6.45s</a:t>
                      </a:r>
                    </a:p>
                  </a:txBody>
                  <a:tcPr marL="82296" marR="64008" marT="27432" marB="27432" anchor="ctr">
                    <a:solidFill>
                      <a:srgbClr val="ECEFF3"/>
                    </a:solidFill>
                  </a:tcPr>
                </a:tc>
                <a:tc>
                  <a:txBody>
                    <a:bodyPr wrap="square"/>
                    <a:lstStyle/>
                    <a:p>
                      <a:r>
                        <a:rPr sz="1000" b="0">
                          <a:solidFill>
                            <a:srgbClr val="1A1D23"/>
                          </a:solidFill>
                          <a:latin typeface="Calibri"/>
                        </a:rPr>
                        <a:t>Under 4.0s</a:t>
                      </a:r>
                    </a:p>
                  </a:txBody>
                  <a:tcPr marL="82296" marR="64008" marT="27432" marB="27432" anchor="ctr">
                    <a:solidFill>
                      <a:srgbClr val="ECEFF3"/>
                    </a:solidFill>
                  </a:tcPr>
                </a:tc>
                <a:tc>
                  <a:txBody>
                    <a:bodyPr wrap="square"/>
                    <a:lstStyle/>
                    <a:p>
                      <a:r>
                        <a:rPr sz="1000" b="0">
                          <a:solidFill>
                            <a:srgbClr val="1A1D23"/>
                          </a:solidFill>
                          <a:latin typeface="Calibri"/>
                        </a:rPr>
                        <a:t>Mobile engagement is 47.4% vs 61.1% desktop</a:t>
                      </a:r>
                    </a:p>
                  </a:txBody>
                  <a:tcPr marL="82296" marR="64008" marT="27432" marB="27432" anchor="ctr">
                    <a:solidFill>
                      <a:srgbClr val="ECEFF3"/>
                    </a:solidFill>
                  </a:tcPr>
                </a:tc>
              </a:tr>
            </a:tbl>
          </a:graphicData>
        </a:graphic>
      </p:graphicFrame>
      <p:sp>
        <p:nvSpPr>
          <p:cNvPr id="49" name="Rectangle 48"/>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6928" y="6437376"/>
            <a:ext cx="731520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a:t>
            </a:r>
          </a:p>
        </p:txBody>
      </p:sp>
      <p:sp>
        <p:nvSpPr>
          <p:cNvPr id="51" name="TextBox 50"/>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18872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10896"/>
            <a:ext cx="10515600" cy="310896"/>
          </a:xfrm>
          <a:prstGeom prst="rect">
            <a:avLst/>
          </a:prstGeom>
          <a:noFill/>
        </p:spPr>
        <p:txBody>
          <a:bodyPr wrap="square" lIns="0" rIns="0" tIns="0" bIns="0" anchor="t">
            <a:spAutoFit/>
          </a:bodyPr>
          <a:lstStyle/>
          <a:p>
            <a:pPr algn="l">
              <a:lnSpc>
                <a:spcPct val="100000"/>
              </a:lnSpc>
            </a:pPr>
            <a:r>
              <a:rPr sz="1100" b="1" i="0">
                <a:solidFill>
                  <a:srgbClr val="C99B3B"/>
                </a:solidFill>
                <a:latin typeface="Calibri"/>
              </a:rPr>
              <a:t>IN SUMMARY</a:t>
            </a:r>
          </a:p>
        </p:txBody>
      </p:sp>
      <p:sp>
        <p:nvSpPr>
          <p:cNvPr id="6" name="TextBox 5"/>
          <p:cNvSpPr txBox="1"/>
          <p:nvPr/>
        </p:nvSpPr>
        <p:spPr>
          <a:xfrm>
            <a:off x="566928" y="603504"/>
            <a:ext cx="10515600" cy="420624"/>
          </a:xfrm>
          <a:prstGeom prst="rect">
            <a:avLst/>
          </a:prstGeom>
          <a:noFill/>
        </p:spPr>
        <p:txBody>
          <a:bodyPr wrap="square" lIns="0" rIns="0" tIns="0" bIns="0" anchor="t">
            <a:spAutoFit/>
          </a:bodyPr>
          <a:lstStyle/>
          <a:p>
            <a:pPr algn="l">
              <a:lnSpc>
                <a:spcPct val="100000"/>
              </a:lnSpc>
            </a:pPr>
            <a:r>
              <a:rPr sz="2500" b="1" i="0">
                <a:solidFill>
                  <a:srgbClr val="FFFFFF"/>
                </a:solidFill>
                <a:latin typeface="Calibri"/>
              </a:rPr>
              <a:t>A growing account with three fixable constraints</a:t>
            </a:r>
          </a:p>
        </p:txBody>
      </p:sp>
      <p:sp>
        <p:nvSpPr>
          <p:cNvPr id="7" name="TextBox 6"/>
          <p:cNvSpPr txBox="1"/>
          <p:nvPr/>
        </p:nvSpPr>
        <p:spPr>
          <a:xfrm>
            <a:off x="566928" y="1463040"/>
            <a:ext cx="5431536" cy="274320"/>
          </a:xfrm>
          <a:prstGeom prst="rect">
            <a:avLst/>
          </a:prstGeom>
          <a:noFill/>
        </p:spPr>
        <p:txBody>
          <a:bodyPr wrap="square" lIns="0" rIns="0" tIns="0" bIns="0" anchor="t">
            <a:spAutoFit/>
          </a:bodyPr>
          <a:lstStyle/>
          <a:p>
            <a:pPr algn="l">
              <a:lnSpc>
                <a:spcPct val="100000"/>
              </a:lnSpc>
            </a:pPr>
            <a:r>
              <a:rPr sz="1300" b="1" i="0">
                <a:solidFill>
                  <a:srgbClr val="2F5233"/>
                </a:solidFill>
                <a:latin typeface="Calibri"/>
              </a:rPr>
              <a:t>What is going well</a:t>
            </a:r>
          </a:p>
        </p:txBody>
      </p:sp>
      <p:sp>
        <p:nvSpPr>
          <p:cNvPr id="8" name="Oval 7"/>
          <p:cNvSpPr/>
          <p:nvPr/>
        </p:nvSpPr>
        <p:spPr>
          <a:xfrm>
            <a:off x="566928" y="1860804"/>
            <a:ext cx="63500" cy="63500"/>
          </a:xfrm>
          <a:prstGeom prst="ellipse">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92224"/>
            <a:ext cx="5230368" cy="530352"/>
          </a:xfrm>
          <a:prstGeom prst="rect">
            <a:avLst/>
          </a:prstGeom>
          <a:noFill/>
        </p:spPr>
        <p:txBody>
          <a:bodyPr wrap="square" lIns="0" rIns="0" tIns="0" bIns="0" anchor="t">
            <a:spAutoFit/>
          </a:bodyPr>
          <a:lstStyle/>
          <a:p>
            <a:pPr algn="l">
              <a:lnSpc>
                <a:spcPct val="106000"/>
              </a:lnSpc>
            </a:pPr>
            <a:r>
              <a:rPr sz="1100" b="0" i="0">
                <a:solidFill>
                  <a:srgbClr val="1A1D23"/>
                </a:solidFill>
                <a:latin typeface="Calibri"/>
              </a:rPr>
              <a:t>Organic clicks up 83.2% and impressions up 49.7% in 30 days.</a:t>
            </a:r>
          </a:p>
        </p:txBody>
      </p:sp>
      <p:sp>
        <p:nvSpPr>
          <p:cNvPr id="10" name="Oval 9"/>
          <p:cNvSpPr/>
          <p:nvPr/>
        </p:nvSpPr>
        <p:spPr>
          <a:xfrm>
            <a:off x="566928" y="2391156"/>
            <a:ext cx="63500" cy="63500"/>
          </a:xfrm>
          <a:prstGeom prst="ellipse">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22576"/>
            <a:ext cx="5230368" cy="530352"/>
          </a:xfrm>
          <a:prstGeom prst="rect">
            <a:avLst/>
          </a:prstGeom>
          <a:noFill/>
        </p:spPr>
        <p:txBody>
          <a:bodyPr wrap="square" lIns="0" rIns="0" tIns="0" bIns="0" anchor="t">
            <a:spAutoFit/>
          </a:bodyPr>
          <a:lstStyle/>
          <a:p>
            <a:pPr algn="l">
              <a:lnSpc>
                <a:spcPct val="106000"/>
              </a:lnSpc>
            </a:pPr>
            <a:r>
              <a:rPr sz="1100" b="0" i="0">
                <a:solidFill>
                  <a:srgbClr val="1A1D23"/>
                </a:solidFill>
                <a:latin typeface="Calibri"/>
              </a:rPr>
              <a:t>Organic search delivers 81.7% of all sessions — the channel is working.</a:t>
            </a:r>
          </a:p>
        </p:txBody>
      </p:sp>
      <p:sp>
        <p:nvSpPr>
          <p:cNvPr id="12" name="Oval 11"/>
          <p:cNvSpPr/>
          <p:nvPr/>
        </p:nvSpPr>
        <p:spPr>
          <a:xfrm>
            <a:off x="566928" y="2921508"/>
            <a:ext cx="63500" cy="63500"/>
          </a:xfrm>
          <a:prstGeom prst="ellipse">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52928"/>
            <a:ext cx="5230368" cy="530352"/>
          </a:xfrm>
          <a:prstGeom prst="rect">
            <a:avLst/>
          </a:prstGeom>
          <a:noFill/>
        </p:spPr>
        <p:txBody>
          <a:bodyPr wrap="square" lIns="0" rIns="0" tIns="0" bIns="0" anchor="t">
            <a:spAutoFit/>
          </a:bodyPr>
          <a:lstStyle/>
          <a:p>
            <a:pPr algn="l">
              <a:lnSpc>
                <a:spcPct val="106000"/>
              </a:lnSpc>
            </a:pPr>
            <a:r>
              <a:rPr sz="1100" b="0" i="0">
                <a:solidFill>
                  <a:srgbClr val="1A1D23"/>
                </a:solidFill>
                <a:latin typeface="Calibri"/>
              </a:rPr>
              <a:t>Average position improved 0.78 places; many results already on page one.</a:t>
            </a:r>
          </a:p>
        </p:txBody>
      </p:sp>
      <p:sp>
        <p:nvSpPr>
          <p:cNvPr id="14" name="Oval 13"/>
          <p:cNvSpPr/>
          <p:nvPr/>
        </p:nvSpPr>
        <p:spPr>
          <a:xfrm>
            <a:off x="566928" y="3451860"/>
            <a:ext cx="63500" cy="63500"/>
          </a:xfrm>
          <a:prstGeom prst="ellipse">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3383280"/>
            <a:ext cx="5230368" cy="530352"/>
          </a:xfrm>
          <a:prstGeom prst="rect">
            <a:avLst/>
          </a:prstGeom>
          <a:noFill/>
        </p:spPr>
        <p:txBody>
          <a:bodyPr wrap="square" lIns="0" rIns="0" tIns="0" bIns="0" anchor="t">
            <a:spAutoFit/>
          </a:bodyPr>
          <a:lstStyle/>
          <a:p>
            <a:pPr algn="l">
              <a:lnSpc>
                <a:spcPct val="106000"/>
              </a:lnSpc>
            </a:pPr>
            <a:r>
              <a:rPr sz="1100" b="0" i="0">
                <a:solidFill>
                  <a:srgbClr val="1A1D23"/>
                </a:solidFill>
                <a:latin typeface="Calibri"/>
              </a:rPr>
              <a:t>Technical foundations are sound: indexation, sitemap, HTTPS and schema base all pass.</a:t>
            </a:r>
          </a:p>
        </p:txBody>
      </p:sp>
      <p:sp>
        <p:nvSpPr>
          <p:cNvPr id="16" name="TextBox 15"/>
          <p:cNvSpPr txBox="1"/>
          <p:nvPr/>
        </p:nvSpPr>
        <p:spPr>
          <a:xfrm>
            <a:off x="6199632" y="1463040"/>
            <a:ext cx="5431536" cy="274320"/>
          </a:xfrm>
          <a:prstGeom prst="rect">
            <a:avLst/>
          </a:prstGeom>
          <a:noFill/>
        </p:spPr>
        <p:txBody>
          <a:bodyPr wrap="square" lIns="0" rIns="0" tIns="0" bIns="0" anchor="t">
            <a:spAutoFit/>
          </a:bodyPr>
          <a:lstStyle/>
          <a:p>
            <a:pPr algn="l">
              <a:lnSpc>
                <a:spcPct val="100000"/>
              </a:lnSpc>
            </a:pPr>
            <a:r>
              <a:rPr sz="1300" b="1" i="0">
                <a:solidFill>
                  <a:srgbClr val="B3261E"/>
                </a:solidFill>
                <a:latin typeface="Calibri"/>
              </a:rPr>
              <a:t>What needs decisions from you</a:t>
            </a:r>
          </a:p>
        </p:txBody>
      </p:sp>
      <p:sp>
        <p:nvSpPr>
          <p:cNvPr id="17" name="Oval 16"/>
          <p:cNvSpPr/>
          <p:nvPr/>
        </p:nvSpPr>
        <p:spPr>
          <a:xfrm>
            <a:off x="6199632" y="1860804"/>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792224"/>
            <a:ext cx="5230368" cy="530352"/>
          </a:xfrm>
          <a:prstGeom prst="rect">
            <a:avLst/>
          </a:prstGeom>
          <a:noFill/>
        </p:spPr>
        <p:txBody>
          <a:bodyPr wrap="square" lIns="0" rIns="0" tIns="0" bIns="0" anchor="t">
            <a:spAutoFit/>
          </a:bodyPr>
          <a:lstStyle/>
          <a:p>
            <a:pPr algn="l">
              <a:lnSpc>
                <a:spcPct val="106000"/>
              </a:lnSpc>
            </a:pPr>
            <a:r>
              <a:rPr sz="1100" b="0" i="0">
                <a:solidFill>
                  <a:srgbClr val="1A1D23"/>
                </a:solidFill>
                <a:latin typeface="Calibri"/>
              </a:rPr>
              <a:t>Approve removal of the redirect sending registration leads to another firm.</a:t>
            </a:r>
          </a:p>
        </p:txBody>
      </p:sp>
      <p:sp>
        <p:nvSpPr>
          <p:cNvPr id="19" name="Oval 18"/>
          <p:cNvSpPr/>
          <p:nvPr/>
        </p:nvSpPr>
        <p:spPr>
          <a:xfrm>
            <a:off x="6199632" y="2391156"/>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322576"/>
            <a:ext cx="5230368" cy="530352"/>
          </a:xfrm>
          <a:prstGeom prst="rect">
            <a:avLst/>
          </a:prstGeom>
          <a:noFill/>
        </p:spPr>
        <p:txBody>
          <a:bodyPr wrap="square" lIns="0" rIns="0" tIns="0" bIns="0" anchor="t">
            <a:spAutoFit/>
          </a:bodyPr>
          <a:lstStyle/>
          <a:p>
            <a:pPr algn="l">
              <a:lnSpc>
                <a:spcPct val="106000"/>
              </a:lnSpc>
            </a:pPr>
            <a:r>
              <a:rPr sz="1100" b="0" i="0">
                <a:solidFill>
                  <a:srgbClr val="1A1D23"/>
                </a:solidFill>
                <a:latin typeface="Calibri"/>
              </a:rPr>
              <a:t>Confirm the official office unit and floor — three sources currently disagree.</a:t>
            </a:r>
          </a:p>
        </p:txBody>
      </p:sp>
      <p:sp>
        <p:nvSpPr>
          <p:cNvPr id="21" name="Oval 20"/>
          <p:cNvSpPr/>
          <p:nvPr/>
        </p:nvSpPr>
        <p:spPr>
          <a:xfrm>
            <a:off x="6199632" y="2921508"/>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852928"/>
            <a:ext cx="5230368" cy="530352"/>
          </a:xfrm>
          <a:prstGeom prst="rect">
            <a:avLst/>
          </a:prstGeom>
          <a:noFill/>
        </p:spPr>
        <p:txBody>
          <a:bodyPr wrap="square" lIns="0" rIns="0" tIns="0" bIns="0" anchor="t">
            <a:spAutoFit/>
          </a:bodyPr>
          <a:lstStyle/>
          <a:p>
            <a:pPr algn="l">
              <a:lnSpc>
                <a:spcPct val="106000"/>
              </a:lnSpc>
            </a:pPr>
            <a:r>
              <a:rPr sz="1100" b="0" i="0">
                <a:solidFill>
                  <a:srgbClr val="1A1D23"/>
                </a:solidFill>
                <a:latin typeface="Calibri"/>
              </a:rPr>
              <a:t>Review the ICAI position on existing directory listings.</a:t>
            </a:r>
          </a:p>
        </p:txBody>
      </p:sp>
      <p:sp>
        <p:nvSpPr>
          <p:cNvPr id="23" name="Oval 22"/>
          <p:cNvSpPr/>
          <p:nvPr/>
        </p:nvSpPr>
        <p:spPr>
          <a:xfrm>
            <a:off x="6199632" y="3451860"/>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383280"/>
            <a:ext cx="5230368" cy="530352"/>
          </a:xfrm>
          <a:prstGeom prst="rect">
            <a:avLst/>
          </a:prstGeom>
          <a:noFill/>
        </p:spPr>
        <p:txBody>
          <a:bodyPr wrap="square" lIns="0" rIns="0" tIns="0" bIns="0" anchor="t">
            <a:spAutoFit/>
          </a:bodyPr>
          <a:lstStyle/>
          <a:p>
            <a:pPr algn="l">
              <a:lnSpc>
                <a:spcPct val="106000"/>
              </a:lnSpc>
            </a:pPr>
            <a:r>
              <a:rPr sz="1100" b="0" i="0">
                <a:solidFill>
                  <a:srgbClr val="1A1D23"/>
                </a:solidFill>
                <a:latin typeface="Calibri"/>
              </a:rPr>
              <a:t>Decide whether to connect a backlink tool so authority can be reported.</a:t>
            </a:r>
          </a:p>
        </p:txBody>
      </p:sp>
      <p:sp>
        <p:nvSpPr>
          <p:cNvPr id="25" name="TextBox 24"/>
          <p:cNvSpPr txBox="1"/>
          <p:nvPr/>
        </p:nvSpPr>
        <p:spPr>
          <a:xfrm>
            <a:off x="566928" y="3986784"/>
            <a:ext cx="11064240"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Transparency: what this report does not claim</a:t>
            </a:r>
          </a:p>
        </p:txBody>
      </p:sp>
      <p:sp>
        <p:nvSpPr>
          <p:cNvPr id="26" name="Rectangle 25"/>
          <p:cNvSpPr/>
          <p:nvPr/>
        </p:nvSpPr>
        <p:spPr>
          <a:xfrm>
            <a:off x="566928" y="4315968"/>
            <a:ext cx="11064240" cy="1298448"/>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315968"/>
            <a:ext cx="44450" cy="1298448"/>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443984"/>
            <a:ext cx="10607040" cy="1097280"/>
          </a:xfrm>
          <a:prstGeom prst="rect">
            <a:avLst/>
          </a:prstGeom>
          <a:noFill/>
        </p:spPr>
        <p:txBody>
          <a:bodyPr wrap="square" lIns="0" rIns="0" tIns="0" bIns="0" anchor="t">
            <a:spAutoFit/>
          </a:bodyPr>
          <a:lstStyle/>
          <a:p>
            <a:pPr algn="l">
              <a:lnSpc>
                <a:spcPct val="122000"/>
              </a:lnSpc>
            </a:pPr>
            <a:r>
              <a:rPr sz="1050" b="0" i="0">
                <a:solidFill>
                  <a:srgbClr val="1A1D23"/>
                </a:solidFill>
                <a:latin typeface="Calibri"/>
              </a:rPr>
              <a:t>•  No Domain Rating or backlink count is quoted — no such tool is connected to this account, and an invented figure would be worse than none.</a:t>
            </a:r>
          </a:p>
          <a:p>
            <a:pPr algn="l">
              <a:lnSpc>
                <a:spcPct val="122000"/>
              </a:lnSpc>
            </a:pPr>
            <a:r>
              <a:rPr sz="1050" b="0" i="0">
                <a:solidFill>
                  <a:srgbClr val="1A1D23"/>
                </a:solidFill>
                <a:latin typeface="Calibri"/>
              </a:rPr>
              <a:t>•  Enquiry and conversion totals are not reported as fact, because the tracking that would produce them is currently unreliable (slide 7).</a:t>
            </a:r>
          </a:p>
          <a:p>
            <a:pPr algn="l">
              <a:lnSpc>
                <a:spcPct val="122000"/>
              </a:lnSpc>
            </a:pPr>
            <a:r>
              <a:rPr sz="1050" b="0" i="0">
                <a:solidFill>
                  <a:srgbClr val="1A1D23"/>
                </a:solidFill>
                <a:latin typeface="Calibri"/>
              </a:rPr>
              <a:t>•  Year-on-year comparison is not yet possible: Search Console data begins 2 May 2026 and GA4 begins 19 July 2026.</a:t>
            </a:r>
          </a:p>
          <a:p>
            <a:pPr algn="l">
              <a:lnSpc>
                <a:spcPct val="122000"/>
              </a:lnSpc>
            </a:pPr>
            <a:r>
              <a:rPr sz="1050" b="0" i="0">
                <a:solidFill>
                  <a:srgbClr val="1A1D23"/>
                </a:solidFill>
                <a:latin typeface="Calibri"/>
              </a:rPr>
              <a:t>•  Speed figures are controlled lab tests, not real-user field data. Competitor traffic and backlink figures were unavailable and were not estimated.</a:t>
            </a:r>
          </a:p>
        </p:txBody>
      </p:sp>
      <p:sp>
        <p:nvSpPr>
          <p:cNvPr id="29" name="TextBox 28"/>
          <p:cNvSpPr txBox="1"/>
          <p:nvPr/>
        </p:nvSpPr>
        <p:spPr>
          <a:xfrm>
            <a:off x="566928" y="5797296"/>
            <a:ext cx="11064240" cy="310896"/>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Recommended immediate decision:  approve Week 1 — the redirect fix and conversion tracking repair.</a:t>
            </a:r>
          </a:p>
        </p:txBody>
      </p:sp>
      <p:sp>
        <p:nvSpPr>
          <p:cNvPr id="30" name="Rectangle 29"/>
          <p:cNvSpPr/>
          <p:nvPr/>
        </p:nvSpPr>
        <p:spPr>
          <a:xfrm>
            <a:off x="566928" y="6199632"/>
            <a:ext cx="11064240" cy="3175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6345936"/>
            <a:ext cx="11064240" cy="274320"/>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cashahnawaz.com  ·  Confidential  ·  Page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